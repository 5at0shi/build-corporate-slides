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s1</c:v>
                </c:pt>
              </c:strCache>
            </c:strRef>
          </c:tx>
          <c:spPr>
            <a:solidFill>
              <a:srgbClr val="2574D9"/>
            </a:solidFill>
            <a:ln>
              <a:noFill/>
            </a:ln>
          </c:spPr>
          <c:cat>
            <c:strRef>
              <c:f>Sheet1!$A$2:$A$4</c:f>
              <c:strCache>
                <c:ptCount val="3"/>
                <c:pt idx="0">
                  <c:v>Q1</c:v>
                </c:pt>
                <c:pt idx="1">
                  <c:v>Q2</c:v>
                </c:pt>
                <c:pt idx="2">
                  <c:v>Q3</c:v>
                </c:pt>
              </c:strCache>
            </c:strRef>
          </c:cat>
          <c:val>
            <c:numRef>
              <c:f>Sheet1!$B$2:$B$4</c:f>
              <c:numCache>
                <c:formatCode>General</c:formatCode>
                <c:ptCount val="3"/>
                <c:pt idx="0">
                  <c:v>4</c:v>
                </c:pt>
                <c:pt idx="1">
                  <c:v>7</c:v>
                </c:pt>
                <c:pt idx="2">
                  <c:v>6</c:v>
                </c:pt>
              </c:numCache>
            </c:numRef>
          </c:val>
        </c:ser>
        <c:dLbls>
          <c:txPr>
            <a:bodyPr/>
            <a:lstStyle/>
            <a:p>
              <a:pPr>
                <a:defRPr sz="1000">
                  <a:solidFill>
                    <a:srgbClr val="102C49"/>
                  </a:solidFill>
                  <a:latin typeface="Yu Gothic"/>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7DEE6"/>
            </a:solidFill>
          </a:ln>
        </c:spPr>
        <c:txPr>
          <a:bodyPr/>
          <a:lstStyle/>
          <a:p>
            <a:pPr>
              <a:defRPr sz="1000">
                <a:latin typeface="Yu Gothic"/>
              </a:defRPr>
            </a:pPr>
          </a:p>
        </c:txPr>
        <c:crossAx val="-2113994440"/>
        <c:crosses val="autoZero"/>
        <c:auto val="1"/>
        <c:lblAlgn val="ctr"/>
        <c:lblOffset val="100"/>
        <c:noMultiLvlLbl val="0"/>
      </c:catAx>
      <c:valAx>
        <c:axId val="-2113994440"/>
        <c:scaling>
          <c:min val="0.0"/>
        </c:scaling>
        <c:delete val="0"/>
        <c:axPos val="l"/>
        <c:majorGridlines>
          <c:spPr>
            <a:ln w="6350">
              <a:solidFill>
                <a:srgbClr val="D7DEE6"/>
              </a:solidFill>
            </a:ln>
          </c:spPr>
        </c:majorGridlines>
        <c:majorTickMark val="out"/>
        <c:minorTickMark val="none"/>
        <c:tickLblPos val="nextTo"/>
        <c:spPr>
          <a:ln>
            <a:noFill/>
          </a:ln>
        </c:spPr>
        <c:txPr>
          <a:bodyPr/>
          <a:lstStyle/>
          <a:p>
            <a:pPr>
              <a:defRPr sz="1000">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既存</c:v>
                </c:pt>
              </c:strCache>
            </c:strRef>
          </c:tx>
          <c:spPr>
            <a:solidFill>
              <a:srgbClr val="2574D9"/>
            </a:solidFill>
            <a:ln>
              <a:noFill/>
            </a:ln>
          </c:spPr>
          <c:cat>
            <c:strRef>
              <c:f>Sheet1!$A$2:$A$4</c:f>
              <c:strCache>
                <c:ptCount val="3"/>
                <c:pt idx="0">
                  <c:v>Q1</c:v>
                </c:pt>
                <c:pt idx="1">
                  <c:v>Q2</c:v>
                </c:pt>
                <c:pt idx="2">
                  <c:v>Q3</c:v>
                </c:pt>
              </c:strCache>
            </c:strRef>
          </c:cat>
          <c:val>
            <c:numRef>
              <c:f>Sheet1!$B$2:$B$4</c:f>
              <c:numCache>
                <c:formatCode>General</c:formatCode>
                <c:ptCount val="3"/>
                <c:pt idx="0">
                  <c:v>4</c:v>
                </c:pt>
                <c:pt idx="1">
                  <c:v>5</c:v>
                </c:pt>
                <c:pt idx="2">
                  <c:v>6</c:v>
                </c:pt>
              </c:numCache>
            </c:numRef>
          </c:val>
        </c:ser>
        <c:ser>
          <c:idx val="1"/>
          <c:order val="1"/>
          <c:tx>
            <c:strRef>
              <c:f>Sheet1!$C$1</c:f>
              <c:strCache>
                <c:ptCount val="1"/>
                <c:pt idx="0">
                  <c:v>新規</c:v>
                </c:pt>
              </c:strCache>
            </c:strRef>
          </c:tx>
          <c:spPr>
            <a:solidFill>
              <a:srgbClr val="148C9A"/>
            </a:solidFill>
            <a:ln>
              <a:noFill/>
            </a:ln>
          </c:spPr>
          <c:cat>
            <c:strRef>
              <c:f>Sheet1!$A$2:$A$4</c:f>
              <c:strCache>
                <c:ptCount val="3"/>
                <c:pt idx="0">
                  <c:v>Q1</c:v>
                </c:pt>
                <c:pt idx="1">
                  <c:v>Q2</c:v>
                </c:pt>
                <c:pt idx="2">
                  <c:v>Q3</c:v>
                </c:pt>
              </c:strCache>
            </c:strRef>
          </c:cat>
          <c:val>
            <c:numRef>
              <c:f>Sheet1!$C$2:$C$4</c:f>
              <c:numCache>
                <c:formatCode>General</c:formatCode>
                <c:ptCount val="3"/>
                <c:pt idx="0">
                  <c:v>2</c:v>
                </c:pt>
                <c:pt idx="1">
                  <c:v>3</c:v>
                </c:pt>
                <c:pt idx="2">
                  <c:v>4</c:v>
                </c:pt>
              </c:numCache>
            </c:numRef>
          </c:val>
        </c:ser>
        <c:dLbls>
          <c:txPr>
            <a:bodyPr/>
            <a:lstStyle/>
            <a:p>
              <a:pPr>
                <a:defRPr sz="1000">
                  <a:solidFill>
                    <a:srgbClr val="102C49"/>
                  </a:solidFill>
                  <a:latin typeface="Yu Gothic"/>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D7DEE6"/>
            </a:solidFill>
          </a:ln>
        </c:spPr>
        <c:txPr>
          <a:bodyPr/>
          <a:lstStyle/>
          <a:p>
            <a:pPr>
              <a:defRPr sz="1000">
                <a:latin typeface="Yu Gothic"/>
              </a:defRPr>
            </a:pPr>
          </a:p>
        </c:txPr>
        <c:crossAx val="-2113994440"/>
        <c:crosses val="autoZero"/>
        <c:auto val="1"/>
        <c:lblAlgn val="ctr"/>
        <c:lblOffset val="100"/>
        <c:noMultiLvlLbl val="0"/>
      </c:catAx>
      <c:valAx>
        <c:axId val="-2113994440"/>
        <c:scaling>
          <c:min val="0.0"/>
        </c:scaling>
        <c:delete val="0"/>
        <c:axPos val="l"/>
        <c:majorGridlines>
          <c:spPr>
            <a:ln w="6350">
              <a:solidFill>
                <a:srgbClr val="D7DEE6"/>
              </a:solidFill>
            </a:ln>
          </c:spPr>
        </c:majorGridlines>
        <c:majorTickMark val="out"/>
        <c:minorTickMark val="none"/>
        <c:tickLblPos val="nextTo"/>
        <c:spPr>
          <a:ln>
            <a:noFill/>
          </a:ln>
        </c:spPr>
        <c:txPr>
          <a:bodyPr/>
          <a:lstStyle/>
          <a:p>
            <a:pPr>
              <a:defRPr sz="1000">
                <a:latin typeface="Yu Gothic"/>
              </a:defRPr>
            </a:pPr>
          </a:p>
        </c:txPr>
        <c:crossAx val="-2068027336"/>
        <c:crosses val="autoZero"/>
      </c:valAx>
    </c:plotArea>
    <c:legend>
      <c:legendPos val="b"/>
      <c:overlay val="0"/>
      <c:txPr>
        <a:bodyPr/>
        <a:lstStyle/>
        <a:p>
          <a:pPr>
            <a:defRPr sz="1000">
              <a:latin typeface="Yu Gothic"/>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s1</c:v>
                </c:pt>
              </c:strCache>
            </c:strRef>
          </c:tx>
          <c:spPr>
            <a:solidFill>
              <a:srgbClr val="2574D9"/>
            </a:solidFill>
            <a:ln>
              <a:noFill/>
            </a:ln>
          </c:spPr>
          <c:cat>
            <c:strRef>
              <c:f>Sheet1!$A$2:$A$4</c:f>
              <c:strCache>
                <c:ptCount val="3"/>
                <c:pt idx="0">
                  <c:v>A</c:v>
                </c:pt>
                <c:pt idx="1">
                  <c:v>B</c:v>
                </c:pt>
                <c:pt idx="2">
                  <c:v>C</c:v>
                </c:pt>
              </c:strCache>
            </c:strRef>
          </c:cat>
          <c:val>
            <c:numRef>
              <c:f>Sheet1!$B$2:$B$4</c:f>
              <c:numCache>
                <c:formatCode>General</c:formatCode>
                <c:ptCount val="3"/>
                <c:pt idx="0">
                  <c:v>5</c:v>
                </c:pt>
                <c:pt idx="1">
                  <c:v>8</c:v>
                </c:pt>
                <c:pt idx="2">
                  <c:v>3</c:v>
                </c:pt>
              </c:numCache>
            </c:numRef>
          </c:val>
        </c:ser>
        <c:dLbls>
          <c:txPr>
            <a:bodyPr/>
            <a:lstStyle/>
            <a:p>
              <a:pPr>
                <a:defRPr sz="1000">
                  <a:solidFill>
                    <a:srgbClr val="102C49"/>
                  </a:solidFill>
                  <a:latin typeface="Yu Gothic"/>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7DEE6"/>
            </a:solidFill>
          </a:ln>
        </c:spPr>
        <c:txPr>
          <a:bodyPr/>
          <a:lstStyle/>
          <a:p>
            <a:pPr>
              <a:defRPr sz="1000">
                <a:latin typeface="Yu Gothic"/>
              </a:defRPr>
            </a:pPr>
          </a:p>
        </c:txPr>
        <c:crossAx val="-2113994440"/>
        <c:crosses val="autoZero"/>
        <c:auto val="1"/>
        <c:lblAlgn val="ctr"/>
        <c:lblOffset val="100"/>
        <c:noMultiLvlLbl val="0"/>
      </c:catAx>
      <c:valAx>
        <c:axId val="-2113994440"/>
        <c:scaling>
          <c:min val="0.0"/>
        </c:scaling>
        <c:delete val="0"/>
        <c:axPos val="b"/>
        <c:majorGridlines>
          <c:spPr>
            <a:ln w="6350">
              <a:solidFill>
                <a:srgbClr val="D7DEE6"/>
              </a:solidFill>
            </a:ln>
          </c:spPr>
        </c:majorGridlines>
        <c:majorTickMark val="out"/>
        <c:minorTickMark val="none"/>
        <c:tickLblPos val="nextTo"/>
        <c:spPr>
          <a:ln>
            <a:noFill/>
          </a:ln>
        </c:spPr>
        <c:txPr>
          <a:bodyPr/>
          <a:lstStyle/>
          <a:p>
            <a:pPr>
              <a:defRPr sz="1000">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s1</c:v>
                </c:pt>
              </c:strCache>
            </c:strRef>
          </c:tx>
          <c:spPr>
            <a:ln w="28575">
              <a:solidFill>
                <a:srgbClr val="2574D9"/>
              </a:solidFill>
            </a:ln>
          </c:spPr>
          <c:cat>
            <c:strRef>
              <c:f>Sheet1!$A$2:$A$4</c:f>
              <c:strCache>
                <c:ptCount val="3"/>
                <c:pt idx="0">
                  <c:v>4月</c:v>
                </c:pt>
                <c:pt idx="1">
                  <c:v>5月</c:v>
                </c:pt>
                <c:pt idx="2">
                  <c:v>6月</c:v>
                </c:pt>
              </c:strCache>
            </c:strRef>
          </c:cat>
          <c:val>
            <c:numRef>
              <c:f>Sheet1!$B$2:$B$4</c:f>
              <c:numCache>
                <c:formatCode>General</c:formatCode>
                <c:ptCount val="3"/>
                <c:pt idx="0">
                  <c:v>10</c:v>
                </c:pt>
                <c:pt idx="1">
                  <c:v>14</c:v>
                </c:pt>
                <c:pt idx="2">
                  <c:v>12</c:v>
                </c:pt>
              </c:numCache>
            </c:numRef>
          </c:val>
          <c:smooth val="0"/>
        </c:ser>
        <c:dLbls>
          <c:txPr>
            <a:bodyPr/>
            <a:lstStyle/>
            <a:p>
              <a:pPr>
                <a:defRPr sz="1000">
                  <a:solidFill>
                    <a:srgbClr val="102C49"/>
                  </a:solidFill>
                  <a:latin typeface="Yu Gothic"/>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7DEE6"/>
            </a:solidFill>
          </a:ln>
        </c:spPr>
        <c:txPr>
          <a:bodyPr/>
          <a:lstStyle/>
          <a:p>
            <a:pPr>
              <a:defRPr sz="1000">
                <a:latin typeface="Yu Gothic"/>
              </a:defRPr>
            </a:pPr>
          </a:p>
        </c:txPr>
        <c:crossAx val="2140495176"/>
        <c:crosses val="autoZero"/>
        <c:auto val="1"/>
        <c:lblAlgn val="ctr"/>
        <c:lblOffset val="100"/>
        <c:noMultiLvlLbl val="0"/>
      </c:catAx>
      <c:valAx>
        <c:axId val="2140495176"/>
        <c:scaling/>
        <c:delete val="0"/>
        <c:axPos val="l"/>
        <c:majorGridlines>
          <c:spPr>
            <a:ln w="6350">
              <a:solidFill>
                <a:srgbClr val="D7DEE6"/>
              </a:solidFill>
            </a:ln>
          </c:spPr>
        </c:majorGridlines>
        <c:majorTickMark val="out"/>
        <c:minorTickMark val="none"/>
        <c:tickLblPos val="nextTo"/>
        <c:spPr>
          <a:ln>
            <a:noFill/>
          </a:ln>
        </c:spPr>
        <c:txPr>
          <a:bodyPr/>
          <a:lstStyle/>
          <a:p>
            <a:pPr>
              <a:defRPr sz="1000">
                <a:latin typeface="Yu Gothic"/>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s1</c:v>
                </c:pt>
              </c:strCache>
            </c:strRef>
          </c:tx>
          <c:dPt>
            <c:idx val="0"/>
            <c:spPr>
              <a:solidFill>
                <a:srgbClr val="2574D9"/>
              </a:solidFill>
              <a:ln w="19050">
                <a:solidFill>
                  <a:srgbClr val="FFFFFF"/>
                </a:solidFill>
              </a:ln>
            </c:spPr>
          </c:dPt>
          <c:dPt>
            <c:idx val="1"/>
            <c:spPr>
              <a:solidFill>
                <a:srgbClr val="148C9A"/>
              </a:solidFill>
              <a:ln w="19050">
                <a:solidFill>
                  <a:srgbClr val="FFFFFF"/>
                </a:solidFill>
              </a:ln>
            </c:spPr>
          </c:dPt>
          <c:dPt>
            <c:idx val="2"/>
            <c:spPr>
              <a:solidFill>
                <a:srgbClr val="738296"/>
              </a:solidFill>
              <a:ln w="19050">
                <a:solidFill>
                  <a:srgbClr val="FFFFFF"/>
                </a:solidFill>
              </a:ln>
            </c:spPr>
          </c:dPt>
          <c:cat>
            <c:strRef>
              <c:f>Sheet1!$A$2:$A$4</c:f>
              <c:strCache>
                <c:ptCount val="3"/>
                <c:pt idx="0">
                  <c:v>A</c:v>
                </c:pt>
                <c:pt idx="1">
                  <c:v>B</c:v>
                </c:pt>
                <c:pt idx="2">
                  <c:v>C</c:v>
                </c:pt>
              </c:strCache>
            </c:strRef>
          </c:cat>
          <c:val>
            <c:numRef>
              <c:f>Sheet1!$B$2:$B$4</c:f>
              <c:numCache>
                <c:formatCode>General</c:formatCode>
                <c:ptCount val="3"/>
                <c:pt idx="0">
                  <c:v>5</c:v>
                </c:pt>
                <c:pt idx="1">
                  <c:v>3</c:v>
                </c:pt>
                <c:pt idx="2">
                  <c:v>2</c:v>
                </c:pt>
              </c:numCache>
            </c:numRef>
          </c:val>
        </c:ser>
        <c:dLbls>
          <c:numFmt formatCode="0%" sourceLinked="0"/>
          <c:txPr>
            <a:bodyPr/>
            <a:lstStyle/>
            <a:p>
              <a:pPr>
                <a:defRPr sz="1000">
                  <a:solidFill>
                    <a:srgbClr val="102C49"/>
                  </a:solidFill>
                  <a:latin typeface="Yu Gothic"/>
                </a:defRPr>
              </a:pPr>
            </a:p>
          </c:txPr>
          <c:dLblPos val="outEnd"/>
          <c:showLegendKey val="0"/>
          <c:showVal val="0"/>
          <c:showCatName val="1"/>
          <c:showSerName val="0"/>
          <c:showPercent val="1"/>
          <c:showBubbleSize val="0"/>
          <c:showLeaderLines val="1"/>
        </c:dLbls>
      </c:pieChart>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s1</c:v>
                </c:pt>
              </c:strCache>
            </c:strRef>
          </c:tx>
          <c:spPr>
            <a:ln w="47625">
              <a:noFill/>
            </a:ln>
          </c:spPr>
          <c:marker>
            <c:symbol val="circle"/>
            <c:size val="8"/>
            <c:spPr>
              <a:solidFill>
                <a:srgbClr val="2574D9"/>
              </a:solidFill>
              <a:ln>
                <a:noFill/>
              </a:ln>
            </c:spPr>
          </c:marker>
          <c:xVal>
            <c:numRef>
              <c:f>Sheet1!$A$2:$A$4</c:f>
              <c:numCache>
                <c:formatCode>General</c:formatCode>
                <c:ptCount val="3"/>
                <c:pt idx="0">
                  <c:v>1</c:v>
                </c:pt>
                <c:pt idx="1">
                  <c:v>2</c:v>
                </c:pt>
                <c:pt idx="2">
                  <c:v>3</c:v>
                </c:pt>
              </c:numCache>
            </c:numRef>
          </c:xVal>
          <c:yVal>
            <c:numRef>
              <c:f>Sheet1!$B$2:$B$4</c:f>
              <c:numCache>
                <c:formatCode>General</c:formatCode>
                <c:ptCount val="3"/>
                <c:pt idx="0">
                  <c:v>2</c:v>
                </c:pt>
                <c:pt idx="1">
                  <c:v>3.4</c:v>
                </c:pt>
                <c:pt idx="2">
                  <c:v>1.8</c:v>
                </c:pt>
              </c:numCache>
            </c:numRef>
          </c:yVal>
          <c:smooth val="0"/>
        </c:ser>
        <c:axId val="-2128940872"/>
        <c:axId val="-2129643912"/>
      </c:scatterChart>
      <c:valAx>
        <c:axId val="-2128940872"/>
        <c:scaling>
          <c:orientation val="minMax"/>
        </c:scaling>
        <c:delete val="0"/>
        <c:axPos val="b"/>
        <c:majorGridlines>
          <c:spPr>
            <a:ln w="6350">
              <a:solidFill>
                <a:srgbClr val="D7DEE6"/>
              </a:solidFill>
            </a:ln>
          </c:spPr>
        </c:majorGridlines>
        <c:numFmt formatCode="General" sourceLinked="1"/>
        <c:majorTickMark val="out"/>
        <c:minorTickMark val="none"/>
        <c:tickLblPos val="nextTo"/>
        <c:spPr>
          <a:ln>
            <a:solidFill>
              <a:srgbClr val="D7DEE6"/>
            </a:solidFill>
          </a:ln>
        </c:spPr>
        <c:txPr>
          <a:bodyPr/>
          <a:lstStyle/>
          <a:p>
            <a:pPr>
              <a:defRPr sz="1000">
                <a:latin typeface="Yu Gothic"/>
              </a:defRPr>
            </a:pPr>
          </a:p>
        </c:txPr>
        <c:crossAx val="-2129643912"/>
        <c:crosses val="autoZero"/>
        <c:crossBetween val="midCat"/>
      </c:valAx>
      <c:valAx>
        <c:axId val="-2129643912"/>
        <c:scaling>
          <c:orientation val="minMax"/>
        </c:scaling>
        <c:delete val="0"/>
        <c:axPos val="l"/>
        <c:majorGridlines>
          <c:spPr>
            <a:ln w="6350">
              <a:solidFill>
                <a:srgbClr val="D7DEE6"/>
              </a:solidFill>
            </a:ln>
          </c:spPr>
        </c:majorGridlines>
        <c:numFmt formatCode="General" sourceLinked="1"/>
        <c:majorTickMark val="out"/>
        <c:minorTickMark val="none"/>
        <c:tickLblPos val="nextTo"/>
        <c:spPr>
          <a:ln>
            <a:solidFill>
              <a:srgbClr val="D7DEE6"/>
            </a:solidFill>
          </a:ln>
        </c:spPr>
        <c:txPr>
          <a:bodyPr/>
          <a:lstStyle/>
          <a:p>
            <a:pPr>
              <a:defRPr sz="1000">
                <a:latin typeface="Yu Gothic"/>
              </a:defRPr>
            </a:pPr>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系列A</c:v>
                </c:pt>
              </c:strCache>
            </c:strRef>
          </c:tx>
          <c:spPr>
            <a:solidFill>
              <a:srgbClr val="2574D9"/>
            </a:solidFill>
            <a:ln>
              <a:noFill/>
            </a:ln>
          </c:spPr>
          <c:cat>
            <c:strRef>
              <c:f>Sheet1!$A$2:$A$4</c:f>
              <c:strCache>
                <c:ptCount val="3"/>
                <c:pt idx="0">
                  <c:v>項目1</c:v>
                </c:pt>
                <c:pt idx="1">
                  <c:v>項目2</c:v>
                </c:pt>
                <c:pt idx="2">
                  <c:v>項目3</c:v>
                </c:pt>
              </c:strCache>
            </c:strRef>
          </c:cat>
          <c:val>
            <c:numRef>
              <c:f>Sheet1!$B$2:$B$4</c:f>
              <c:numCache>
                <c:formatCode>General</c:formatCode>
                <c:ptCount val="3"/>
                <c:pt idx="0">
                  <c:v>12</c:v>
                </c:pt>
                <c:pt idx="1">
                  <c:v>38</c:v>
                </c:pt>
                <c:pt idx="2">
                  <c:v>42</c:v>
                </c:pt>
              </c:numCache>
            </c:numRef>
          </c:val>
        </c:ser>
        <c:dLbls>
          <c:txPr>
            <a:bodyPr/>
            <a:lstStyle/>
            <a:p>
              <a:pPr>
                <a:defRPr sz="1000">
                  <a:solidFill>
                    <a:srgbClr val="102C49"/>
                  </a:solidFill>
                  <a:latin typeface="Hiragino Sans"/>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7DEE6"/>
            </a:solidFill>
          </a:ln>
        </c:spPr>
        <c:txPr>
          <a:bodyPr/>
          <a:lstStyle/>
          <a:p>
            <a:pPr>
              <a:defRPr sz="1000">
                <a:latin typeface="Hiragino Sans"/>
              </a:defRPr>
            </a:pPr>
          </a:p>
        </c:txPr>
        <c:crossAx val="-2113994440"/>
        <c:crosses val="autoZero"/>
        <c:auto val="1"/>
        <c:lblAlgn val="ctr"/>
        <c:lblOffset val="100"/>
        <c:noMultiLvlLbl val="0"/>
      </c:catAx>
      <c:valAx>
        <c:axId val="-2113994440"/>
        <c:scaling>
          <c:min val="0.0"/>
        </c:scaling>
        <c:delete val="0"/>
        <c:axPos val="l"/>
        <c:majorGridlines>
          <c:spPr>
            <a:ln w="6350">
              <a:solidFill>
                <a:srgbClr val="D7DEE6"/>
              </a:solidFill>
            </a:ln>
          </c:spPr>
        </c:majorGridlines>
        <c:majorTickMark val="out"/>
        <c:minorTickMark val="none"/>
        <c:tickLblPos val="nextTo"/>
        <c:spPr>
          <a:ln>
            <a:noFill/>
          </a:ln>
        </c:spPr>
        <c:txPr>
          <a:bodyPr/>
          <a:lstStyle/>
          <a:p>
            <a:pPr>
              <a:defRPr sz="1000">
                <a:latin typeface="Hiragino Sans"/>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系列A</c:v>
                </c:pt>
              </c:strCache>
            </c:strRef>
          </c:tx>
          <c:spPr>
            <a:ln w="28575">
              <a:solidFill>
                <a:srgbClr val="2574D9"/>
              </a:solidFill>
            </a:ln>
          </c:spPr>
          <c:cat>
            <c:strRef>
              <c:f>Sheet1!$A$2:$A$5</c:f>
              <c:strCache>
                <c:ptCount val="4"/>
                <c:pt idx="0">
                  <c:v>項目1</c:v>
                </c:pt>
                <c:pt idx="1">
                  <c:v>項目2</c:v>
                </c:pt>
                <c:pt idx="2">
                  <c:v>項目3</c:v>
                </c:pt>
                <c:pt idx="3">
                  <c:v>項目4</c:v>
                </c:pt>
              </c:strCache>
            </c:strRef>
          </c:cat>
          <c:val>
            <c:numRef>
              <c:f>Sheet1!$B$2:$B$5</c:f>
              <c:numCache>
                <c:formatCode>General</c:formatCode>
                <c:ptCount val="4"/>
                <c:pt idx="0">
                  <c:v>5</c:v>
                </c:pt>
                <c:pt idx="1">
                  <c:v>22</c:v>
                </c:pt>
                <c:pt idx="2">
                  <c:v>38</c:v>
                </c:pt>
                <c:pt idx="3">
                  <c:v>42</c:v>
                </c:pt>
              </c:numCache>
            </c:numRef>
          </c:val>
          <c:smooth val="0"/>
        </c:ser>
        <c:dLbls>
          <c:txPr>
            <a:bodyPr/>
            <a:lstStyle/>
            <a:p>
              <a:pPr>
                <a:defRPr sz="1000">
                  <a:solidFill>
                    <a:srgbClr val="102C49"/>
                  </a:solidFill>
                  <a:latin typeface="Hiragino Sans"/>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7DEE6"/>
            </a:solidFill>
          </a:ln>
        </c:spPr>
        <c:txPr>
          <a:bodyPr/>
          <a:lstStyle/>
          <a:p>
            <a:pPr>
              <a:defRPr sz="1000">
                <a:latin typeface="Hiragino Sans"/>
              </a:defRPr>
            </a:pPr>
          </a:p>
        </c:txPr>
        <c:crossAx val="2140495176"/>
        <c:crosses val="autoZero"/>
        <c:auto val="1"/>
        <c:lblAlgn val="ctr"/>
        <c:lblOffset val="100"/>
        <c:noMultiLvlLbl val="0"/>
      </c:catAx>
      <c:valAx>
        <c:axId val="2140495176"/>
        <c:scaling/>
        <c:delete val="0"/>
        <c:axPos val="l"/>
        <c:majorGridlines>
          <c:spPr>
            <a:ln w="6350">
              <a:solidFill>
                <a:srgbClr val="D7DEE6"/>
              </a:solidFill>
            </a:ln>
          </c:spPr>
        </c:majorGridlines>
        <c:majorTickMark val="out"/>
        <c:minorTickMark val="none"/>
        <c:tickLblPos val="nextTo"/>
        <c:spPr>
          <a:ln>
            <a:noFill/>
          </a:ln>
        </c:spPr>
        <c:txPr>
          <a:bodyPr/>
          <a:lstStyle/>
          <a:p>
            <a:pPr>
              <a:defRPr sz="1000">
                <a:latin typeface="Hiragino Sans"/>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8523427" y="0"/>
            <a:ext cx="3668572" cy="6858000"/>
          </a:xfrm>
          <a:custGeom>
            <a:avLst/>
            <a:gdLst/>
            <a:ahLst/>
            <a:cxnLst/>
            <a:rect l="l" t="t" r="r" b="b"/>
            <a:pathLst>
              <a:path w="3668572" h="6858000">
                <a:moveTo>
                  <a:pt x="1305763" y="0"/>
                </a:moveTo>
                <a:lnTo>
                  <a:pt x="3668572" y="0"/>
                </a:lnTo>
                <a:lnTo>
                  <a:pt x="3668572" y="6858000"/>
                </a:lnTo>
                <a:lnTo>
                  <a:pt x="0" y="6858000"/>
                </a:lnTo>
                <a:close/>
              </a:path>
            </a:pathLst>
          </a:custGeom>
          <a:gradFill rotWithShape="1">
            <a:gsLst>
              <a:gs pos="0">
                <a:srgbClr val="E7F1FD"/>
              </a:gs>
              <a:gs pos="100000">
                <a:srgbClr val="CCDBF8"/>
              </a:gs>
            </a:gsLst>
            <a:lin scaled="0" ang="14700000"/>
          </a:gradFill>
          <a:ln>
            <a:noFill/>
          </a:ln>
        </p:spPr>
        <p:txBody>
          <a:bodyPr rtlCol="0" anchor="ctr"/>
          <a:lstStyle/>
          <a:p>
            <a:pPr algn="ctr"/>
          </a:p>
        </p:txBody>
      </p:sp>
      <p:sp>
        <p:nvSpPr>
          <p:cNvPr id="3" name="TextBox 2"/>
          <p:cNvSpPr txBox="1"/>
          <p:nvPr/>
        </p:nvSpPr>
        <p:spPr>
          <a:xfrm>
            <a:off x="609600" y="1901952"/>
            <a:ext cx="7772400" cy="256032"/>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CAPABILITY SHOWCASE</a:t>
            </a:r>
          </a:p>
        </p:txBody>
      </p:sp>
      <p:sp>
        <p:nvSpPr>
          <p:cNvPr id="4" name="TextBox 3"/>
          <p:cNvSpPr txBox="1"/>
          <p:nvPr/>
        </p:nvSpPr>
        <p:spPr>
          <a:xfrm>
            <a:off x="609600" y="2267712"/>
            <a:ext cx="7772400" cy="1188720"/>
          </a:xfrm>
          <a:prstGeom prst="rect">
            <a:avLst/>
          </a:prstGeom>
          <a:noFill/>
        </p:spPr>
        <p:txBody>
          <a:bodyPr wrap="square" lIns="0" rIns="0" tIns="0" bIns="0" anchor="t">
            <a:spAutoFit/>
          </a:bodyPr>
          <a:lstStyle/>
          <a:p>
            <a:pPr algn="l">
              <a:lnSpc>
                <a:spcPct val="98000"/>
              </a:lnSpc>
              <a:spcAft>
                <a:spcPts val="0"/>
              </a:spcAft>
            </a:pPr>
            <a:r>
              <a:rPr sz="3400" b="1">
                <a:solidFill>
                  <a:srgbClr val="102C49"/>
                </a:solidFill>
                <a:latin typeface="Hiragino Sans"/>
                <a:ea typeface="Hiragino Sans"/>
              </a:rPr>
              <a:t>build-corporate-slidesスキル 機能一覧</a:t>
            </a:r>
          </a:p>
        </p:txBody>
      </p:sp>
      <p:sp>
        <p:nvSpPr>
          <p:cNvPr id="5" name="TextBox 4"/>
          <p:cNvSpPr txBox="1"/>
          <p:nvPr/>
        </p:nvSpPr>
        <p:spPr>
          <a:xfrm>
            <a:off x="609600" y="3685032"/>
            <a:ext cx="7772400" cy="566928"/>
          </a:xfrm>
          <a:prstGeom prst="rect">
            <a:avLst/>
          </a:prstGeom>
          <a:noFill/>
        </p:spPr>
        <p:txBody>
          <a:bodyPr wrap="square" lIns="0" rIns="0" tIns="0" bIns="0" anchor="t">
            <a:spAutoFit/>
          </a:bodyPr>
          <a:lstStyle/>
          <a:p>
            <a:pPr algn="l">
              <a:lnSpc>
                <a:spcPct val="108000"/>
              </a:lnSpc>
              <a:spcAft>
                <a:spcPts val="0"/>
              </a:spcAft>
            </a:pPr>
            <a:r>
              <a:rPr sz="1500" b="0">
                <a:solidFill>
                  <a:srgbClr val="53657A"/>
                </a:solidFill>
                <a:latin typeface="Yu Gothic"/>
                <a:ea typeface="Yu Gothic"/>
              </a:rPr>
              <a:t>配色・コンポーネント・アイコン・チャート・renderer 20種の実物見本</a:t>
            </a:r>
          </a:p>
        </p:txBody>
      </p:sp>
      <p:sp>
        <p:nvSpPr>
          <p:cNvPr id="6" name="Rectangle 5"/>
          <p:cNvSpPr/>
          <p:nvPr/>
        </p:nvSpPr>
        <p:spPr>
          <a:xfrm>
            <a:off x="10442448" y="292608"/>
            <a:ext cx="1115568" cy="274320"/>
          </a:xfrm>
          <a:prstGeom prst="rect">
            <a:avLst/>
          </a:prstGeom>
          <a:noFill/>
          <a:ln w="12700">
            <a:solidFill>
              <a:srgbClr val="738296"/>
            </a:solidFill>
          </a:ln>
        </p:spPr>
        <p:txBody>
          <a:bodyPr rtlCol="0" anchor="ctr" lIns="45720" rIns="45720" tIns="0" bIns="0" wrap="square"/>
          <a:lstStyle/>
          <a:p>
            <a:pPr algn="ctr">
              <a:lnSpc>
                <a:spcPct val="108000"/>
              </a:lnSpc>
              <a:spcAft>
                <a:spcPts val="0"/>
              </a:spcAft>
            </a:pPr>
            <a:r>
              <a:rPr sz="1000" b="1">
                <a:solidFill>
                  <a:srgbClr val="53657A"/>
                </a:solidFill>
                <a:latin typeface="Hiragino Sans"/>
                <a:ea typeface="Hiragino Sans"/>
              </a:rPr>
              <a:t>部外秘</a:t>
            </a:r>
          </a:p>
        </p:txBody>
      </p:sp>
      <p:sp>
        <p:nvSpPr>
          <p:cNvPr id="7" name="TextBox 6"/>
          <p:cNvSpPr txBox="1"/>
          <p:nvPr/>
        </p:nvSpPr>
        <p:spPr>
          <a:xfrm>
            <a:off x="8412480" y="658368"/>
            <a:ext cx="3154680" cy="219456"/>
          </a:xfrm>
          <a:prstGeom prst="rect">
            <a:avLst/>
          </a:prstGeom>
          <a:noFill/>
        </p:spPr>
        <p:txBody>
          <a:bodyPr wrap="square" lIns="0" rIns="0" tIns="0" bIns="0" anchor="t">
            <a:spAutoFit/>
          </a:bodyPr>
          <a:lstStyle/>
          <a:p>
            <a:pPr algn="r">
              <a:lnSpc>
                <a:spcPct val="108000"/>
              </a:lnSpc>
              <a:spcAft>
                <a:spcPts val="0"/>
              </a:spcAft>
            </a:pPr>
            <a:r>
              <a:rPr sz="1000" b="1">
                <a:solidFill>
                  <a:srgbClr val="53657A"/>
                </a:solidFill>
                <a:latin typeface="Yu Gothic"/>
                <a:ea typeface="Yu Gothic"/>
              </a:rPr>
              <a:t>企画部</a:t>
            </a:r>
          </a:p>
        </p:txBody>
      </p:sp>
      <p:sp>
        <p:nvSpPr>
          <p:cNvPr id="8" name="TextBox 7"/>
          <p:cNvSpPr txBox="1"/>
          <p:nvPr/>
        </p:nvSpPr>
        <p:spPr>
          <a:xfrm>
            <a:off x="8412480" y="914400"/>
            <a:ext cx="3154680" cy="219456"/>
          </a:xfrm>
          <a:prstGeom prst="rect">
            <a:avLst/>
          </a:prstGeom>
          <a:noFill/>
        </p:spPr>
        <p:txBody>
          <a:bodyPr wrap="square" lIns="0" rIns="0" tIns="0" bIns="0" anchor="t">
            <a:spAutoFit/>
          </a:bodyPr>
          <a:lstStyle/>
          <a:p>
            <a:pPr algn="r">
              <a:lnSpc>
                <a:spcPct val="108000"/>
              </a:lnSpc>
              <a:spcAft>
                <a:spcPts val="0"/>
              </a:spcAft>
            </a:pPr>
            <a:r>
              <a:rPr sz="1000" b="0">
                <a:solidFill>
                  <a:srgbClr val="53657A"/>
                </a:solidFill>
                <a:latin typeface="Yu Gothic"/>
                <a:ea typeface="Yu Gothic"/>
              </a:rPr>
              <a:t>2026-08-29</a:t>
            </a:r>
          </a:p>
        </p:txBody>
      </p:sp>
      <p:pic>
        <p:nvPicPr>
          <p:cNvPr id="9" name="Picture 8" descr="logo-placeholder.png"/>
          <p:cNvPicPr>
            <a:picLocks noChangeAspect="1"/>
          </p:cNvPicPr>
          <p:nvPr/>
        </p:nvPicPr>
        <p:blipFill>
          <a:blip r:embed="rId2"/>
          <a:stretch>
            <a:fillRect/>
          </a:stretch>
        </p:blipFill>
        <p:spPr>
          <a:xfrm>
            <a:off x="11055096" y="6062472"/>
            <a:ext cx="502920" cy="502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THEME.PY: PALETTE</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配色（Semantic Color Roles）</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02</a:t>
            </a:r>
          </a:p>
        </p:txBody>
      </p:sp>
      <p:sp>
        <p:nvSpPr>
          <p:cNvPr id="6" name="TextBox 5"/>
          <p:cNvSpPr txBox="1"/>
          <p:nvPr/>
        </p:nvSpPr>
        <p:spPr>
          <a:xfrm>
            <a:off x="609600" y="1335024"/>
            <a:ext cx="10972799" cy="365760"/>
          </a:xfrm>
          <a:prstGeom prst="rect">
            <a:avLst/>
          </a:prstGeom>
          <a:noFill/>
        </p:spPr>
        <p:txBody>
          <a:bodyPr wrap="square" lIns="0" rIns="0" tIns="0" bIns="0">
            <a:spAutoFit/>
          </a:bodyPr>
          <a:lstStyle/>
          <a:p>
            <a:pPr algn="l"/>
            <a:r>
              <a:rPr sz="1200" b="0" i="0">
                <a:solidFill>
                  <a:srgbClr val="53657A"/>
                </a:solidFill>
                <a:latin typeface="Hiragino Sans"/>
              </a:rPr>
              <a:t>色は役割（semantic role）で選ぶ。同じ役割は常に同じ色を使い、デッキ全体の一貫性を保つ。</a:t>
            </a:r>
          </a:p>
        </p:txBody>
      </p:sp>
      <p:sp>
        <p:nvSpPr>
          <p:cNvPr id="7" name="TextBox 6"/>
          <p:cNvSpPr txBox="1"/>
          <p:nvPr/>
        </p:nvSpPr>
        <p:spPr>
          <a:xfrm>
            <a:off x="609600" y="1792224"/>
            <a:ext cx="10972799" cy="365760"/>
          </a:xfrm>
          <a:prstGeom prst="rect">
            <a:avLst/>
          </a:prstGeom>
          <a:noFill/>
        </p:spPr>
        <p:txBody>
          <a:bodyPr wrap="square" lIns="0" rIns="0" tIns="0" bIns="0">
            <a:spAutoFit/>
          </a:bodyPr>
          <a:lstStyle/>
          <a:p>
            <a:pPr algn="l"/>
            <a:r>
              <a:rPr sz="1100" b="1" i="0">
                <a:solidFill>
                  <a:srgbClr val="53657A"/>
                </a:solidFill>
                <a:latin typeface="Hiragino Sans"/>
              </a:rPr>
              <a:t>構造的な役割 — ブランドカラーに連動する既定の文字・線・面</a:t>
            </a:r>
          </a:p>
        </p:txBody>
      </p:sp>
      <p:sp>
        <p:nvSpPr>
          <p:cNvPr id="8" name="Rectangle 7"/>
          <p:cNvSpPr/>
          <p:nvPr/>
        </p:nvSpPr>
        <p:spPr>
          <a:xfrm>
            <a:off x="609600" y="2103120"/>
            <a:ext cx="1991359" cy="640080"/>
          </a:xfrm>
          <a:prstGeom prst="rect">
            <a:avLst/>
          </a:prstGeom>
          <a:solidFill>
            <a:srgbClr val="102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2798064"/>
            <a:ext cx="1991359" cy="365760"/>
          </a:xfrm>
          <a:prstGeom prst="rect">
            <a:avLst/>
          </a:prstGeom>
          <a:noFill/>
        </p:spPr>
        <p:txBody>
          <a:bodyPr wrap="square" lIns="0" rIns="0" tIns="0" bIns="0">
            <a:spAutoFit/>
          </a:bodyPr>
          <a:lstStyle/>
          <a:p>
            <a:pPr algn="l"/>
            <a:r>
              <a:rPr sz="1100" b="1" i="0">
                <a:solidFill>
                  <a:srgbClr val="102C49"/>
                </a:solidFill>
                <a:latin typeface="Hiragino Sans"/>
              </a:rPr>
              <a:t>text_primary</a:t>
            </a:r>
          </a:p>
        </p:txBody>
      </p:sp>
      <p:sp>
        <p:nvSpPr>
          <p:cNvPr id="10" name="TextBox 9"/>
          <p:cNvSpPr txBox="1"/>
          <p:nvPr/>
        </p:nvSpPr>
        <p:spPr>
          <a:xfrm>
            <a:off x="609600" y="3017520"/>
            <a:ext cx="1991359" cy="365760"/>
          </a:xfrm>
          <a:prstGeom prst="rect">
            <a:avLst/>
          </a:prstGeom>
          <a:noFill/>
        </p:spPr>
        <p:txBody>
          <a:bodyPr wrap="square" lIns="0" rIns="0" tIns="0" bIns="0">
            <a:spAutoFit/>
          </a:bodyPr>
          <a:lstStyle/>
          <a:p>
            <a:pPr algn="l"/>
            <a:r>
              <a:rPr sz="950" b="0" i="0">
                <a:solidFill>
                  <a:srgbClr val="53657A"/>
                </a:solidFill>
                <a:latin typeface="Hiragino Sans"/>
              </a:rPr>
              <a:t>見出し・本文の主文字</a:t>
            </a:r>
          </a:p>
        </p:txBody>
      </p:sp>
      <p:sp>
        <p:nvSpPr>
          <p:cNvPr id="11" name="Rectangle 10"/>
          <p:cNvSpPr/>
          <p:nvPr/>
        </p:nvSpPr>
        <p:spPr>
          <a:xfrm>
            <a:off x="2854959" y="2103120"/>
            <a:ext cx="1991359" cy="640080"/>
          </a:xfrm>
          <a:prstGeom prst="rect">
            <a:avLst/>
          </a:prstGeom>
          <a:solidFill>
            <a:srgbClr val="536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4959" y="2798064"/>
            <a:ext cx="1991359" cy="365760"/>
          </a:xfrm>
          <a:prstGeom prst="rect">
            <a:avLst/>
          </a:prstGeom>
          <a:noFill/>
        </p:spPr>
        <p:txBody>
          <a:bodyPr wrap="square" lIns="0" rIns="0" tIns="0" bIns="0">
            <a:spAutoFit/>
          </a:bodyPr>
          <a:lstStyle/>
          <a:p>
            <a:pPr algn="l"/>
            <a:r>
              <a:rPr sz="1100" b="1" i="0">
                <a:solidFill>
                  <a:srgbClr val="102C49"/>
                </a:solidFill>
                <a:latin typeface="Hiragino Sans"/>
              </a:rPr>
              <a:t>text_secondary</a:t>
            </a:r>
          </a:p>
        </p:txBody>
      </p:sp>
      <p:sp>
        <p:nvSpPr>
          <p:cNvPr id="13" name="TextBox 12"/>
          <p:cNvSpPr txBox="1"/>
          <p:nvPr/>
        </p:nvSpPr>
        <p:spPr>
          <a:xfrm>
            <a:off x="2854959" y="3017520"/>
            <a:ext cx="1991359" cy="365760"/>
          </a:xfrm>
          <a:prstGeom prst="rect">
            <a:avLst/>
          </a:prstGeom>
          <a:noFill/>
        </p:spPr>
        <p:txBody>
          <a:bodyPr wrap="square" lIns="0" rIns="0" tIns="0" bIns="0">
            <a:spAutoFit/>
          </a:bodyPr>
          <a:lstStyle/>
          <a:p>
            <a:pPr algn="l"/>
            <a:r>
              <a:rPr sz="950" b="0" i="0">
                <a:solidFill>
                  <a:srgbClr val="53657A"/>
                </a:solidFill>
                <a:latin typeface="Hiragino Sans"/>
              </a:rPr>
              <a:t>注記・補足</a:t>
            </a:r>
          </a:p>
        </p:txBody>
      </p:sp>
      <p:sp>
        <p:nvSpPr>
          <p:cNvPr id="14" name="Rectangle 13"/>
          <p:cNvSpPr/>
          <p:nvPr/>
        </p:nvSpPr>
        <p:spPr>
          <a:xfrm>
            <a:off x="5100318" y="2103120"/>
            <a:ext cx="1991359" cy="640080"/>
          </a:xfrm>
          <a:prstGeom prst="rect">
            <a:avLst/>
          </a:prstGeom>
          <a:solidFill>
            <a:srgbClr val="D7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00318" y="2798064"/>
            <a:ext cx="1991359" cy="365760"/>
          </a:xfrm>
          <a:prstGeom prst="rect">
            <a:avLst/>
          </a:prstGeom>
          <a:noFill/>
        </p:spPr>
        <p:txBody>
          <a:bodyPr wrap="square" lIns="0" rIns="0" tIns="0" bIns="0">
            <a:spAutoFit/>
          </a:bodyPr>
          <a:lstStyle/>
          <a:p>
            <a:pPr algn="l"/>
            <a:r>
              <a:rPr sz="1100" b="1" i="0">
                <a:solidFill>
                  <a:srgbClr val="102C49"/>
                </a:solidFill>
                <a:latin typeface="Hiragino Sans"/>
              </a:rPr>
              <a:t>line_neutral</a:t>
            </a:r>
          </a:p>
        </p:txBody>
      </p:sp>
      <p:sp>
        <p:nvSpPr>
          <p:cNvPr id="16" name="TextBox 15"/>
          <p:cNvSpPr txBox="1"/>
          <p:nvPr/>
        </p:nvSpPr>
        <p:spPr>
          <a:xfrm>
            <a:off x="5100318" y="3017520"/>
            <a:ext cx="1991359" cy="365760"/>
          </a:xfrm>
          <a:prstGeom prst="rect">
            <a:avLst/>
          </a:prstGeom>
          <a:noFill/>
        </p:spPr>
        <p:txBody>
          <a:bodyPr wrap="square" lIns="0" rIns="0" tIns="0" bIns="0">
            <a:spAutoFit/>
          </a:bodyPr>
          <a:lstStyle/>
          <a:p>
            <a:pPr algn="l"/>
            <a:r>
              <a:rPr sz="950" b="0" i="0">
                <a:solidFill>
                  <a:srgbClr val="53657A"/>
                </a:solidFill>
                <a:latin typeface="Hiragino Sans"/>
              </a:rPr>
              <a:t>表・区切り・非強調の接続</a:t>
            </a:r>
          </a:p>
        </p:txBody>
      </p:sp>
      <p:sp>
        <p:nvSpPr>
          <p:cNvPr id="17" name="Rectangle 16"/>
          <p:cNvSpPr/>
          <p:nvPr/>
        </p:nvSpPr>
        <p:spPr>
          <a:xfrm>
            <a:off x="7345677" y="2103120"/>
            <a:ext cx="1991359" cy="640080"/>
          </a:xfrm>
          <a:prstGeom prst="rect">
            <a:avLst/>
          </a:prstGeom>
          <a:solidFill>
            <a:srgbClr val="2574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5677" y="2798064"/>
            <a:ext cx="1991359" cy="365760"/>
          </a:xfrm>
          <a:prstGeom prst="rect">
            <a:avLst/>
          </a:prstGeom>
          <a:noFill/>
        </p:spPr>
        <p:txBody>
          <a:bodyPr wrap="square" lIns="0" rIns="0" tIns="0" bIns="0">
            <a:spAutoFit/>
          </a:bodyPr>
          <a:lstStyle/>
          <a:p>
            <a:pPr algn="l"/>
            <a:r>
              <a:rPr sz="1100" b="1" i="0">
                <a:solidFill>
                  <a:srgbClr val="102C49"/>
                </a:solidFill>
                <a:latin typeface="Hiragino Sans"/>
              </a:rPr>
              <a:t>line_brand</a:t>
            </a:r>
          </a:p>
        </p:txBody>
      </p:sp>
      <p:sp>
        <p:nvSpPr>
          <p:cNvPr id="19" name="TextBox 18"/>
          <p:cNvSpPr txBox="1"/>
          <p:nvPr/>
        </p:nvSpPr>
        <p:spPr>
          <a:xfrm>
            <a:off x="7345677" y="3017520"/>
            <a:ext cx="1991359" cy="365760"/>
          </a:xfrm>
          <a:prstGeom prst="rect">
            <a:avLst/>
          </a:prstGeom>
          <a:noFill/>
        </p:spPr>
        <p:txBody>
          <a:bodyPr wrap="square" lIns="0" rIns="0" tIns="0" bIns="0">
            <a:spAutoFit/>
          </a:bodyPr>
          <a:lstStyle/>
          <a:p>
            <a:pPr algn="l"/>
            <a:r>
              <a:rPr sz="950" b="0" i="0">
                <a:solidFill>
                  <a:srgbClr val="53657A"/>
                </a:solidFill>
                <a:latin typeface="Hiragino Sans"/>
              </a:rPr>
              <a:t>タイトル下線・セクションマーカー</a:t>
            </a:r>
          </a:p>
        </p:txBody>
      </p:sp>
      <p:sp>
        <p:nvSpPr>
          <p:cNvPr id="20" name="Rectangle 19"/>
          <p:cNvSpPr/>
          <p:nvPr/>
        </p:nvSpPr>
        <p:spPr>
          <a:xfrm>
            <a:off x="9591036" y="2103120"/>
            <a:ext cx="1991359" cy="640080"/>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91036" y="2798064"/>
            <a:ext cx="1991359" cy="365760"/>
          </a:xfrm>
          <a:prstGeom prst="rect">
            <a:avLst/>
          </a:prstGeom>
          <a:noFill/>
        </p:spPr>
        <p:txBody>
          <a:bodyPr wrap="square" lIns="0" rIns="0" tIns="0" bIns="0">
            <a:spAutoFit/>
          </a:bodyPr>
          <a:lstStyle/>
          <a:p>
            <a:pPr algn="l"/>
            <a:r>
              <a:rPr sz="1100" b="1" i="0">
                <a:solidFill>
                  <a:srgbClr val="102C49"/>
                </a:solidFill>
                <a:latin typeface="Hiragino Sans"/>
              </a:rPr>
              <a:t>surface_subtle</a:t>
            </a:r>
          </a:p>
        </p:txBody>
      </p:sp>
      <p:sp>
        <p:nvSpPr>
          <p:cNvPr id="22" name="TextBox 21"/>
          <p:cNvSpPr txBox="1"/>
          <p:nvPr/>
        </p:nvSpPr>
        <p:spPr>
          <a:xfrm>
            <a:off x="9591036" y="3017520"/>
            <a:ext cx="1991359" cy="365760"/>
          </a:xfrm>
          <a:prstGeom prst="rect">
            <a:avLst/>
          </a:prstGeom>
          <a:noFill/>
        </p:spPr>
        <p:txBody>
          <a:bodyPr wrap="square" lIns="0" rIns="0" tIns="0" bIns="0">
            <a:spAutoFit/>
          </a:bodyPr>
          <a:lstStyle/>
          <a:p>
            <a:pPr algn="l"/>
            <a:r>
              <a:rPr sz="950" b="0" i="0">
                <a:solidFill>
                  <a:srgbClr val="53657A"/>
                </a:solidFill>
                <a:latin typeface="Hiragino Sans"/>
              </a:rPr>
              <a:t>ニュートラルな補助面</a:t>
            </a:r>
          </a:p>
        </p:txBody>
      </p:sp>
      <p:sp>
        <p:nvSpPr>
          <p:cNvPr id="23" name="Rectangle 22"/>
          <p:cNvSpPr/>
          <p:nvPr/>
        </p:nvSpPr>
        <p:spPr>
          <a:xfrm>
            <a:off x="609600" y="3246120"/>
            <a:ext cx="1991359" cy="640080"/>
          </a:xfrm>
          <a:prstGeom prst="rect">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600" y="3941064"/>
            <a:ext cx="1991359" cy="365760"/>
          </a:xfrm>
          <a:prstGeom prst="rect">
            <a:avLst/>
          </a:prstGeom>
          <a:noFill/>
        </p:spPr>
        <p:txBody>
          <a:bodyPr wrap="square" lIns="0" rIns="0" tIns="0" bIns="0">
            <a:spAutoFit/>
          </a:bodyPr>
          <a:lstStyle/>
          <a:p>
            <a:pPr algn="l"/>
            <a:r>
              <a:rPr sz="1100" b="1" i="0">
                <a:solidFill>
                  <a:srgbClr val="102C49"/>
                </a:solidFill>
                <a:latin typeface="Hiragino Sans"/>
              </a:rPr>
              <a:t>surface_brand_soft</a:t>
            </a:r>
          </a:p>
        </p:txBody>
      </p:sp>
      <p:sp>
        <p:nvSpPr>
          <p:cNvPr id="25" name="TextBox 24"/>
          <p:cNvSpPr txBox="1"/>
          <p:nvPr/>
        </p:nvSpPr>
        <p:spPr>
          <a:xfrm>
            <a:off x="609600" y="4160520"/>
            <a:ext cx="1991359" cy="365760"/>
          </a:xfrm>
          <a:prstGeom prst="rect">
            <a:avLst/>
          </a:prstGeom>
          <a:noFill/>
        </p:spPr>
        <p:txBody>
          <a:bodyPr wrap="square" lIns="0" rIns="0" tIns="0" bIns="0">
            <a:spAutoFit/>
          </a:bodyPr>
          <a:lstStyle/>
          <a:p>
            <a:pPr algn="l"/>
            <a:r>
              <a:rPr sz="950" b="0" i="0">
                <a:solidFill>
                  <a:srgbClr val="53657A"/>
                </a:solidFill>
                <a:latin typeface="Hiragino Sans"/>
              </a:rPr>
              <a:t>青系のまとまり・選択範囲</a:t>
            </a:r>
          </a:p>
        </p:txBody>
      </p:sp>
      <p:sp>
        <p:nvSpPr>
          <p:cNvPr id="26" name="Rectangle 25"/>
          <p:cNvSpPr/>
          <p:nvPr/>
        </p:nvSpPr>
        <p:spPr>
          <a:xfrm>
            <a:off x="2854959" y="3246120"/>
            <a:ext cx="1991359" cy="640080"/>
          </a:xfrm>
          <a:prstGeom prst="rect">
            <a:avLst/>
          </a:prstGeom>
          <a:solidFill>
            <a:srgbClr val="E2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4959" y="3941064"/>
            <a:ext cx="1991359" cy="365760"/>
          </a:xfrm>
          <a:prstGeom prst="rect">
            <a:avLst/>
          </a:prstGeom>
          <a:noFill/>
        </p:spPr>
        <p:txBody>
          <a:bodyPr wrap="square" lIns="0" rIns="0" tIns="0" bIns="0">
            <a:spAutoFit/>
          </a:bodyPr>
          <a:lstStyle/>
          <a:p>
            <a:pPr algn="l"/>
            <a:r>
              <a:rPr sz="1100" b="1" i="0">
                <a:solidFill>
                  <a:srgbClr val="102C49"/>
                </a:solidFill>
                <a:latin typeface="Hiragino Sans"/>
              </a:rPr>
              <a:t>surface_teal_soft</a:t>
            </a:r>
          </a:p>
        </p:txBody>
      </p:sp>
      <p:sp>
        <p:nvSpPr>
          <p:cNvPr id="28" name="TextBox 27"/>
          <p:cNvSpPr txBox="1"/>
          <p:nvPr/>
        </p:nvSpPr>
        <p:spPr>
          <a:xfrm>
            <a:off x="2854959" y="4160520"/>
            <a:ext cx="1991359" cy="365760"/>
          </a:xfrm>
          <a:prstGeom prst="rect">
            <a:avLst/>
          </a:prstGeom>
          <a:noFill/>
        </p:spPr>
        <p:txBody>
          <a:bodyPr wrap="square" lIns="0" rIns="0" tIns="0" bIns="0">
            <a:spAutoFit/>
          </a:bodyPr>
          <a:lstStyle/>
          <a:p>
            <a:pPr algn="l"/>
            <a:r>
              <a:rPr sz="950" b="0" i="0">
                <a:solidFill>
                  <a:srgbClr val="53657A"/>
                </a:solidFill>
                <a:latin typeface="Hiragino Sans"/>
              </a:rPr>
              <a:t>異なる構造の補助系列</a:t>
            </a:r>
          </a:p>
        </p:txBody>
      </p:sp>
      <p:sp>
        <p:nvSpPr>
          <p:cNvPr id="29" name="Rectangle 28"/>
          <p:cNvSpPr/>
          <p:nvPr/>
        </p:nvSpPr>
        <p:spPr>
          <a:xfrm>
            <a:off x="5100318" y="3246120"/>
            <a:ext cx="1991359" cy="640080"/>
          </a:xfrm>
          <a:prstGeom prst="rect">
            <a:avLst/>
          </a:prstGeom>
          <a:solidFill>
            <a:srgbClr val="102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00318" y="3941064"/>
            <a:ext cx="1991359" cy="365760"/>
          </a:xfrm>
          <a:prstGeom prst="rect">
            <a:avLst/>
          </a:prstGeom>
          <a:noFill/>
        </p:spPr>
        <p:txBody>
          <a:bodyPr wrap="square" lIns="0" rIns="0" tIns="0" bIns="0">
            <a:spAutoFit/>
          </a:bodyPr>
          <a:lstStyle/>
          <a:p>
            <a:pPr algn="l"/>
            <a:r>
              <a:rPr sz="1100" b="1" i="0">
                <a:solidFill>
                  <a:srgbClr val="102C49"/>
                </a:solidFill>
                <a:latin typeface="Hiragino Sans"/>
              </a:rPr>
              <a:t>focus_primary</a:t>
            </a:r>
          </a:p>
        </p:txBody>
      </p:sp>
      <p:sp>
        <p:nvSpPr>
          <p:cNvPr id="31" name="TextBox 30"/>
          <p:cNvSpPr txBox="1"/>
          <p:nvPr/>
        </p:nvSpPr>
        <p:spPr>
          <a:xfrm>
            <a:off x="5100318" y="4160520"/>
            <a:ext cx="1991359" cy="365760"/>
          </a:xfrm>
          <a:prstGeom prst="rect">
            <a:avLst/>
          </a:prstGeom>
          <a:noFill/>
        </p:spPr>
        <p:txBody>
          <a:bodyPr wrap="square" lIns="0" rIns="0" tIns="0" bIns="0">
            <a:spAutoFit/>
          </a:bodyPr>
          <a:lstStyle/>
          <a:p>
            <a:pPr algn="l"/>
            <a:r>
              <a:rPr sz="950" b="0" i="0">
                <a:solidFill>
                  <a:srgbClr val="53657A"/>
                </a:solidFill>
                <a:latin typeface="Hiragino Sans"/>
              </a:rPr>
              <a:t>最重要項目</a:t>
            </a:r>
          </a:p>
        </p:txBody>
      </p:sp>
      <p:sp>
        <p:nvSpPr>
          <p:cNvPr id="32" name="Rectangle 31"/>
          <p:cNvSpPr/>
          <p:nvPr/>
        </p:nvSpPr>
        <p:spPr>
          <a:xfrm>
            <a:off x="7345677" y="3246120"/>
            <a:ext cx="1991359" cy="640080"/>
          </a:xfrm>
          <a:prstGeom prst="rect">
            <a:avLst/>
          </a:prstGeom>
          <a:solidFill>
            <a:srgbClr val="148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45677" y="3941064"/>
            <a:ext cx="1991359" cy="365760"/>
          </a:xfrm>
          <a:prstGeom prst="rect">
            <a:avLst/>
          </a:prstGeom>
          <a:noFill/>
        </p:spPr>
        <p:txBody>
          <a:bodyPr wrap="square" lIns="0" rIns="0" tIns="0" bIns="0">
            <a:spAutoFit/>
          </a:bodyPr>
          <a:lstStyle/>
          <a:p>
            <a:pPr algn="l"/>
            <a:r>
              <a:rPr sz="1100" b="1" i="0">
                <a:solidFill>
                  <a:srgbClr val="102C49"/>
                </a:solidFill>
                <a:latin typeface="Hiragino Sans"/>
              </a:rPr>
              <a:t>accent_secondary</a:t>
            </a:r>
          </a:p>
        </p:txBody>
      </p:sp>
      <p:sp>
        <p:nvSpPr>
          <p:cNvPr id="34" name="TextBox 33"/>
          <p:cNvSpPr txBox="1"/>
          <p:nvPr/>
        </p:nvSpPr>
        <p:spPr>
          <a:xfrm>
            <a:off x="7345677" y="4160520"/>
            <a:ext cx="1991359" cy="365760"/>
          </a:xfrm>
          <a:prstGeom prst="rect">
            <a:avLst/>
          </a:prstGeom>
          <a:noFill/>
        </p:spPr>
        <p:txBody>
          <a:bodyPr wrap="square" lIns="0" rIns="0" tIns="0" bIns="0">
            <a:spAutoFit/>
          </a:bodyPr>
          <a:lstStyle/>
          <a:p>
            <a:pPr algn="l"/>
            <a:r>
              <a:rPr sz="950" b="0" i="0">
                <a:solidFill>
                  <a:srgbClr val="53657A"/>
                </a:solidFill>
                <a:latin typeface="Hiragino Sans"/>
              </a:rPr>
              <a:t>構造を区別する限定的アクセント</a:t>
            </a:r>
          </a:p>
        </p:txBody>
      </p:sp>
      <p:sp>
        <p:nvSpPr>
          <p:cNvPr id="35" name="TextBox 34"/>
          <p:cNvSpPr txBox="1"/>
          <p:nvPr/>
        </p:nvSpPr>
        <p:spPr>
          <a:xfrm>
            <a:off x="609600" y="4434840"/>
            <a:ext cx="10972799" cy="365760"/>
          </a:xfrm>
          <a:prstGeom prst="rect">
            <a:avLst/>
          </a:prstGeom>
          <a:noFill/>
        </p:spPr>
        <p:txBody>
          <a:bodyPr wrap="square" lIns="0" rIns="0" tIns="0" bIns="0">
            <a:spAutoFit/>
          </a:bodyPr>
          <a:lstStyle/>
          <a:p>
            <a:pPr algn="l"/>
            <a:r>
              <a:rPr sz="1100" b="1" i="0">
                <a:solidFill>
                  <a:srgbClr val="53657A"/>
                </a:solidFill>
                <a:latin typeface="Hiragino Sans"/>
              </a:rPr>
              <a:t>符号・重大度ロール — ブランドカラーとは独立。良い/悪い/注意の意味でのみ使い、装飾としては使わない（背景の淡色版はp.4）</a:t>
            </a:r>
          </a:p>
        </p:txBody>
      </p:sp>
      <p:sp>
        <p:nvSpPr>
          <p:cNvPr id="36" name="Rectangle 35"/>
          <p:cNvSpPr/>
          <p:nvPr/>
        </p:nvSpPr>
        <p:spPr>
          <a:xfrm>
            <a:off x="2854959" y="4745736"/>
            <a:ext cx="1991359" cy="640080"/>
          </a:xfrm>
          <a:prstGeom prst="rect">
            <a:avLst/>
          </a:prstGeom>
          <a:solidFill>
            <a:srgbClr val="1E8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4959" y="5440680"/>
            <a:ext cx="1991359" cy="365760"/>
          </a:xfrm>
          <a:prstGeom prst="rect">
            <a:avLst/>
          </a:prstGeom>
          <a:noFill/>
        </p:spPr>
        <p:txBody>
          <a:bodyPr wrap="square" lIns="0" rIns="0" tIns="0" bIns="0">
            <a:spAutoFit/>
          </a:bodyPr>
          <a:lstStyle/>
          <a:p>
            <a:pPr algn="l"/>
            <a:r>
              <a:rPr sz="1100" b="1" i="0">
                <a:solidFill>
                  <a:srgbClr val="102C49"/>
                </a:solidFill>
                <a:latin typeface="Hiragino Sans"/>
              </a:rPr>
              <a:t>positive</a:t>
            </a:r>
          </a:p>
        </p:txBody>
      </p:sp>
      <p:sp>
        <p:nvSpPr>
          <p:cNvPr id="38" name="TextBox 37"/>
          <p:cNvSpPr txBox="1"/>
          <p:nvPr/>
        </p:nvSpPr>
        <p:spPr>
          <a:xfrm>
            <a:off x="2854959" y="5660136"/>
            <a:ext cx="1991359" cy="365760"/>
          </a:xfrm>
          <a:prstGeom prst="rect">
            <a:avLst/>
          </a:prstGeom>
          <a:noFill/>
        </p:spPr>
        <p:txBody>
          <a:bodyPr wrap="square" lIns="0" rIns="0" tIns="0" bIns="0">
            <a:spAutoFit/>
          </a:bodyPr>
          <a:lstStyle/>
          <a:p>
            <a:pPr algn="l"/>
            <a:r>
              <a:rPr sz="950" b="0" i="0">
                <a:solidFill>
                  <a:srgbClr val="53657A"/>
                </a:solidFill>
                <a:latin typeface="Hiragino Sans"/>
              </a:rPr>
              <a:t>良い結果・達成・承認</a:t>
            </a:r>
          </a:p>
        </p:txBody>
      </p:sp>
      <p:sp>
        <p:nvSpPr>
          <p:cNvPr id="39" name="Rectangle 38"/>
          <p:cNvSpPr/>
          <p:nvPr/>
        </p:nvSpPr>
        <p:spPr>
          <a:xfrm>
            <a:off x="5100318" y="4745736"/>
            <a:ext cx="1991359" cy="6400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0318" y="5440680"/>
            <a:ext cx="1991359" cy="365760"/>
          </a:xfrm>
          <a:prstGeom prst="rect">
            <a:avLst/>
          </a:prstGeom>
          <a:noFill/>
        </p:spPr>
        <p:txBody>
          <a:bodyPr wrap="square" lIns="0" rIns="0" tIns="0" bIns="0">
            <a:spAutoFit/>
          </a:bodyPr>
          <a:lstStyle/>
          <a:p>
            <a:pPr algn="l"/>
            <a:r>
              <a:rPr sz="1100" b="1" i="0">
                <a:solidFill>
                  <a:srgbClr val="102C49"/>
                </a:solidFill>
                <a:latin typeface="Hiragino Sans"/>
              </a:rPr>
              <a:t>negative</a:t>
            </a:r>
          </a:p>
        </p:txBody>
      </p:sp>
      <p:sp>
        <p:nvSpPr>
          <p:cNvPr id="41" name="TextBox 40"/>
          <p:cNvSpPr txBox="1"/>
          <p:nvPr/>
        </p:nvSpPr>
        <p:spPr>
          <a:xfrm>
            <a:off x="5100318" y="5660136"/>
            <a:ext cx="1991359" cy="365760"/>
          </a:xfrm>
          <a:prstGeom prst="rect">
            <a:avLst/>
          </a:prstGeom>
          <a:noFill/>
        </p:spPr>
        <p:txBody>
          <a:bodyPr wrap="square" lIns="0" rIns="0" tIns="0" bIns="0">
            <a:spAutoFit/>
          </a:bodyPr>
          <a:lstStyle/>
          <a:p>
            <a:pPr algn="l"/>
            <a:r>
              <a:rPr sz="950" b="0" i="0">
                <a:solidFill>
                  <a:srgbClr val="53657A"/>
                </a:solidFill>
                <a:latin typeface="Hiragino Sans"/>
              </a:rPr>
              <a:t>悪い結果・リスク・未達</a:t>
            </a:r>
          </a:p>
        </p:txBody>
      </p:sp>
      <p:sp>
        <p:nvSpPr>
          <p:cNvPr id="42" name="Rectangle 41"/>
          <p:cNvSpPr/>
          <p:nvPr/>
        </p:nvSpPr>
        <p:spPr>
          <a:xfrm>
            <a:off x="7345677" y="4745736"/>
            <a:ext cx="1991359" cy="640080"/>
          </a:xfrm>
          <a:prstGeom prst="rect">
            <a:avLst/>
          </a:prstGeom>
          <a:solidFill>
            <a:srgbClr val="B25E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45677" y="5440680"/>
            <a:ext cx="1991359" cy="365760"/>
          </a:xfrm>
          <a:prstGeom prst="rect">
            <a:avLst/>
          </a:prstGeom>
          <a:noFill/>
        </p:spPr>
        <p:txBody>
          <a:bodyPr wrap="square" lIns="0" rIns="0" tIns="0" bIns="0">
            <a:spAutoFit/>
          </a:bodyPr>
          <a:lstStyle/>
          <a:p>
            <a:pPr algn="l"/>
            <a:r>
              <a:rPr sz="1100" b="1" i="0">
                <a:solidFill>
                  <a:srgbClr val="102C49"/>
                </a:solidFill>
                <a:latin typeface="Hiragino Sans"/>
              </a:rPr>
              <a:t>warning</a:t>
            </a:r>
          </a:p>
        </p:txBody>
      </p:sp>
      <p:sp>
        <p:nvSpPr>
          <p:cNvPr id="44" name="TextBox 43"/>
          <p:cNvSpPr txBox="1"/>
          <p:nvPr/>
        </p:nvSpPr>
        <p:spPr>
          <a:xfrm>
            <a:off x="7345677" y="5660136"/>
            <a:ext cx="1991359" cy="365760"/>
          </a:xfrm>
          <a:prstGeom prst="rect">
            <a:avLst/>
          </a:prstGeom>
          <a:noFill/>
        </p:spPr>
        <p:txBody>
          <a:bodyPr wrap="square" lIns="0" rIns="0" tIns="0" bIns="0">
            <a:spAutoFit/>
          </a:bodyPr>
          <a:lstStyle/>
          <a:p>
            <a:pPr algn="l"/>
            <a:r>
              <a:rPr sz="950" b="0" i="0">
                <a:solidFill>
                  <a:srgbClr val="53657A"/>
                </a:solidFill>
                <a:latin typeface="Hiragino Sans"/>
              </a:rPr>
              <a:t>注意・要確認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THEME.PY: TYPOGRAPHY_FOR()</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タイポグラフィ（3モード）</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03</a:t>
            </a:r>
          </a:p>
        </p:txBody>
      </p:sp>
      <p:sp>
        <p:nvSpPr>
          <p:cNvPr id="6" name="TextBox 5"/>
          <p:cNvSpPr txBox="1"/>
          <p:nvPr/>
        </p:nvSpPr>
        <p:spPr>
          <a:xfrm>
            <a:off x="609600" y="1335024"/>
            <a:ext cx="10972799" cy="365760"/>
          </a:xfrm>
          <a:prstGeom prst="rect">
            <a:avLst/>
          </a:prstGeom>
          <a:noFill/>
        </p:spPr>
        <p:txBody>
          <a:bodyPr wrap="square" lIns="0" rIns="0" tIns="0" bIns="0">
            <a:spAutoFit/>
          </a:bodyPr>
          <a:lstStyle/>
          <a:p>
            <a:pPr algn="l"/>
            <a:r>
              <a:rPr sz="1150" b="0" i="0">
                <a:solidFill>
                  <a:srgbClr val="53657A"/>
                </a:solidFill>
                <a:latin typeface="Hiragino Sans"/>
              </a:rPr>
              <a:t>deck.modeで選ぶ。businessの本文は12ptを基準にする。denseは情報量が多いページだけに使い、large-roomは遠距離投影が明示された場合だけ使う（deck.mode自体はbusinessのまま個別ページにdensity: denseを指定できる）。以下は実際のpt数で描いた実寸サンプル。</a:t>
            </a:r>
          </a:p>
        </p:txBody>
      </p:sp>
      <p:sp>
        <p:nvSpPr>
          <p:cNvPr id="7" name="Rounded Rectangle 6"/>
          <p:cNvSpPr/>
          <p:nvPr/>
        </p:nvSpPr>
        <p:spPr>
          <a:xfrm>
            <a:off x="609600" y="2121408"/>
            <a:ext cx="3401567" cy="4114800"/>
          </a:xfrm>
          <a:prstGeom prst="roundRect">
            <a:avLst>
              <a:gd name="adj" fmla="val 5227"/>
            </a:avLst>
          </a:prstGeom>
          <a:solidFill>
            <a:srgbClr val="E7EBF0"/>
          </a:solidFill>
          <a:ln>
            <a:noFill/>
          </a:ln>
        </p:spPr>
        <p:txBody>
          <a:bodyPr rtlCol="0" anchor="ctr"/>
          <a:lstStyle/>
          <a:p>
            <a:pPr algn="ctr"/>
          </a:p>
        </p:txBody>
      </p:sp>
      <p:sp>
        <p:nvSpPr>
          <p:cNvPr id="8" name="TextBox 7"/>
          <p:cNvSpPr txBox="1"/>
          <p:nvPr/>
        </p:nvSpPr>
        <p:spPr>
          <a:xfrm>
            <a:off x="847344" y="2322576"/>
            <a:ext cx="2926079" cy="274320"/>
          </a:xfrm>
          <a:prstGeom prst="rect">
            <a:avLst/>
          </a:prstGeom>
          <a:noFill/>
        </p:spPr>
        <p:txBody>
          <a:bodyPr wrap="square" lIns="0" rIns="0" tIns="0" bIns="0" anchor="t">
            <a:spAutoFit/>
          </a:bodyPr>
          <a:lstStyle/>
          <a:p>
            <a:pPr algn="l">
              <a:lnSpc>
                <a:spcPct val="108000"/>
              </a:lnSpc>
              <a:spcAft>
                <a:spcPts val="0"/>
              </a:spcAft>
            </a:pPr>
            <a:r>
              <a:rPr sz="1400" b="1">
                <a:solidFill>
                  <a:srgbClr val="102C49"/>
                </a:solidFill>
                <a:latin typeface="Hiragino Sans"/>
                <a:ea typeface="Hiragino Sans"/>
              </a:rPr>
              <a:t>business（標準）</a:t>
            </a:r>
          </a:p>
        </p:txBody>
      </p:sp>
      <p:sp>
        <p:nvSpPr>
          <p:cNvPr id="9" name="TextBox 8"/>
          <p:cNvSpPr txBox="1"/>
          <p:nvPr/>
        </p:nvSpPr>
        <p:spPr>
          <a:xfrm>
            <a:off x="847344" y="2651760"/>
            <a:ext cx="2926079" cy="548640"/>
          </a:xfrm>
          <a:prstGeom prst="rect">
            <a:avLst/>
          </a:prstGeom>
          <a:noFill/>
        </p:spPr>
        <p:txBody>
          <a:bodyPr wrap="square" lIns="0" rIns="0" tIns="0" bIns="0" anchor="t">
            <a:spAutoFit/>
          </a:bodyPr>
          <a:lstStyle/>
          <a:p>
            <a:pPr algn="l">
              <a:lnSpc>
                <a:spcPct val="120000"/>
              </a:lnSpc>
              <a:spcBef>
                <a:spcPts val="0"/>
              </a:spcBef>
              <a:spcAft>
                <a:spcPts val="0"/>
              </a:spcAft>
            </a:pPr>
            <a:r>
              <a:rPr sz="950" b="0">
                <a:solidFill>
                  <a:srgbClr val="53657A"/>
                </a:solidFill>
                <a:latin typeface="Hiragino Sans"/>
                <a:ea typeface="Hiragino Sans"/>
              </a:rPr>
              <a:t>個人PC閲覧・事前配布・画面共有が前提。通常の社内資料はすべてこれ。</a:t>
            </a:r>
          </a:p>
        </p:txBody>
      </p:sp>
      <p:sp>
        <p:nvSpPr>
          <p:cNvPr id="10" name="TextBox 9"/>
          <p:cNvSpPr txBox="1"/>
          <p:nvPr/>
        </p:nvSpPr>
        <p:spPr>
          <a:xfrm>
            <a:off x="847344" y="3218688"/>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Title  22pt</a:t>
            </a:r>
          </a:p>
        </p:txBody>
      </p:sp>
      <p:sp>
        <p:nvSpPr>
          <p:cNvPr id="11" name="TextBox 10"/>
          <p:cNvSpPr txBox="1"/>
          <p:nvPr/>
        </p:nvSpPr>
        <p:spPr>
          <a:xfrm>
            <a:off x="847344" y="3401568"/>
            <a:ext cx="2926079" cy="352552"/>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サンプル見出し</a:t>
            </a:r>
          </a:p>
        </p:txBody>
      </p:sp>
      <p:sp>
        <p:nvSpPr>
          <p:cNvPr id="12" name="TextBox 11"/>
          <p:cNvSpPr txBox="1"/>
          <p:nvPr/>
        </p:nvSpPr>
        <p:spPr>
          <a:xfrm>
            <a:off x="847344" y="3900424"/>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Section  15pt</a:t>
            </a:r>
          </a:p>
        </p:txBody>
      </p:sp>
      <p:sp>
        <p:nvSpPr>
          <p:cNvPr id="13" name="TextBox 12"/>
          <p:cNvSpPr txBox="1"/>
          <p:nvPr/>
        </p:nvSpPr>
        <p:spPr>
          <a:xfrm>
            <a:off x="847344" y="4083304"/>
            <a:ext cx="2926079" cy="263652"/>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Hiragino Sans"/>
                <a:ea typeface="Hiragino Sans"/>
              </a:rPr>
              <a:t>セクション見出し</a:t>
            </a:r>
          </a:p>
        </p:txBody>
      </p:sp>
      <p:sp>
        <p:nvSpPr>
          <p:cNvPr id="14" name="TextBox 13"/>
          <p:cNvSpPr txBox="1"/>
          <p:nvPr/>
        </p:nvSpPr>
        <p:spPr>
          <a:xfrm>
            <a:off x="847344" y="4493260"/>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Body  12pt</a:t>
            </a:r>
          </a:p>
        </p:txBody>
      </p:sp>
      <p:sp>
        <p:nvSpPr>
          <p:cNvPr id="15" name="TextBox 14"/>
          <p:cNvSpPr txBox="1"/>
          <p:nvPr/>
        </p:nvSpPr>
        <p:spPr>
          <a:xfrm>
            <a:off x="847344" y="4676140"/>
            <a:ext cx="2926079" cy="225551"/>
          </a:xfrm>
          <a:prstGeom prst="rect">
            <a:avLst/>
          </a:prstGeom>
          <a:noFill/>
        </p:spPr>
        <p:txBody>
          <a:bodyPr wrap="square" lIns="0" rIns="0" tIns="0" bIns="0" anchor="t">
            <a:spAutoFit/>
          </a:bodyPr>
          <a:lstStyle/>
          <a:p>
            <a:pPr algn="l">
              <a:lnSpc>
                <a:spcPct val="108000"/>
              </a:lnSpc>
              <a:spcAft>
                <a:spcPts val="0"/>
              </a:spcAft>
            </a:pPr>
            <a:r>
              <a:rPr sz="1200" b="0">
                <a:solidFill>
                  <a:srgbClr val="102C49"/>
                </a:solidFill>
                <a:latin typeface="Hiragino Sans"/>
                <a:ea typeface="Hiragino Sans"/>
              </a:rPr>
              <a:t>本文サンプル Sample 123</a:t>
            </a:r>
          </a:p>
        </p:txBody>
      </p:sp>
      <p:sp>
        <p:nvSpPr>
          <p:cNvPr id="16" name="TextBox 15"/>
          <p:cNvSpPr txBox="1"/>
          <p:nvPr/>
        </p:nvSpPr>
        <p:spPr>
          <a:xfrm>
            <a:off x="847344" y="5047995"/>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Small  10pt</a:t>
            </a:r>
          </a:p>
        </p:txBody>
      </p:sp>
      <p:sp>
        <p:nvSpPr>
          <p:cNvPr id="17" name="TextBox 16"/>
          <p:cNvSpPr txBox="1"/>
          <p:nvPr/>
        </p:nvSpPr>
        <p:spPr>
          <a:xfrm>
            <a:off x="847344" y="5230875"/>
            <a:ext cx="2926079" cy="200152"/>
          </a:xfrm>
          <a:prstGeom prst="rect">
            <a:avLst/>
          </a:prstGeom>
          <a:noFill/>
        </p:spPr>
        <p:txBody>
          <a:bodyPr wrap="square" lIns="0" rIns="0" tIns="0" bIns="0" anchor="t">
            <a:spAutoFit/>
          </a:bodyPr>
          <a:lstStyle/>
          <a:p>
            <a:pPr algn="l">
              <a:lnSpc>
                <a:spcPct val="108000"/>
              </a:lnSpc>
              <a:spcAft>
                <a:spcPts val="0"/>
              </a:spcAft>
            </a:pPr>
            <a:r>
              <a:rPr sz="1000" b="0">
                <a:solidFill>
                  <a:srgbClr val="102C49"/>
                </a:solidFill>
                <a:latin typeface="Hiragino Sans"/>
                <a:ea typeface="Hiragino Sans"/>
              </a:rPr>
              <a:t>注記・出典サンプル</a:t>
            </a:r>
          </a:p>
        </p:txBody>
      </p:sp>
      <p:sp>
        <p:nvSpPr>
          <p:cNvPr id="18" name="Rounded Rectangle 17"/>
          <p:cNvSpPr/>
          <p:nvPr/>
        </p:nvSpPr>
        <p:spPr>
          <a:xfrm>
            <a:off x="4395215" y="2121408"/>
            <a:ext cx="3401567" cy="4114800"/>
          </a:xfrm>
          <a:prstGeom prst="roundRect">
            <a:avLst>
              <a:gd name="adj" fmla="val 5227"/>
            </a:avLst>
          </a:prstGeom>
          <a:solidFill>
            <a:srgbClr val="E7EBF0"/>
          </a:solidFill>
          <a:ln>
            <a:noFill/>
          </a:ln>
        </p:spPr>
        <p:txBody>
          <a:bodyPr rtlCol="0" anchor="ctr"/>
          <a:lstStyle/>
          <a:p>
            <a:pPr algn="ctr"/>
          </a:p>
        </p:txBody>
      </p:sp>
      <p:sp>
        <p:nvSpPr>
          <p:cNvPr id="19" name="TextBox 18"/>
          <p:cNvSpPr txBox="1"/>
          <p:nvPr/>
        </p:nvSpPr>
        <p:spPr>
          <a:xfrm>
            <a:off x="4632959" y="2322576"/>
            <a:ext cx="2926079" cy="274320"/>
          </a:xfrm>
          <a:prstGeom prst="rect">
            <a:avLst/>
          </a:prstGeom>
          <a:noFill/>
        </p:spPr>
        <p:txBody>
          <a:bodyPr wrap="square" lIns="0" rIns="0" tIns="0" bIns="0" anchor="t">
            <a:spAutoFit/>
          </a:bodyPr>
          <a:lstStyle/>
          <a:p>
            <a:pPr algn="l">
              <a:lnSpc>
                <a:spcPct val="108000"/>
              </a:lnSpc>
              <a:spcAft>
                <a:spcPts val="0"/>
              </a:spcAft>
            </a:pPr>
            <a:r>
              <a:rPr sz="1400" b="1">
                <a:solidFill>
                  <a:srgbClr val="102C49"/>
                </a:solidFill>
                <a:latin typeface="Hiragino Sans"/>
                <a:ea typeface="Hiragino Sans"/>
              </a:rPr>
              <a:t>dense</a:t>
            </a:r>
          </a:p>
        </p:txBody>
      </p:sp>
      <p:sp>
        <p:nvSpPr>
          <p:cNvPr id="20" name="TextBox 19"/>
          <p:cNvSpPr txBox="1"/>
          <p:nvPr/>
        </p:nvSpPr>
        <p:spPr>
          <a:xfrm>
            <a:off x="4632959" y="2651760"/>
            <a:ext cx="2926079" cy="548640"/>
          </a:xfrm>
          <a:prstGeom prst="rect">
            <a:avLst/>
          </a:prstGeom>
          <a:noFill/>
        </p:spPr>
        <p:txBody>
          <a:bodyPr wrap="square" lIns="0" rIns="0" tIns="0" bIns="0" anchor="t">
            <a:spAutoFit/>
          </a:bodyPr>
          <a:lstStyle/>
          <a:p>
            <a:pPr algn="l">
              <a:lnSpc>
                <a:spcPct val="120000"/>
              </a:lnSpc>
              <a:spcBef>
                <a:spcPts val="0"/>
              </a:spcBef>
              <a:spcAft>
                <a:spcPts val="0"/>
              </a:spcAft>
            </a:pPr>
            <a:r>
              <a:rPr sz="950" b="0">
                <a:solidFill>
                  <a:srgbClr val="53657A"/>
                </a:solidFill>
                <a:latin typeface="Hiragino Sans"/>
                <a:ea typeface="Hiragino Sans"/>
              </a:rPr>
              <a:t>表・比較など情報量が多いページだけに使う。資料全体はdenseにしない。</a:t>
            </a:r>
          </a:p>
        </p:txBody>
      </p:sp>
      <p:sp>
        <p:nvSpPr>
          <p:cNvPr id="21" name="TextBox 20"/>
          <p:cNvSpPr txBox="1"/>
          <p:nvPr/>
        </p:nvSpPr>
        <p:spPr>
          <a:xfrm>
            <a:off x="4632959" y="3218688"/>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Title  20pt</a:t>
            </a:r>
          </a:p>
        </p:txBody>
      </p:sp>
      <p:sp>
        <p:nvSpPr>
          <p:cNvPr id="22" name="TextBox 21"/>
          <p:cNvSpPr txBox="1"/>
          <p:nvPr/>
        </p:nvSpPr>
        <p:spPr>
          <a:xfrm>
            <a:off x="4632959" y="3401568"/>
            <a:ext cx="2926079" cy="327152"/>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サンプル見出し</a:t>
            </a:r>
          </a:p>
        </p:txBody>
      </p:sp>
      <p:sp>
        <p:nvSpPr>
          <p:cNvPr id="23" name="TextBox 22"/>
          <p:cNvSpPr txBox="1"/>
          <p:nvPr/>
        </p:nvSpPr>
        <p:spPr>
          <a:xfrm>
            <a:off x="4632959" y="3875024"/>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Section  15pt</a:t>
            </a:r>
          </a:p>
        </p:txBody>
      </p:sp>
      <p:sp>
        <p:nvSpPr>
          <p:cNvPr id="24" name="TextBox 23"/>
          <p:cNvSpPr txBox="1"/>
          <p:nvPr/>
        </p:nvSpPr>
        <p:spPr>
          <a:xfrm>
            <a:off x="4632959" y="4057904"/>
            <a:ext cx="2926079" cy="263652"/>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Hiragino Sans"/>
                <a:ea typeface="Hiragino Sans"/>
              </a:rPr>
              <a:t>セクション見出し</a:t>
            </a:r>
          </a:p>
        </p:txBody>
      </p:sp>
      <p:sp>
        <p:nvSpPr>
          <p:cNvPr id="25" name="TextBox 24"/>
          <p:cNvSpPr txBox="1"/>
          <p:nvPr/>
        </p:nvSpPr>
        <p:spPr>
          <a:xfrm>
            <a:off x="4632959" y="4467860"/>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Body  11.5pt</a:t>
            </a:r>
          </a:p>
        </p:txBody>
      </p:sp>
      <p:sp>
        <p:nvSpPr>
          <p:cNvPr id="26" name="TextBox 25"/>
          <p:cNvSpPr txBox="1"/>
          <p:nvPr/>
        </p:nvSpPr>
        <p:spPr>
          <a:xfrm>
            <a:off x="4632959" y="4650740"/>
            <a:ext cx="2926079" cy="219202"/>
          </a:xfrm>
          <a:prstGeom prst="rect">
            <a:avLst/>
          </a:prstGeom>
          <a:noFill/>
        </p:spPr>
        <p:txBody>
          <a:bodyPr wrap="square" lIns="0" rIns="0" tIns="0" bIns="0" anchor="t">
            <a:spAutoFit/>
          </a:bodyPr>
          <a:lstStyle/>
          <a:p>
            <a:pPr algn="l">
              <a:lnSpc>
                <a:spcPct val="108000"/>
              </a:lnSpc>
              <a:spcAft>
                <a:spcPts val="0"/>
              </a:spcAft>
            </a:pPr>
            <a:r>
              <a:rPr sz="1150" b="0">
                <a:solidFill>
                  <a:srgbClr val="102C49"/>
                </a:solidFill>
                <a:latin typeface="Hiragino Sans"/>
                <a:ea typeface="Hiragino Sans"/>
              </a:rPr>
              <a:t>本文サンプル Sample 123</a:t>
            </a:r>
          </a:p>
        </p:txBody>
      </p:sp>
      <p:sp>
        <p:nvSpPr>
          <p:cNvPr id="27" name="TextBox 26"/>
          <p:cNvSpPr txBox="1"/>
          <p:nvPr/>
        </p:nvSpPr>
        <p:spPr>
          <a:xfrm>
            <a:off x="4632959" y="5016246"/>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Small  9pt</a:t>
            </a:r>
          </a:p>
        </p:txBody>
      </p:sp>
      <p:sp>
        <p:nvSpPr>
          <p:cNvPr id="28" name="TextBox 27"/>
          <p:cNvSpPr txBox="1"/>
          <p:nvPr/>
        </p:nvSpPr>
        <p:spPr>
          <a:xfrm>
            <a:off x="4632959" y="5199126"/>
            <a:ext cx="2926079" cy="187452"/>
          </a:xfrm>
          <a:prstGeom prst="rect">
            <a:avLst/>
          </a:prstGeom>
          <a:noFill/>
        </p:spPr>
        <p:txBody>
          <a:bodyPr wrap="square" lIns="0" rIns="0" tIns="0" bIns="0" anchor="t">
            <a:spAutoFit/>
          </a:bodyPr>
          <a:lstStyle/>
          <a:p>
            <a:pPr algn="l">
              <a:lnSpc>
                <a:spcPct val="108000"/>
              </a:lnSpc>
              <a:spcAft>
                <a:spcPts val="0"/>
              </a:spcAft>
            </a:pPr>
            <a:r>
              <a:rPr sz="900" b="0">
                <a:solidFill>
                  <a:srgbClr val="102C49"/>
                </a:solidFill>
                <a:latin typeface="Hiragino Sans"/>
                <a:ea typeface="Hiragino Sans"/>
              </a:rPr>
              <a:t>注記・出典サンプル</a:t>
            </a:r>
          </a:p>
        </p:txBody>
      </p:sp>
      <p:sp>
        <p:nvSpPr>
          <p:cNvPr id="29" name="Rounded Rectangle 28"/>
          <p:cNvSpPr/>
          <p:nvPr/>
        </p:nvSpPr>
        <p:spPr>
          <a:xfrm>
            <a:off x="8180830" y="2121408"/>
            <a:ext cx="3401567" cy="4114800"/>
          </a:xfrm>
          <a:prstGeom prst="roundRect">
            <a:avLst>
              <a:gd name="adj" fmla="val 5227"/>
            </a:avLst>
          </a:prstGeom>
          <a:solidFill>
            <a:srgbClr val="E7EBF0"/>
          </a:solidFill>
          <a:ln>
            <a:noFill/>
          </a:ln>
        </p:spPr>
        <p:txBody>
          <a:bodyPr rtlCol="0" anchor="ctr"/>
          <a:lstStyle/>
          <a:p>
            <a:pPr algn="ctr"/>
          </a:p>
        </p:txBody>
      </p:sp>
      <p:sp>
        <p:nvSpPr>
          <p:cNvPr id="30" name="TextBox 29"/>
          <p:cNvSpPr txBox="1"/>
          <p:nvPr/>
        </p:nvSpPr>
        <p:spPr>
          <a:xfrm>
            <a:off x="8418574" y="2322576"/>
            <a:ext cx="2926079" cy="274320"/>
          </a:xfrm>
          <a:prstGeom prst="rect">
            <a:avLst/>
          </a:prstGeom>
          <a:noFill/>
        </p:spPr>
        <p:txBody>
          <a:bodyPr wrap="square" lIns="0" rIns="0" tIns="0" bIns="0" anchor="t">
            <a:spAutoFit/>
          </a:bodyPr>
          <a:lstStyle/>
          <a:p>
            <a:pPr algn="l">
              <a:lnSpc>
                <a:spcPct val="108000"/>
              </a:lnSpc>
              <a:spcAft>
                <a:spcPts val="0"/>
              </a:spcAft>
            </a:pPr>
            <a:r>
              <a:rPr sz="1400" b="1">
                <a:solidFill>
                  <a:srgbClr val="102C49"/>
                </a:solidFill>
                <a:latin typeface="Hiragino Sans"/>
                <a:ea typeface="Hiragino Sans"/>
              </a:rPr>
              <a:t>large-room</a:t>
            </a:r>
          </a:p>
        </p:txBody>
      </p:sp>
      <p:sp>
        <p:nvSpPr>
          <p:cNvPr id="31" name="TextBox 30"/>
          <p:cNvSpPr txBox="1"/>
          <p:nvPr/>
        </p:nvSpPr>
        <p:spPr>
          <a:xfrm>
            <a:off x="8418574" y="2651760"/>
            <a:ext cx="2926079" cy="548640"/>
          </a:xfrm>
          <a:prstGeom prst="rect">
            <a:avLst/>
          </a:prstGeom>
          <a:noFill/>
        </p:spPr>
        <p:txBody>
          <a:bodyPr wrap="square" lIns="0" rIns="0" tIns="0" bIns="0" anchor="t">
            <a:spAutoFit/>
          </a:bodyPr>
          <a:lstStyle/>
          <a:p>
            <a:pPr algn="l">
              <a:lnSpc>
                <a:spcPct val="120000"/>
              </a:lnSpc>
              <a:spcBef>
                <a:spcPts val="0"/>
              </a:spcBef>
              <a:spcAft>
                <a:spcPts val="0"/>
              </a:spcAft>
            </a:pPr>
            <a:r>
              <a:rPr sz="950" b="0">
                <a:solidFill>
                  <a:srgbClr val="53657A"/>
                </a:solidFill>
                <a:latin typeface="Hiragino Sans"/>
                <a:ea typeface="Hiragino Sans"/>
              </a:rPr>
              <a:t>大会議室・講演など遠距離投影が明示された場合だけ使う。</a:t>
            </a:r>
          </a:p>
        </p:txBody>
      </p:sp>
      <p:sp>
        <p:nvSpPr>
          <p:cNvPr id="32" name="TextBox 31"/>
          <p:cNvSpPr txBox="1"/>
          <p:nvPr/>
        </p:nvSpPr>
        <p:spPr>
          <a:xfrm>
            <a:off x="8418574" y="3218688"/>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Title  32pt</a:t>
            </a:r>
          </a:p>
        </p:txBody>
      </p:sp>
      <p:sp>
        <p:nvSpPr>
          <p:cNvPr id="33" name="TextBox 32"/>
          <p:cNvSpPr txBox="1"/>
          <p:nvPr/>
        </p:nvSpPr>
        <p:spPr>
          <a:xfrm>
            <a:off x="8418574" y="3401568"/>
            <a:ext cx="2926079" cy="479551"/>
          </a:xfrm>
          <a:prstGeom prst="rect">
            <a:avLst/>
          </a:prstGeom>
          <a:noFill/>
        </p:spPr>
        <p:txBody>
          <a:bodyPr wrap="square" lIns="0" rIns="0" tIns="0" bIns="0" anchor="t">
            <a:spAutoFit/>
          </a:bodyPr>
          <a:lstStyle/>
          <a:p>
            <a:pPr algn="l">
              <a:lnSpc>
                <a:spcPct val="108000"/>
              </a:lnSpc>
              <a:spcAft>
                <a:spcPts val="0"/>
              </a:spcAft>
            </a:pPr>
            <a:r>
              <a:rPr sz="3200" b="1">
                <a:solidFill>
                  <a:srgbClr val="102C49"/>
                </a:solidFill>
                <a:latin typeface="Hiragino Sans"/>
                <a:ea typeface="Hiragino Sans"/>
              </a:rPr>
              <a:t>サンプル見出し</a:t>
            </a:r>
          </a:p>
        </p:txBody>
      </p:sp>
      <p:sp>
        <p:nvSpPr>
          <p:cNvPr id="34" name="TextBox 33"/>
          <p:cNvSpPr txBox="1"/>
          <p:nvPr/>
        </p:nvSpPr>
        <p:spPr>
          <a:xfrm>
            <a:off x="8418574" y="4027423"/>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Section  20pt</a:t>
            </a:r>
          </a:p>
        </p:txBody>
      </p:sp>
      <p:sp>
        <p:nvSpPr>
          <p:cNvPr id="35" name="TextBox 34"/>
          <p:cNvSpPr txBox="1"/>
          <p:nvPr/>
        </p:nvSpPr>
        <p:spPr>
          <a:xfrm>
            <a:off x="8418574" y="4210303"/>
            <a:ext cx="2926079" cy="327152"/>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セクション見出し</a:t>
            </a:r>
          </a:p>
        </p:txBody>
      </p:sp>
      <p:sp>
        <p:nvSpPr>
          <p:cNvPr id="36" name="TextBox 35"/>
          <p:cNvSpPr txBox="1"/>
          <p:nvPr/>
        </p:nvSpPr>
        <p:spPr>
          <a:xfrm>
            <a:off x="8418574" y="4683759"/>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Body  17pt</a:t>
            </a:r>
          </a:p>
        </p:txBody>
      </p:sp>
      <p:sp>
        <p:nvSpPr>
          <p:cNvPr id="37" name="TextBox 36"/>
          <p:cNvSpPr txBox="1"/>
          <p:nvPr/>
        </p:nvSpPr>
        <p:spPr>
          <a:xfrm>
            <a:off x="8418574" y="4866639"/>
            <a:ext cx="2926079" cy="289052"/>
          </a:xfrm>
          <a:prstGeom prst="rect">
            <a:avLst/>
          </a:prstGeom>
          <a:noFill/>
        </p:spPr>
        <p:txBody>
          <a:bodyPr wrap="square" lIns="0" rIns="0" tIns="0" bIns="0" anchor="t">
            <a:spAutoFit/>
          </a:bodyPr>
          <a:lstStyle/>
          <a:p>
            <a:pPr algn="l">
              <a:lnSpc>
                <a:spcPct val="108000"/>
              </a:lnSpc>
              <a:spcAft>
                <a:spcPts val="0"/>
              </a:spcAft>
            </a:pPr>
            <a:r>
              <a:rPr sz="1700" b="0">
                <a:solidFill>
                  <a:srgbClr val="102C49"/>
                </a:solidFill>
                <a:latin typeface="Hiragino Sans"/>
                <a:ea typeface="Hiragino Sans"/>
              </a:rPr>
              <a:t>本文サンプル Sample 123</a:t>
            </a:r>
          </a:p>
        </p:txBody>
      </p:sp>
      <p:sp>
        <p:nvSpPr>
          <p:cNvPr id="38" name="TextBox 37"/>
          <p:cNvSpPr txBox="1"/>
          <p:nvPr/>
        </p:nvSpPr>
        <p:spPr>
          <a:xfrm>
            <a:off x="8418574" y="5301995"/>
            <a:ext cx="2926079" cy="146304"/>
          </a:xfrm>
          <a:prstGeom prst="rect">
            <a:avLst/>
          </a:prstGeom>
          <a:noFill/>
        </p:spPr>
        <p:txBody>
          <a:bodyPr wrap="square" lIns="0" rIns="0" tIns="0" bIns="0" anchor="t">
            <a:spAutoFit/>
          </a:bodyPr>
          <a:lstStyle/>
          <a:p>
            <a:pPr algn="l">
              <a:lnSpc>
                <a:spcPct val="108000"/>
              </a:lnSpc>
              <a:spcAft>
                <a:spcPts val="0"/>
              </a:spcAft>
            </a:pPr>
            <a:r>
              <a:rPr sz="850" b="1">
                <a:solidFill>
                  <a:srgbClr val="2574D9"/>
                </a:solidFill>
                <a:latin typeface="Hiragino Sans"/>
                <a:ea typeface="Hiragino Sans"/>
              </a:rPr>
              <a:t>Small  12pt</a:t>
            </a:r>
          </a:p>
        </p:txBody>
      </p:sp>
      <p:sp>
        <p:nvSpPr>
          <p:cNvPr id="39" name="TextBox 38"/>
          <p:cNvSpPr txBox="1"/>
          <p:nvPr/>
        </p:nvSpPr>
        <p:spPr>
          <a:xfrm>
            <a:off x="8418574" y="5484875"/>
            <a:ext cx="2926079" cy="225551"/>
          </a:xfrm>
          <a:prstGeom prst="rect">
            <a:avLst/>
          </a:prstGeom>
          <a:noFill/>
        </p:spPr>
        <p:txBody>
          <a:bodyPr wrap="square" lIns="0" rIns="0" tIns="0" bIns="0" anchor="t">
            <a:spAutoFit/>
          </a:bodyPr>
          <a:lstStyle/>
          <a:p>
            <a:pPr algn="l">
              <a:lnSpc>
                <a:spcPct val="108000"/>
              </a:lnSpc>
              <a:spcAft>
                <a:spcPts val="0"/>
              </a:spcAft>
            </a:pPr>
            <a:r>
              <a:rPr sz="1200" b="0">
                <a:solidFill>
                  <a:srgbClr val="102C49"/>
                </a:solidFill>
                <a:latin typeface="Hiragino Sans"/>
                <a:ea typeface="Hiragino Sans"/>
              </a:rPr>
              <a:t>注記・出典サンプル</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COMPONENTS.PY</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コンポーネント（面・パネル）</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04</a:t>
            </a:r>
          </a:p>
        </p:txBody>
      </p:sp>
      <p:grpSp>
        <p:nvGrpSpPr>
          <p:cNvPr id="8" name="Group 7"/>
          <p:cNvGrpSpPr/>
          <p:nvPr/>
        </p:nvGrpSpPr>
        <p:grpSpPr>
          <a:xfrm>
            <a:off x="609600" y="2116836"/>
            <a:ext cx="3507316" cy="1397000"/>
            <a:chOff x="609600" y="2116836"/>
            <a:chExt cx="3507316" cy="1397000"/>
          </a:xfrm>
        </p:grpSpPr>
        <p:sp>
          <p:nvSpPr>
            <p:cNvPr id="6" name="Rounded Rectangle 5"/>
            <p:cNvSpPr/>
            <p:nvPr/>
          </p:nvSpPr>
          <p:spPr>
            <a:xfrm>
              <a:off x="628650" y="2142236"/>
              <a:ext cx="3488266" cy="1371600"/>
            </a:xfrm>
            <a:prstGeom prst="roundRect">
              <a:avLst>
                <a:gd name="adj" fmla="val 7407"/>
              </a:avLst>
            </a:prstGeom>
            <a:solidFill>
              <a:srgbClr val="E7EBF0"/>
            </a:solidFill>
            <a:ln>
              <a:noFill/>
            </a:ln>
          </p:spPr>
          <p:txBody>
            <a:bodyPr rtlCol="0" anchor="ctr"/>
            <a:lstStyle/>
            <a:p>
              <a:pPr algn="ctr"/>
            </a:p>
          </p:txBody>
        </p:sp>
        <p:sp>
          <p:nvSpPr>
            <p:cNvPr id="7" name="Rounded Rectangle 6"/>
            <p:cNvSpPr/>
            <p:nvPr/>
          </p:nvSpPr>
          <p:spPr>
            <a:xfrm>
              <a:off x="609600" y="2116836"/>
              <a:ext cx="3488266" cy="1371600"/>
            </a:xfrm>
            <a:prstGeom prst="roundRect">
              <a:avLst>
                <a:gd name="adj" fmla="val 7407"/>
              </a:avLst>
            </a:prstGeom>
            <a:solidFill>
              <a:srgbClr val="FFFFFF"/>
            </a:solidFill>
            <a:ln w="8890">
              <a:solidFill>
                <a:srgbClr val="D7DEE6"/>
              </a:solidFill>
            </a:ln>
          </p:spPr>
          <p:txBody>
            <a:bodyPr rtlCol="0" anchor="ctr"/>
            <a:lstStyle/>
            <a:p>
              <a:pPr algn="ctr"/>
            </a:p>
          </p:txBody>
        </p:sp>
      </p:grpSp>
      <p:sp>
        <p:nvSpPr>
          <p:cNvPr id="9" name="TextBox 8"/>
          <p:cNvSpPr txBox="1"/>
          <p:nvPr/>
        </p:nvSpPr>
        <p:spPr>
          <a:xfrm>
            <a:off x="609600" y="3561588"/>
            <a:ext cx="3488266" cy="365760"/>
          </a:xfrm>
          <a:prstGeom prst="rect">
            <a:avLst/>
          </a:prstGeom>
          <a:noFill/>
        </p:spPr>
        <p:txBody>
          <a:bodyPr wrap="square" lIns="0" rIns="0" tIns="0" bIns="0">
            <a:spAutoFit/>
          </a:bodyPr>
          <a:lstStyle/>
          <a:p>
            <a:pPr algn="l"/>
            <a:r>
              <a:rPr sz="1100" b="1" i="0">
                <a:solidFill>
                  <a:srgbClr val="102C49"/>
                </a:solidFill>
                <a:latin typeface="Hiragino Sans"/>
              </a:rPr>
              <a:t>add_card()</a:t>
            </a:r>
          </a:p>
        </p:txBody>
      </p:sp>
      <p:sp>
        <p:nvSpPr>
          <p:cNvPr id="10" name="TextBox 9"/>
          <p:cNvSpPr txBox="1"/>
          <p:nvPr/>
        </p:nvSpPr>
        <p:spPr>
          <a:xfrm>
            <a:off x="609600" y="3762756"/>
            <a:ext cx="3488266" cy="365760"/>
          </a:xfrm>
          <a:prstGeom prst="rect">
            <a:avLst/>
          </a:prstGeom>
          <a:noFill/>
        </p:spPr>
        <p:txBody>
          <a:bodyPr wrap="square" lIns="0" rIns="0" tIns="0" bIns="0">
            <a:spAutoFit/>
          </a:bodyPr>
          <a:lstStyle/>
          <a:p>
            <a:pPr algn="l"/>
            <a:r>
              <a:rPr sz="950" b="0" i="0">
                <a:solidFill>
                  <a:srgbClr val="53657A"/>
                </a:solidFill>
                <a:latin typeface="Hiragino Sans"/>
              </a:rPr>
              <a:t>独立して比較・操作する単位。細線または軽い影。</a:t>
            </a:r>
          </a:p>
        </p:txBody>
      </p:sp>
      <p:sp>
        <p:nvSpPr>
          <p:cNvPr id="11" name="Rounded Rectangle 10"/>
          <p:cNvSpPr/>
          <p:nvPr/>
        </p:nvSpPr>
        <p:spPr>
          <a:xfrm>
            <a:off x="4351866" y="2116836"/>
            <a:ext cx="3488266" cy="1371600"/>
          </a:xfrm>
          <a:prstGeom prst="roundRect">
            <a:avLst>
              <a:gd name="adj" fmla="val 12962"/>
            </a:avLst>
          </a:prstGeom>
          <a:solidFill>
            <a:srgbClr val="E1EDFC"/>
          </a:solidFill>
          <a:ln>
            <a:noFill/>
          </a:ln>
        </p:spPr>
        <p:txBody>
          <a:bodyPr rtlCol="0" anchor="ctr"/>
          <a:lstStyle/>
          <a:p>
            <a:pPr algn="ctr"/>
          </a:p>
        </p:txBody>
      </p:sp>
      <p:sp>
        <p:nvSpPr>
          <p:cNvPr id="12" name="TextBox 11"/>
          <p:cNvSpPr txBox="1"/>
          <p:nvPr/>
        </p:nvSpPr>
        <p:spPr>
          <a:xfrm>
            <a:off x="4351866" y="3561588"/>
            <a:ext cx="3488266" cy="365760"/>
          </a:xfrm>
          <a:prstGeom prst="rect">
            <a:avLst/>
          </a:prstGeom>
          <a:noFill/>
        </p:spPr>
        <p:txBody>
          <a:bodyPr wrap="square" lIns="0" rIns="0" tIns="0" bIns="0">
            <a:spAutoFit/>
          </a:bodyPr>
          <a:lstStyle/>
          <a:p>
            <a:pPr algn="l"/>
            <a:r>
              <a:rPr sz="1100" b="1" i="0">
                <a:solidFill>
                  <a:srgbClr val="102C49"/>
                </a:solidFill>
                <a:latin typeface="Hiragino Sans"/>
              </a:rPr>
              <a:t>add_background_zone(tone="brand-soft")</a:t>
            </a:r>
          </a:p>
        </p:txBody>
      </p:sp>
      <p:sp>
        <p:nvSpPr>
          <p:cNvPr id="13" name="TextBox 12"/>
          <p:cNvSpPr txBox="1"/>
          <p:nvPr/>
        </p:nvSpPr>
        <p:spPr>
          <a:xfrm>
            <a:off x="4351866" y="3762756"/>
            <a:ext cx="3488266" cy="365760"/>
          </a:xfrm>
          <a:prstGeom prst="rect">
            <a:avLst/>
          </a:prstGeom>
          <a:noFill/>
        </p:spPr>
        <p:txBody>
          <a:bodyPr wrap="square" lIns="0" rIns="0" tIns="0" bIns="0">
            <a:spAutoFit/>
          </a:bodyPr>
          <a:lstStyle/>
          <a:p>
            <a:pPr algn="l"/>
            <a:r>
              <a:rPr sz="950" b="0" i="0">
                <a:solidFill>
                  <a:srgbClr val="53657A"/>
                </a:solidFill>
                <a:latin typeface="Hiragino Sans"/>
              </a:rPr>
              <a:t>緩やかなまとまり・範囲・フェーズ。境界・影なし。</a:t>
            </a:r>
          </a:p>
        </p:txBody>
      </p:sp>
      <p:sp>
        <p:nvSpPr>
          <p:cNvPr id="14" name="Rounded Rectangle 13"/>
          <p:cNvSpPr/>
          <p:nvPr/>
        </p:nvSpPr>
        <p:spPr>
          <a:xfrm>
            <a:off x="8094132" y="2116836"/>
            <a:ext cx="3488266" cy="1371600"/>
          </a:xfrm>
          <a:prstGeom prst="roundRect">
            <a:avLst>
              <a:gd name="adj" fmla="val 7407"/>
            </a:avLst>
          </a:prstGeom>
          <a:solidFill>
            <a:srgbClr val="102C49"/>
          </a:solidFill>
          <a:ln w="12700">
            <a:solidFill>
              <a:srgbClr val="102C49"/>
            </a:solidFill>
          </a:ln>
        </p:spPr>
        <p:txBody>
          <a:bodyPr rtlCol="0" anchor="ctr"/>
          <a:lstStyle/>
          <a:p>
            <a:pPr algn="ctr"/>
          </a:p>
        </p:txBody>
      </p:sp>
      <p:sp>
        <p:nvSpPr>
          <p:cNvPr id="15" name="TextBox 14"/>
          <p:cNvSpPr txBox="1"/>
          <p:nvPr/>
        </p:nvSpPr>
        <p:spPr>
          <a:xfrm>
            <a:off x="8094132" y="3561588"/>
            <a:ext cx="3488266" cy="365760"/>
          </a:xfrm>
          <a:prstGeom prst="rect">
            <a:avLst/>
          </a:prstGeom>
          <a:noFill/>
        </p:spPr>
        <p:txBody>
          <a:bodyPr wrap="square" lIns="0" rIns="0" tIns="0" bIns="0">
            <a:spAutoFit/>
          </a:bodyPr>
          <a:lstStyle/>
          <a:p>
            <a:pPr algn="l"/>
            <a:r>
              <a:rPr sz="1100" b="1" i="0">
                <a:solidFill>
                  <a:srgbClr val="102C49"/>
                </a:solidFill>
                <a:latin typeface="Hiragino Sans"/>
              </a:rPr>
              <a:t>add_focus_panel(tone="solid")</a:t>
            </a:r>
          </a:p>
        </p:txBody>
      </p:sp>
      <p:sp>
        <p:nvSpPr>
          <p:cNvPr id="16" name="TextBox 15"/>
          <p:cNvSpPr txBox="1"/>
          <p:nvPr/>
        </p:nvSpPr>
        <p:spPr>
          <a:xfrm>
            <a:off x="8094132" y="3762756"/>
            <a:ext cx="3488266" cy="365760"/>
          </a:xfrm>
          <a:prstGeom prst="rect">
            <a:avLst/>
          </a:prstGeom>
          <a:noFill/>
        </p:spPr>
        <p:txBody>
          <a:bodyPr wrap="square" lIns="0" rIns="0" tIns="0" bIns="0">
            <a:spAutoFit/>
          </a:bodyPr>
          <a:lstStyle/>
          <a:p>
            <a:pPr algn="l"/>
            <a:r>
              <a:rPr sz="950" b="0" i="0">
                <a:solidFill>
                  <a:srgbClr val="53657A"/>
                </a:solidFill>
                <a:latin typeface="Hiragino Sans"/>
              </a:rPr>
              <a:t>ページ内の重点対象。色・線・サイズで明確化。</a:t>
            </a:r>
          </a:p>
        </p:txBody>
      </p:sp>
      <p:sp>
        <p:nvSpPr>
          <p:cNvPr id="17" name="TextBox 16"/>
          <p:cNvSpPr txBox="1"/>
          <p:nvPr/>
        </p:nvSpPr>
        <p:spPr>
          <a:xfrm>
            <a:off x="609600" y="4402836"/>
            <a:ext cx="10972799" cy="365760"/>
          </a:xfrm>
          <a:prstGeom prst="rect">
            <a:avLst/>
          </a:prstGeom>
          <a:noFill/>
        </p:spPr>
        <p:txBody>
          <a:bodyPr wrap="square" lIns="0" rIns="0" tIns="0" bIns="0">
            <a:spAutoFit/>
          </a:bodyPr>
          <a:lstStyle/>
          <a:p>
            <a:pPr algn="l"/>
            <a:r>
              <a:rPr sz="1000" b="1" i="0">
                <a:solidFill>
                  <a:srgbClr val="53657A"/>
                </a:solidFill>
                <a:latin typeface="Hiragino Sans"/>
              </a:rPr>
              <a:t>add_background_zone()のtone一覧（符号・重大度の淡色も汎用のComponent部品として使える）</a:t>
            </a:r>
          </a:p>
        </p:txBody>
      </p:sp>
      <p:sp>
        <p:nvSpPr>
          <p:cNvPr id="18" name="Rounded Rectangle 17"/>
          <p:cNvSpPr/>
          <p:nvPr/>
        </p:nvSpPr>
        <p:spPr>
          <a:xfrm>
            <a:off x="609600" y="4677156"/>
            <a:ext cx="2092147" cy="914400"/>
          </a:xfrm>
          <a:prstGeom prst="roundRect">
            <a:avLst>
              <a:gd name="adj" fmla="val 19444"/>
            </a:avLst>
          </a:prstGeom>
          <a:solidFill>
            <a:srgbClr val="E7EBF0"/>
          </a:solidFill>
          <a:ln>
            <a:noFill/>
          </a:ln>
        </p:spPr>
        <p:txBody>
          <a:bodyPr rtlCol="0" anchor="ctr"/>
          <a:lstStyle/>
          <a:p>
            <a:pPr algn="ctr"/>
          </a:p>
        </p:txBody>
      </p:sp>
      <p:sp>
        <p:nvSpPr>
          <p:cNvPr id="19" name="TextBox 18"/>
          <p:cNvSpPr txBox="1"/>
          <p:nvPr/>
        </p:nvSpPr>
        <p:spPr>
          <a:xfrm>
            <a:off x="609600" y="5664708"/>
            <a:ext cx="2092147" cy="365760"/>
          </a:xfrm>
          <a:prstGeom prst="rect">
            <a:avLst/>
          </a:prstGeom>
          <a:noFill/>
        </p:spPr>
        <p:txBody>
          <a:bodyPr wrap="square" lIns="0" rIns="0" tIns="0" bIns="0">
            <a:spAutoFit/>
          </a:bodyPr>
          <a:lstStyle/>
          <a:p>
            <a:pPr algn="l"/>
            <a:r>
              <a:rPr sz="1000" b="1" i="0">
                <a:solidFill>
                  <a:srgbClr val="102C49"/>
                </a:solidFill>
                <a:latin typeface="Hiragino Sans"/>
              </a:rPr>
              <a:t>tone="neutral"</a:t>
            </a:r>
          </a:p>
        </p:txBody>
      </p:sp>
      <p:sp>
        <p:nvSpPr>
          <p:cNvPr id="20" name="Rounded Rectangle 19"/>
          <p:cNvSpPr/>
          <p:nvPr/>
        </p:nvSpPr>
        <p:spPr>
          <a:xfrm>
            <a:off x="2829763" y="4677156"/>
            <a:ext cx="2092147" cy="914400"/>
          </a:xfrm>
          <a:prstGeom prst="roundRect">
            <a:avLst>
              <a:gd name="adj" fmla="val 19444"/>
            </a:avLst>
          </a:prstGeom>
          <a:solidFill>
            <a:srgbClr val="E2F2F0"/>
          </a:solidFill>
          <a:ln>
            <a:noFill/>
          </a:ln>
        </p:spPr>
        <p:txBody>
          <a:bodyPr rtlCol="0" anchor="ctr"/>
          <a:lstStyle/>
          <a:p>
            <a:pPr algn="ctr"/>
          </a:p>
        </p:txBody>
      </p:sp>
      <p:sp>
        <p:nvSpPr>
          <p:cNvPr id="21" name="TextBox 20"/>
          <p:cNvSpPr txBox="1"/>
          <p:nvPr/>
        </p:nvSpPr>
        <p:spPr>
          <a:xfrm>
            <a:off x="2829763" y="5664708"/>
            <a:ext cx="2092147" cy="365760"/>
          </a:xfrm>
          <a:prstGeom prst="rect">
            <a:avLst/>
          </a:prstGeom>
          <a:noFill/>
        </p:spPr>
        <p:txBody>
          <a:bodyPr wrap="square" lIns="0" rIns="0" tIns="0" bIns="0">
            <a:spAutoFit/>
          </a:bodyPr>
          <a:lstStyle/>
          <a:p>
            <a:pPr algn="l"/>
            <a:r>
              <a:rPr sz="1000" b="1" i="0">
                <a:solidFill>
                  <a:srgbClr val="102C49"/>
                </a:solidFill>
                <a:latin typeface="Hiragino Sans"/>
              </a:rPr>
              <a:t>tone="teal-soft"</a:t>
            </a:r>
          </a:p>
        </p:txBody>
      </p:sp>
      <p:sp>
        <p:nvSpPr>
          <p:cNvPr id="22" name="Rounded Rectangle 21"/>
          <p:cNvSpPr/>
          <p:nvPr/>
        </p:nvSpPr>
        <p:spPr>
          <a:xfrm>
            <a:off x="5049926" y="4677156"/>
            <a:ext cx="2092147" cy="914400"/>
          </a:xfrm>
          <a:prstGeom prst="roundRect">
            <a:avLst>
              <a:gd name="adj" fmla="val 19444"/>
            </a:avLst>
          </a:prstGeom>
          <a:solidFill>
            <a:srgbClr val="E1F4EA"/>
          </a:solidFill>
          <a:ln>
            <a:noFill/>
          </a:ln>
        </p:spPr>
        <p:txBody>
          <a:bodyPr rtlCol="0" anchor="ctr"/>
          <a:lstStyle/>
          <a:p>
            <a:pPr algn="ctr"/>
          </a:p>
        </p:txBody>
      </p:sp>
      <p:sp>
        <p:nvSpPr>
          <p:cNvPr id="23" name="TextBox 22"/>
          <p:cNvSpPr txBox="1"/>
          <p:nvPr/>
        </p:nvSpPr>
        <p:spPr>
          <a:xfrm>
            <a:off x="5049926" y="5664708"/>
            <a:ext cx="2092147" cy="365760"/>
          </a:xfrm>
          <a:prstGeom prst="rect">
            <a:avLst/>
          </a:prstGeom>
          <a:noFill/>
        </p:spPr>
        <p:txBody>
          <a:bodyPr wrap="square" lIns="0" rIns="0" tIns="0" bIns="0">
            <a:spAutoFit/>
          </a:bodyPr>
          <a:lstStyle/>
          <a:p>
            <a:pPr algn="l"/>
            <a:r>
              <a:rPr sz="1000" b="1" i="0">
                <a:solidFill>
                  <a:srgbClr val="102C49"/>
                </a:solidFill>
                <a:latin typeface="Hiragino Sans"/>
              </a:rPr>
              <a:t>tone="positive-soft"</a:t>
            </a:r>
          </a:p>
        </p:txBody>
      </p:sp>
      <p:sp>
        <p:nvSpPr>
          <p:cNvPr id="24" name="Rounded Rectangle 23"/>
          <p:cNvSpPr/>
          <p:nvPr/>
        </p:nvSpPr>
        <p:spPr>
          <a:xfrm>
            <a:off x="7270089" y="4677156"/>
            <a:ext cx="2092147" cy="914400"/>
          </a:xfrm>
          <a:prstGeom prst="roundRect">
            <a:avLst>
              <a:gd name="adj" fmla="val 19444"/>
            </a:avLst>
          </a:prstGeom>
          <a:solidFill>
            <a:srgbClr val="FBE4E1"/>
          </a:solidFill>
          <a:ln>
            <a:noFill/>
          </a:ln>
        </p:spPr>
        <p:txBody>
          <a:bodyPr rtlCol="0" anchor="ctr"/>
          <a:lstStyle/>
          <a:p>
            <a:pPr algn="ctr"/>
          </a:p>
        </p:txBody>
      </p:sp>
      <p:sp>
        <p:nvSpPr>
          <p:cNvPr id="25" name="TextBox 24"/>
          <p:cNvSpPr txBox="1"/>
          <p:nvPr/>
        </p:nvSpPr>
        <p:spPr>
          <a:xfrm>
            <a:off x="7270089" y="5664708"/>
            <a:ext cx="2092147" cy="365760"/>
          </a:xfrm>
          <a:prstGeom prst="rect">
            <a:avLst/>
          </a:prstGeom>
          <a:noFill/>
        </p:spPr>
        <p:txBody>
          <a:bodyPr wrap="square" lIns="0" rIns="0" tIns="0" bIns="0">
            <a:spAutoFit/>
          </a:bodyPr>
          <a:lstStyle/>
          <a:p>
            <a:pPr algn="l"/>
            <a:r>
              <a:rPr sz="1000" b="1" i="0">
                <a:solidFill>
                  <a:srgbClr val="102C49"/>
                </a:solidFill>
                <a:latin typeface="Hiragino Sans"/>
              </a:rPr>
              <a:t>tone="negative-soft"</a:t>
            </a:r>
          </a:p>
        </p:txBody>
      </p:sp>
      <p:sp>
        <p:nvSpPr>
          <p:cNvPr id="26" name="Rounded Rectangle 25"/>
          <p:cNvSpPr/>
          <p:nvPr/>
        </p:nvSpPr>
        <p:spPr>
          <a:xfrm>
            <a:off x="9490252" y="4677156"/>
            <a:ext cx="2092147" cy="914400"/>
          </a:xfrm>
          <a:prstGeom prst="roundRect">
            <a:avLst>
              <a:gd name="adj" fmla="val 19444"/>
            </a:avLst>
          </a:prstGeom>
          <a:solidFill>
            <a:srgbClr val="FCEADA"/>
          </a:solidFill>
          <a:ln>
            <a:noFill/>
          </a:ln>
        </p:spPr>
        <p:txBody>
          <a:bodyPr rtlCol="0" anchor="ctr"/>
          <a:lstStyle/>
          <a:p>
            <a:pPr algn="ctr"/>
          </a:p>
        </p:txBody>
      </p:sp>
      <p:sp>
        <p:nvSpPr>
          <p:cNvPr id="27" name="TextBox 26"/>
          <p:cNvSpPr txBox="1"/>
          <p:nvPr/>
        </p:nvSpPr>
        <p:spPr>
          <a:xfrm>
            <a:off x="9490252" y="5664708"/>
            <a:ext cx="2092147" cy="365760"/>
          </a:xfrm>
          <a:prstGeom prst="rect">
            <a:avLst/>
          </a:prstGeom>
          <a:noFill/>
        </p:spPr>
        <p:txBody>
          <a:bodyPr wrap="square" lIns="0" rIns="0" tIns="0" bIns="0">
            <a:spAutoFit/>
          </a:bodyPr>
          <a:lstStyle/>
          <a:p>
            <a:pPr algn="l"/>
            <a:r>
              <a:rPr sz="1000" b="1" i="0">
                <a:solidFill>
                  <a:srgbClr val="102C49"/>
                </a:solidFill>
                <a:latin typeface="Hiragino Sans"/>
              </a:rPr>
              <a:t>tone="warning-soft"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COMPONENTS.PY</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コンポーネント（テキスト・リスト）</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05</a:t>
            </a:r>
          </a:p>
        </p:txBody>
      </p:sp>
      <p:sp>
        <p:nvSpPr>
          <p:cNvPr id="6" name="TextBox 5"/>
          <p:cNvSpPr txBox="1"/>
          <p:nvPr/>
        </p:nvSpPr>
        <p:spPr>
          <a:xfrm>
            <a:off x="609600" y="1335024"/>
            <a:ext cx="10972799" cy="365760"/>
          </a:xfrm>
          <a:prstGeom prst="rect">
            <a:avLst/>
          </a:prstGeom>
          <a:noFill/>
        </p:spPr>
        <p:txBody>
          <a:bodyPr wrap="square" lIns="0" rIns="0" tIns="0" bIns="0">
            <a:spAutoFit/>
          </a:bodyPr>
          <a:lstStyle/>
          <a:p>
            <a:pPr algn="l"/>
            <a:r>
              <a:rPr sz="1200" b="0" i="0">
                <a:solidFill>
                  <a:srgbClr val="53657A"/>
                </a:solidFill>
                <a:latin typeface="Hiragino Sans"/>
              </a:rPr>
              <a:t>同じ意味のまとまりは、行ごとに別shapeへ分割せず一つの複数段落textboxにまとめる。選択・移動・順序の入れ替えを一つの操作で行えるようにするための編集性への配慮。</a:t>
            </a:r>
          </a:p>
        </p:txBody>
      </p:sp>
      <p:sp>
        <p:nvSpPr>
          <p:cNvPr id="7" name="Rounded Rectangle 6"/>
          <p:cNvSpPr/>
          <p:nvPr/>
        </p:nvSpPr>
        <p:spPr>
          <a:xfrm>
            <a:off x="609600" y="2414016"/>
            <a:ext cx="54864" cy="347472"/>
          </a:xfrm>
          <a:prstGeom prst="roundRect">
            <a:avLst>
              <a:gd name="adj" fmla="val 16000"/>
            </a:avLst>
          </a:prstGeom>
          <a:solidFill>
            <a:srgbClr val="2574D9"/>
          </a:solidFill>
          <a:ln>
            <a:noFill/>
          </a:ln>
        </p:spPr>
        <p:txBody>
          <a:bodyPr rtlCol="0" anchor="ctr"/>
          <a:lstStyle/>
          <a:p>
            <a:pPr algn="ctr"/>
          </a:p>
        </p:txBody>
      </p:sp>
      <p:sp>
        <p:nvSpPr>
          <p:cNvPr id="8" name="TextBox 7"/>
          <p:cNvSpPr txBox="1"/>
          <p:nvPr/>
        </p:nvSpPr>
        <p:spPr>
          <a:xfrm>
            <a:off x="755904" y="2404872"/>
            <a:ext cx="2769325"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add_section_lead()</a:t>
            </a:r>
          </a:p>
        </p:txBody>
      </p:sp>
      <p:sp>
        <p:nvSpPr>
          <p:cNvPr id="9" name="TextBox 8"/>
          <p:cNvSpPr txBox="1"/>
          <p:nvPr/>
        </p:nvSpPr>
        <p:spPr>
          <a:xfrm>
            <a:off x="609600" y="2962656"/>
            <a:ext cx="2915629" cy="1463040"/>
          </a:xfrm>
          <a:prstGeom prst="rect">
            <a:avLst/>
          </a:prstGeom>
          <a:noFill/>
        </p:spPr>
        <p:txBody>
          <a:bodyPr wrap="square" lIns="0" rIns="0" tIns="0" bIns="0" anchor="t">
            <a:spAutoFit/>
          </a:bodyPr>
          <a:lstStyle/>
          <a:p>
            <a:pPr algn="l" marL="251460" indent="-251460">
              <a:lnSpc>
                <a:spcPct val="108000"/>
              </a:lnSpc>
              <a:spcBef>
                <a:spcPts val="0"/>
              </a:spcBef>
              <a:spcAft>
                <a:spcPts val="0"/>
              </a:spcAft>
            </a:pPr>
            <a:r>
              <a:rPr sz="1200" b="1">
                <a:solidFill>
                  <a:srgbClr val="102C49"/>
                </a:solidFill>
                <a:latin typeface="Hiragino Sans"/>
                <a:ea typeface="Hiragino Sans"/>
              </a:rPr>
              <a:t>•  見出し + 項目</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add_item_listは複数項目を一つのtextboxへまとめる</a:t>
            </a:r>
          </a:p>
        </p:txBody>
      </p:sp>
      <p:sp>
        <p:nvSpPr>
          <p:cNvPr id="10" name="TextBox 9"/>
          <p:cNvSpPr txBox="1"/>
          <p:nvPr/>
        </p:nvSpPr>
        <p:spPr>
          <a:xfrm>
            <a:off x="609600" y="4517136"/>
            <a:ext cx="2915629" cy="365760"/>
          </a:xfrm>
          <a:prstGeom prst="rect">
            <a:avLst/>
          </a:prstGeom>
          <a:noFill/>
        </p:spPr>
        <p:txBody>
          <a:bodyPr wrap="square" lIns="0" rIns="0" tIns="0" bIns="0">
            <a:spAutoFit/>
          </a:bodyPr>
          <a:lstStyle/>
          <a:p>
            <a:pPr algn="l"/>
            <a:r>
              <a:rPr sz="1000" b="1" i="0">
                <a:solidFill>
                  <a:srgbClr val="102C49"/>
                </a:solidFill>
                <a:latin typeface="Hiragino Sans"/>
              </a:rPr>
              <a:t>add_section_lead() + add_item_list()</a:t>
            </a:r>
          </a:p>
        </p:txBody>
      </p:sp>
      <p:sp>
        <p:nvSpPr>
          <p:cNvPr id="11" name="TextBox 10"/>
          <p:cNvSpPr txBox="1"/>
          <p:nvPr/>
        </p:nvSpPr>
        <p:spPr>
          <a:xfrm>
            <a:off x="3909277" y="2459736"/>
            <a:ext cx="3644536" cy="694944"/>
          </a:xfrm>
          <a:prstGeom prst="rect">
            <a:avLst/>
          </a:prstGeom>
          <a:noFill/>
        </p:spPr>
        <p:txBody>
          <a:bodyPr wrap="square" lIns="0" rIns="0" tIns="0" bIns="0" anchor="t">
            <a:spAutoFit/>
          </a:bodyPr>
          <a:lstStyle/>
          <a:p>
            <a:pPr algn="l" marL="349250" indent="-349250">
              <a:lnSpc>
                <a:spcPct val="108000"/>
              </a:lnSpc>
              <a:spcBef>
                <a:spcPts val="0"/>
              </a:spcBef>
              <a:spcAft>
                <a:spcPts val="0"/>
              </a:spcAft>
            </a:pPr>
            <a:r>
              <a:rPr sz="1000" b="1">
                <a:solidFill>
                  <a:srgbClr val="2574D9"/>
                </a:solidFill>
                <a:latin typeface="Hiragino Sans"/>
                <a:ea typeface="Hiragino Sans"/>
              </a:rPr>
              <a:t>01   </a:t>
            </a:r>
            <a:r>
              <a:rPr sz="1200" b="1">
                <a:solidFill>
                  <a:srgbClr val="102C49"/>
                </a:solidFill>
                <a:latin typeface="Hiragino Sans"/>
                <a:ea typeface="Hiragino Sans"/>
              </a:rPr>
              <a:t>marker="number"</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01, 02...を自動採番する</a:t>
            </a:r>
          </a:p>
        </p:txBody>
      </p:sp>
      <p:sp>
        <p:nvSpPr>
          <p:cNvPr id="12" name="Rectangle 11"/>
          <p:cNvSpPr/>
          <p:nvPr/>
        </p:nvSpPr>
        <p:spPr>
          <a:xfrm>
            <a:off x="3909277" y="2949854"/>
            <a:ext cx="3644536" cy="9525"/>
          </a:xfrm>
          <a:prstGeom prst="rect">
            <a:avLst/>
          </a:prstGeom>
          <a:solidFill>
            <a:srgbClr val="D7DEE6"/>
          </a:solidFill>
          <a:ln>
            <a:noFill/>
          </a:ln>
        </p:spPr>
        <p:txBody>
          <a:bodyPr rtlCol="0" anchor="ctr"/>
          <a:lstStyle/>
          <a:p>
            <a:pPr algn="ctr"/>
          </a:p>
        </p:txBody>
      </p:sp>
      <p:sp>
        <p:nvSpPr>
          <p:cNvPr id="13" name="TextBox 12"/>
          <p:cNvSpPr txBox="1"/>
          <p:nvPr/>
        </p:nvSpPr>
        <p:spPr>
          <a:xfrm>
            <a:off x="3909277" y="3282696"/>
            <a:ext cx="3644536" cy="694944"/>
          </a:xfrm>
          <a:prstGeom prst="rect">
            <a:avLst/>
          </a:prstGeom>
          <a:noFill/>
        </p:spPr>
        <p:txBody>
          <a:bodyPr wrap="square" lIns="0" rIns="0" tIns="0" bIns="0" anchor="t">
            <a:spAutoFit/>
          </a:bodyPr>
          <a:lstStyle/>
          <a:p>
            <a:pPr algn="l" marL="349250" indent="-349250">
              <a:lnSpc>
                <a:spcPct val="108000"/>
              </a:lnSpc>
              <a:spcBef>
                <a:spcPts val="0"/>
              </a:spcBef>
              <a:spcAft>
                <a:spcPts val="0"/>
              </a:spcAft>
            </a:pPr>
            <a:r>
              <a:rPr sz="1000" b="1">
                <a:solidFill>
                  <a:srgbClr val="2574D9"/>
                </a:solidFill>
                <a:latin typeface="Hiragino Sans"/>
                <a:ea typeface="Hiragino Sans"/>
              </a:rPr>
              <a:t>02   </a:t>
            </a:r>
            <a:r>
              <a:rPr sz="1200" b="1">
                <a:solidFill>
                  <a:srgbClr val="102C49"/>
                </a:solidFill>
                <a:latin typeface="Hiragino Sans"/>
                <a:ea typeface="Hiragino Sans"/>
              </a:rPr>
              <a:t>divider=True</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行ごとに安全な位置へ罫線を引く</a:t>
            </a:r>
          </a:p>
        </p:txBody>
      </p:sp>
      <p:sp>
        <p:nvSpPr>
          <p:cNvPr id="14" name="Rectangle 13"/>
          <p:cNvSpPr/>
          <p:nvPr/>
        </p:nvSpPr>
        <p:spPr>
          <a:xfrm>
            <a:off x="3909277" y="3772814"/>
            <a:ext cx="3644536" cy="9525"/>
          </a:xfrm>
          <a:prstGeom prst="rect">
            <a:avLst/>
          </a:prstGeom>
          <a:solidFill>
            <a:srgbClr val="D7DEE6"/>
          </a:solidFill>
          <a:ln>
            <a:noFill/>
          </a:ln>
        </p:spPr>
        <p:txBody>
          <a:bodyPr rtlCol="0" anchor="ctr"/>
          <a:lstStyle/>
          <a:p>
            <a:pPr algn="ctr"/>
          </a:p>
        </p:txBody>
      </p:sp>
      <p:sp>
        <p:nvSpPr>
          <p:cNvPr id="15" name="TextBox 14"/>
          <p:cNvSpPr txBox="1"/>
          <p:nvPr/>
        </p:nvSpPr>
        <p:spPr>
          <a:xfrm>
            <a:off x="3909277" y="4151376"/>
            <a:ext cx="3644536" cy="365760"/>
          </a:xfrm>
          <a:prstGeom prst="rect">
            <a:avLst/>
          </a:prstGeom>
          <a:noFill/>
        </p:spPr>
        <p:txBody>
          <a:bodyPr wrap="square" lIns="0" rIns="0" tIns="0" bIns="0">
            <a:spAutoFit/>
          </a:bodyPr>
          <a:lstStyle/>
          <a:p>
            <a:pPr algn="l"/>
            <a:r>
              <a:rPr sz="1000" b="1" i="0">
                <a:solidFill>
                  <a:srgbClr val="102C49"/>
                </a:solidFill>
                <a:latin typeface="Hiragino Sans"/>
              </a:rPr>
              <a:t>add_text_list(marker="number", divider=True)</a:t>
            </a:r>
          </a:p>
        </p:txBody>
      </p:sp>
      <p:sp>
        <p:nvSpPr>
          <p:cNvPr id="16" name="Oval 15"/>
          <p:cNvSpPr/>
          <p:nvPr/>
        </p:nvSpPr>
        <p:spPr>
          <a:xfrm>
            <a:off x="7937861" y="2414016"/>
            <a:ext cx="304800" cy="304800"/>
          </a:xfrm>
          <a:prstGeom prst="ellipse">
            <a:avLst/>
          </a:prstGeom>
          <a:solidFill>
            <a:srgbClr val="2574D9"/>
          </a:solidFill>
          <a:ln>
            <a:noFill/>
          </a:ln>
        </p:spPr>
        <p:txBody>
          <a:bodyPr rtlCol="0" anchor="ctr"/>
          <a:lstStyle/>
          <a:p>
            <a:pPr algn="ctr"/>
          </a:p>
        </p:txBody>
      </p:sp>
      <p:sp>
        <p:nvSpPr>
          <p:cNvPr id="17" name="Rounded Rectangle 16"/>
          <p:cNvSpPr/>
          <p:nvPr/>
        </p:nvSpPr>
        <p:spPr>
          <a:xfrm rot="8198195">
            <a:off x="8027776" y="2556116"/>
            <a:ext cx="30480" cy="75464"/>
          </a:xfrm>
          <a:prstGeom prst="roundRect">
            <a:avLst>
              <a:gd name="adj" fmla="val 50000"/>
            </a:avLst>
          </a:prstGeom>
          <a:solidFill>
            <a:srgbClr val="FFFFFF"/>
          </a:solidFill>
          <a:ln>
            <a:noFill/>
          </a:ln>
        </p:spPr>
        <p:txBody>
          <a:bodyPr rtlCol="0" anchor="ctr"/>
          <a:lstStyle/>
          <a:p>
            <a:pPr algn="ctr"/>
          </a:p>
        </p:txBody>
      </p:sp>
      <p:sp>
        <p:nvSpPr>
          <p:cNvPr id="18" name="Rounded Rectangle 17"/>
          <p:cNvSpPr/>
          <p:nvPr/>
        </p:nvSpPr>
        <p:spPr>
          <a:xfrm rot="2509210">
            <a:off x="8105501" y="2485659"/>
            <a:ext cx="30480" cy="155418"/>
          </a:xfrm>
          <a:prstGeom prst="roundRect">
            <a:avLst>
              <a:gd name="adj" fmla="val 50000"/>
            </a:avLst>
          </a:prstGeom>
          <a:solidFill>
            <a:srgbClr val="FFFFFF"/>
          </a:solidFill>
          <a:ln>
            <a:noFill/>
          </a:ln>
        </p:spPr>
        <p:txBody>
          <a:bodyPr rtlCol="0" anchor="ctr"/>
          <a:lstStyle/>
          <a:p>
            <a:pPr algn="ctr"/>
          </a:p>
        </p:txBody>
      </p:sp>
      <p:sp>
        <p:nvSpPr>
          <p:cNvPr id="19" name="Oval 18"/>
          <p:cNvSpPr/>
          <p:nvPr/>
        </p:nvSpPr>
        <p:spPr>
          <a:xfrm>
            <a:off x="8053685" y="2606040"/>
            <a:ext cx="30479" cy="30479"/>
          </a:xfrm>
          <a:prstGeom prst="ellipse">
            <a:avLst/>
          </a:prstGeom>
          <a:solidFill>
            <a:srgbClr val="FFFFFF"/>
          </a:solidFill>
          <a:ln>
            <a:noFill/>
          </a:ln>
        </p:spPr>
        <p:txBody>
          <a:bodyPr rtlCol="0" anchor="ctr"/>
          <a:lstStyle/>
          <a:p>
            <a:pPr algn="ctr"/>
          </a:p>
        </p:txBody>
      </p:sp>
      <p:sp>
        <p:nvSpPr>
          <p:cNvPr id="20" name="Oval 19"/>
          <p:cNvSpPr/>
          <p:nvPr/>
        </p:nvSpPr>
        <p:spPr>
          <a:xfrm>
            <a:off x="7937861" y="3317239"/>
            <a:ext cx="304800" cy="304800"/>
          </a:xfrm>
          <a:prstGeom prst="ellipse">
            <a:avLst/>
          </a:prstGeom>
          <a:solidFill>
            <a:srgbClr val="2574D9"/>
          </a:solidFill>
          <a:ln>
            <a:noFill/>
          </a:ln>
        </p:spPr>
        <p:txBody>
          <a:bodyPr rtlCol="0" anchor="ctr"/>
          <a:lstStyle/>
          <a:p>
            <a:pPr algn="ctr"/>
          </a:p>
        </p:txBody>
      </p:sp>
      <p:sp>
        <p:nvSpPr>
          <p:cNvPr id="21" name="Rounded Rectangle 20"/>
          <p:cNvSpPr/>
          <p:nvPr/>
        </p:nvSpPr>
        <p:spPr>
          <a:xfrm rot="8198195">
            <a:off x="8027776" y="3459339"/>
            <a:ext cx="30480" cy="75464"/>
          </a:xfrm>
          <a:prstGeom prst="roundRect">
            <a:avLst>
              <a:gd name="adj" fmla="val 50000"/>
            </a:avLst>
          </a:prstGeom>
          <a:solidFill>
            <a:srgbClr val="FFFFFF"/>
          </a:solidFill>
          <a:ln>
            <a:noFill/>
          </a:ln>
        </p:spPr>
        <p:txBody>
          <a:bodyPr rtlCol="0" anchor="ctr"/>
          <a:lstStyle/>
          <a:p>
            <a:pPr algn="ctr"/>
          </a:p>
        </p:txBody>
      </p:sp>
      <p:sp>
        <p:nvSpPr>
          <p:cNvPr id="22" name="Rounded Rectangle 21"/>
          <p:cNvSpPr/>
          <p:nvPr/>
        </p:nvSpPr>
        <p:spPr>
          <a:xfrm rot="2509210">
            <a:off x="8105501" y="3388882"/>
            <a:ext cx="30480" cy="155418"/>
          </a:xfrm>
          <a:prstGeom prst="roundRect">
            <a:avLst>
              <a:gd name="adj" fmla="val 50000"/>
            </a:avLst>
          </a:prstGeom>
          <a:solidFill>
            <a:srgbClr val="FFFFFF"/>
          </a:solidFill>
          <a:ln>
            <a:noFill/>
          </a:ln>
        </p:spPr>
        <p:txBody>
          <a:bodyPr rtlCol="0" anchor="ctr"/>
          <a:lstStyle/>
          <a:p>
            <a:pPr algn="ctr"/>
          </a:p>
        </p:txBody>
      </p:sp>
      <p:sp>
        <p:nvSpPr>
          <p:cNvPr id="23" name="Oval 22"/>
          <p:cNvSpPr/>
          <p:nvPr/>
        </p:nvSpPr>
        <p:spPr>
          <a:xfrm>
            <a:off x="8053685" y="3509263"/>
            <a:ext cx="30479" cy="30479"/>
          </a:xfrm>
          <a:prstGeom prst="ellipse">
            <a:avLst/>
          </a:prstGeom>
          <a:solidFill>
            <a:srgbClr val="FFFFFF"/>
          </a:solidFill>
          <a:ln>
            <a:noFill/>
          </a:ln>
        </p:spPr>
        <p:txBody>
          <a:bodyPr rtlCol="0" anchor="ctr"/>
          <a:lstStyle/>
          <a:p>
            <a:pPr algn="ctr"/>
          </a:p>
        </p:txBody>
      </p:sp>
      <p:sp>
        <p:nvSpPr>
          <p:cNvPr id="24" name="TextBox 23"/>
          <p:cNvSpPr txBox="1"/>
          <p:nvPr/>
        </p:nvSpPr>
        <p:spPr>
          <a:xfrm>
            <a:off x="8388965" y="2414016"/>
            <a:ext cx="3193432" cy="1554480"/>
          </a:xfrm>
          <a:prstGeom prst="rect">
            <a:avLst/>
          </a:prstGeom>
          <a:noFill/>
        </p:spPr>
        <p:txBody>
          <a:bodyPr wrap="square" lIns="0" rIns="0" tIns="0" bIns="0" anchor="t">
            <a:spAutoFit/>
          </a:bodyPr>
          <a:lstStyle/>
          <a:p>
            <a:pPr algn="l">
              <a:lnSpc>
                <a:spcPct val="115000"/>
              </a:lnSpc>
              <a:spcBef>
                <a:spcPts val="0"/>
              </a:spcBef>
              <a:spcAft>
                <a:spcPts val="3800"/>
              </a:spcAft>
            </a:pPr>
            <a:r>
              <a:rPr sz="1200" b="0">
                <a:solidFill>
                  <a:srgbClr val="102C49"/>
                </a:solidFill>
                <a:latin typeface="Hiragino Sans"/>
                <a:ea typeface="Hiragino Sans"/>
              </a:rPr>
              <a:t>add_icon_listはアイコンを行ごとに独立させる</a:t>
            </a:r>
          </a:p>
          <a:p>
            <a:pPr algn="l">
              <a:lnSpc>
                <a:spcPct val="115000"/>
              </a:lnSpc>
              <a:spcBef>
                <a:spcPts val="0"/>
              </a:spcBef>
              <a:spcAft>
                <a:spcPts val="0"/>
              </a:spcAft>
            </a:pPr>
            <a:r>
              <a:rPr sz="1200" b="0">
                <a:solidFill>
                  <a:srgbClr val="102C49"/>
                </a:solidFill>
                <a:latin typeface="Hiragino Sans"/>
                <a:ea typeface="Hiragino Sans"/>
              </a:rPr>
              <a:t>文章は一つのtextboxへまとめる</a:t>
            </a:r>
          </a:p>
        </p:txBody>
      </p:sp>
      <p:sp>
        <p:nvSpPr>
          <p:cNvPr id="25" name="TextBox 24"/>
          <p:cNvSpPr txBox="1"/>
          <p:nvPr/>
        </p:nvSpPr>
        <p:spPr>
          <a:xfrm>
            <a:off x="7937861" y="4151376"/>
            <a:ext cx="3644536" cy="365760"/>
          </a:xfrm>
          <a:prstGeom prst="rect">
            <a:avLst/>
          </a:prstGeom>
          <a:noFill/>
        </p:spPr>
        <p:txBody>
          <a:bodyPr wrap="square" lIns="0" rIns="0" tIns="0" bIns="0">
            <a:spAutoFit/>
          </a:bodyPr>
          <a:lstStyle/>
          <a:p>
            <a:pPr algn="l"/>
            <a:r>
              <a:rPr sz="1000" b="1" i="0">
                <a:solidFill>
                  <a:srgbClr val="102C49"/>
                </a:solidFill>
                <a:latin typeface="Hiragino Sans"/>
              </a:rPr>
              <a:t>add_icon_list()</a:t>
            </a:r>
          </a:p>
        </p:txBody>
      </p:sp>
      <p:sp>
        <p:nvSpPr>
          <p:cNvPr id="26" name="Rectangle 25"/>
          <p:cNvSpPr/>
          <p:nvPr/>
        </p:nvSpPr>
        <p:spPr>
          <a:xfrm>
            <a:off x="609600" y="4907026"/>
            <a:ext cx="347472" cy="25400"/>
          </a:xfrm>
          <a:prstGeom prst="rect">
            <a:avLst/>
          </a:prstGeom>
          <a:solidFill>
            <a:srgbClr val="2574D9"/>
          </a:solidFill>
          <a:ln>
            <a:noFill/>
          </a:ln>
        </p:spPr>
        <p:txBody>
          <a:bodyPr rtlCol="0" anchor="ctr"/>
          <a:lstStyle/>
          <a:p>
            <a:pPr algn="ctr"/>
          </a:p>
        </p:txBody>
      </p:sp>
      <p:sp>
        <p:nvSpPr>
          <p:cNvPr id="27" name="TextBox 26"/>
          <p:cNvSpPr txBox="1"/>
          <p:nvPr/>
        </p:nvSpPr>
        <p:spPr>
          <a:xfrm>
            <a:off x="609600" y="5062474"/>
            <a:ext cx="1991359" cy="502920"/>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Hiragino Sans"/>
                <a:ea typeface="Hiragino Sans"/>
              </a:rPr>
              <a:t>Key Message: editorial</a:t>
            </a:r>
          </a:p>
        </p:txBody>
      </p:sp>
      <p:sp>
        <p:nvSpPr>
          <p:cNvPr id="28" name="TextBox 27"/>
          <p:cNvSpPr txBox="1"/>
          <p:nvPr/>
        </p:nvSpPr>
        <p:spPr>
          <a:xfrm>
            <a:off x="609600" y="5729986"/>
            <a:ext cx="1991359" cy="365760"/>
          </a:xfrm>
          <a:prstGeom prst="rect">
            <a:avLst/>
          </a:prstGeom>
          <a:noFill/>
        </p:spPr>
        <p:txBody>
          <a:bodyPr wrap="square" lIns="0" rIns="0" tIns="0" bIns="0">
            <a:spAutoFit/>
          </a:bodyPr>
          <a:lstStyle/>
          <a:p>
            <a:pPr algn="l"/>
            <a:r>
              <a:rPr sz="950" b="0" i="0">
                <a:solidFill>
                  <a:srgbClr val="53657A"/>
                </a:solidFill>
                <a:latin typeface="Hiragino Sans"/>
              </a:rPr>
              <a:t>add_key_message(style="editorial")</a:t>
            </a:r>
          </a:p>
        </p:txBody>
      </p:sp>
      <p:sp>
        <p:nvSpPr>
          <p:cNvPr id="29" name="Rounded Rectangle 28"/>
          <p:cNvSpPr/>
          <p:nvPr/>
        </p:nvSpPr>
        <p:spPr>
          <a:xfrm>
            <a:off x="2854959" y="4907026"/>
            <a:ext cx="199135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Key Message: subtle</a:t>
            </a:r>
          </a:p>
        </p:txBody>
      </p:sp>
      <p:sp>
        <p:nvSpPr>
          <p:cNvPr id="30" name="TextBox 29"/>
          <p:cNvSpPr txBox="1"/>
          <p:nvPr/>
        </p:nvSpPr>
        <p:spPr>
          <a:xfrm>
            <a:off x="2854959" y="5729986"/>
            <a:ext cx="1991359" cy="365760"/>
          </a:xfrm>
          <a:prstGeom prst="rect">
            <a:avLst/>
          </a:prstGeom>
          <a:noFill/>
        </p:spPr>
        <p:txBody>
          <a:bodyPr wrap="square" lIns="0" rIns="0" tIns="0" bIns="0">
            <a:spAutoFit/>
          </a:bodyPr>
          <a:lstStyle/>
          <a:p>
            <a:pPr algn="l"/>
            <a:r>
              <a:rPr sz="950" b="0" i="0">
                <a:solidFill>
                  <a:srgbClr val="53657A"/>
                </a:solidFill>
                <a:latin typeface="Hiragino Sans"/>
              </a:rPr>
              <a:t>style="subtle"</a:t>
            </a:r>
          </a:p>
        </p:txBody>
      </p:sp>
      <p:sp>
        <p:nvSpPr>
          <p:cNvPr id="31" name="Rounded Rectangle 30"/>
          <p:cNvSpPr/>
          <p:nvPr/>
        </p:nvSpPr>
        <p:spPr>
          <a:xfrm>
            <a:off x="5100318" y="4907026"/>
            <a:ext cx="1991359" cy="713232"/>
          </a:xfrm>
          <a:prstGeom prst="roundRect">
            <a:avLst>
              <a:gd name="adj" fmla="val 14245"/>
            </a:avLst>
          </a:prstGeom>
          <a:solidFill>
            <a:srgbClr val="102C49"/>
          </a:solidFill>
          <a:ln>
            <a:noFill/>
          </a:ln>
        </p:spPr>
        <p:txBody>
          <a:bodyPr rtlCol="0" anchor="ctr" lIns="164592" rIns="164592" tIns="109728" bIns="109728" wrap="square"/>
          <a:lstStyle/>
          <a:p>
            <a:pPr algn="ctr"/>
            <a:r>
              <a:rPr sz="1200" b="1">
                <a:solidFill>
                  <a:srgbClr val="FFFFFF"/>
                </a:solidFill>
                <a:latin typeface="Hiragino Sans"/>
                <a:ea typeface="Hiragino Sans"/>
              </a:rPr>
              <a:t>Key Message: solid</a:t>
            </a:r>
          </a:p>
        </p:txBody>
      </p:sp>
      <p:sp>
        <p:nvSpPr>
          <p:cNvPr id="32" name="TextBox 31"/>
          <p:cNvSpPr txBox="1"/>
          <p:nvPr/>
        </p:nvSpPr>
        <p:spPr>
          <a:xfrm>
            <a:off x="5100318" y="5729986"/>
            <a:ext cx="1991359" cy="365760"/>
          </a:xfrm>
          <a:prstGeom prst="rect">
            <a:avLst/>
          </a:prstGeom>
          <a:noFill/>
        </p:spPr>
        <p:txBody>
          <a:bodyPr wrap="square" lIns="0" rIns="0" tIns="0" bIns="0">
            <a:spAutoFit/>
          </a:bodyPr>
          <a:lstStyle/>
          <a:p>
            <a:pPr algn="l"/>
            <a:r>
              <a:rPr sz="950" b="0" i="0">
                <a:solidFill>
                  <a:srgbClr val="53657A"/>
                </a:solidFill>
                <a:latin typeface="Hiragino Sans"/>
              </a:rPr>
              <a:t>style="solid"</a:t>
            </a:r>
          </a:p>
        </p:txBody>
      </p:sp>
      <p:sp>
        <p:nvSpPr>
          <p:cNvPr id="33" name="Rounded Rectangle 32"/>
          <p:cNvSpPr/>
          <p:nvPr/>
        </p:nvSpPr>
        <p:spPr>
          <a:xfrm>
            <a:off x="7345677" y="4907026"/>
            <a:ext cx="1991359" cy="749808"/>
          </a:xfrm>
          <a:prstGeom prst="roundRect">
            <a:avLst>
              <a:gd name="adj" fmla="val 13550"/>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Key Message: card</a:t>
            </a:r>
          </a:p>
        </p:txBody>
      </p:sp>
      <p:sp>
        <p:nvSpPr>
          <p:cNvPr id="34" name="TextBox 33"/>
          <p:cNvSpPr txBox="1"/>
          <p:nvPr/>
        </p:nvSpPr>
        <p:spPr>
          <a:xfrm>
            <a:off x="7345677" y="5729986"/>
            <a:ext cx="1991359" cy="365760"/>
          </a:xfrm>
          <a:prstGeom prst="rect">
            <a:avLst/>
          </a:prstGeom>
          <a:noFill/>
        </p:spPr>
        <p:txBody>
          <a:bodyPr wrap="square" lIns="0" rIns="0" tIns="0" bIns="0">
            <a:spAutoFit/>
          </a:bodyPr>
          <a:lstStyle/>
          <a:p>
            <a:pPr algn="l"/>
            <a:r>
              <a:rPr sz="950" b="0" i="0">
                <a:solidFill>
                  <a:srgbClr val="53657A"/>
                </a:solidFill>
                <a:latin typeface="Hiragino Sans"/>
              </a:rPr>
              <a:t>style="card"</a:t>
            </a:r>
          </a:p>
        </p:txBody>
      </p:sp>
      <p:sp>
        <p:nvSpPr>
          <p:cNvPr id="35" name="TextBox 34"/>
          <p:cNvSpPr txBox="1"/>
          <p:nvPr/>
        </p:nvSpPr>
        <p:spPr>
          <a:xfrm>
            <a:off x="9591036" y="4907026"/>
            <a:ext cx="1991359" cy="457200"/>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Hiragino Sans"/>
                <a:ea typeface="Hiragino Sans"/>
              </a:rPr>
              <a:t>Key Message: plain</a:t>
            </a:r>
          </a:p>
        </p:txBody>
      </p:sp>
      <p:sp>
        <p:nvSpPr>
          <p:cNvPr id="36" name="TextBox 35"/>
          <p:cNvSpPr txBox="1"/>
          <p:nvPr/>
        </p:nvSpPr>
        <p:spPr>
          <a:xfrm>
            <a:off x="9591036" y="5729986"/>
            <a:ext cx="1991359" cy="365760"/>
          </a:xfrm>
          <a:prstGeom prst="rect">
            <a:avLst/>
          </a:prstGeom>
          <a:noFill/>
        </p:spPr>
        <p:txBody>
          <a:bodyPr wrap="square" lIns="0" rIns="0" tIns="0" bIns="0">
            <a:spAutoFit/>
          </a:bodyPr>
          <a:lstStyle/>
          <a:p>
            <a:pPr algn="l"/>
            <a:r>
              <a:rPr sz="950" b="0" i="0">
                <a:solidFill>
                  <a:srgbClr val="53657A"/>
                </a:solidFill>
                <a:latin typeface="Hiragino Sans"/>
              </a:rPr>
              <a:t>style="plain"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ICONS.PY: ADD_ICON()</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アイコン（14種）</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06</a:t>
            </a:r>
          </a:p>
        </p:txBody>
      </p:sp>
      <p:sp>
        <p:nvSpPr>
          <p:cNvPr id="6" name="TextBox 5"/>
          <p:cNvSpPr txBox="1"/>
          <p:nvPr/>
        </p:nvSpPr>
        <p:spPr>
          <a:xfrm>
            <a:off x="609600" y="1335024"/>
            <a:ext cx="10972799" cy="365760"/>
          </a:xfrm>
          <a:prstGeom prst="rect">
            <a:avLst/>
          </a:prstGeom>
          <a:noFill/>
        </p:spPr>
        <p:txBody>
          <a:bodyPr wrap="square" lIns="0" rIns="0" tIns="0" bIns="0">
            <a:spAutoFit/>
          </a:bodyPr>
          <a:lstStyle/>
          <a:p>
            <a:pPr algn="l"/>
            <a:r>
              <a:rPr sz="1200" b="0" i="0">
                <a:solidFill>
                  <a:srgbClr val="53657A"/>
                </a:solidFill>
                <a:latin typeface="Hiragino Sans"/>
              </a:rPr>
              <a:t>外部アセットを使わず、python-pptxの図形だけで描くベクターアイコン。状態・分類を一目で区別させたい場合だけ使う。</a:t>
            </a:r>
          </a:p>
        </p:txBody>
      </p:sp>
      <p:sp>
        <p:nvSpPr>
          <p:cNvPr id="7" name="Oval 6"/>
          <p:cNvSpPr/>
          <p:nvPr/>
        </p:nvSpPr>
        <p:spPr>
          <a:xfrm>
            <a:off x="972747" y="2756916"/>
            <a:ext cx="731520" cy="731520"/>
          </a:xfrm>
          <a:prstGeom prst="ellipse">
            <a:avLst/>
          </a:prstGeom>
          <a:solidFill>
            <a:srgbClr val="2574D9"/>
          </a:solidFill>
          <a:ln>
            <a:noFill/>
          </a:ln>
        </p:spPr>
        <p:txBody>
          <a:bodyPr rtlCol="0" anchor="ctr"/>
          <a:lstStyle/>
          <a:p>
            <a:pPr algn="ctr"/>
          </a:p>
        </p:txBody>
      </p:sp>
      <p:sp>
        <p:nvSpPr>
          <p:cNvPr id="8" name="Rounded Rectangle 7"/>
          <p:cNvSpPr/>
          <p:nvPr/>
        </p:nvSpPr>
        <p:spPr>
          <a:xfrm>
            <a:off x="1162942" y="2888589"/>
            <a:ext cx="351129" cy="468172"/>
          </a:xfrm>
          <a:prstGeom prst="roundRect">
            <a:avLst>
              <a:gd name="adj" fmla="val 8000"/>
            </a:avLst>
          </a:prstGeom>
          <a:solidFill>
            <a:srgbClr val="FFFFFF"/>
          </a:solidFill>
          <a:ln>
            <a:noFill/>
          </a:ln>
        </p:spPr>
        <p:txBody>
          <a:bodyPr rtlCol="0" anchor="ctr"/>
          <a:lstStyle/>
          <a:p>
            <a:pPr algn="ctr"/>
          </a:p>
        </p:txBody>
      </p:sp>
      <p:sp>
        <p:nvSpPr>
          <p:cNvPr id="9" name="Rounded Rectangle 8"/>
          <p:cNvSpPr/>
          <p:nvPr/>
        </p:nvSpPr>
        <p:spPr>
          <a:xfrm>
            <a:off x="1228778" y="2976372"/>
            <a:ext cx="58521" cy="73152"/>
          </a:xfrm>
          <a:prstGeom prst="roundRect">
            <a:avLst>
              <a:gd name="adj" fmla="val 20000"/>
            </a:avLst>
          </a:prstGeom>
          <a:solidFill>
            <a:srgbClr val="2574D9"/>
          </a:solidFill>
          <a:ln>
            <a:noFill/>
          </a:ln>
        </p:spPr>
        <p:txBody>
          <a:bodyPr rtlCol="0" anchor="ctr"/>
          <a:lstStyle/>
          <a:p>
            <a:pPr algn="ctr"/>
          </a:p>
        </p:txBody>
      </p:sp>
      <p:sp>
        <p:nvSpPr>
          <p:cNvPr id="10" name="Rounded Rectangle 9"/>
          <p:cNvSpPr/>
          <p:nvPr/>
        </p:nvSpPr>
        <p:spPr>
          <a:xfrm>
            <a:off x="1386055" y="2976372"/>
            <a:ext cx="58521" cy="73152"/>
          </a:xfrm>
          <a:prstGeom prst="roundRect">
            <a:avLst>
              <a:gd name="adj" fmla="val 20000"/>
            </a:avLst>
          </a:prstGeom>
          <a:solidFill>
            <a:srgbClr val="2574D9"/>
          </a:solidFill>
          <a:ln>
            <a:noFill/>
          </a:ln>
        </p:spPr>
        <p:txBody>
          <a:bodyPr rtlCol="0" anchor="ctr"/>
          <a:lstStyle/>
          <a:p>
            <a:pPr algn="ctr"/>
          </a:p>
        </p:txBody>
      </p:sp>
      <p:sp>
        <p:nvSpPr>
          <p:cNvPr id="11" name="Rounded Rectangle 10"/>
          <p:cNvSpPr/>
          <p:nvPr/>
        </p:nvSpPr>
        <p:spPr>
          <a:xfrm>
            <a:off x="1228778" y="3108045"/>
            <a:ext cx="58521" cy="73151"/>
          </a:xfrm>
          <a:prstGeom prst="roundRect">
            <a:avLst>
              <a:gd name="adj" fmla="val 20000"/>
            </a:avLst>
          </a:prstGeom>
          <a:solidFill>
            <a:srgbClr val="2574D9"/>
          </a:solidFill>
          <a:ln>
            <a:noFill/>
          </a:ln>
        </p:spPr>
        <p:txBody>
          <a:bodyPr rtlCol="0" anchor="ctr"/>
          <a:lstStyle/>
          <a:p>
            <a:pPr algn="ctr"/>
          </a:p>
        </p:txBody>
      </p:sp>
      <p:sp>
        <p:nvSpPr>
          <p:cNvPr id="12" name="Rounded Rectangle 11"/>
          <p:cNvSpPr/>
          <p:nvPr/>
        </p:nvSpPr>
        <p:spPr>
          <a:xfrm>
            <a:off x="1386055" y="3108045"/>
            <a:ext cx="58521" cy="73151"/>
          </a:xfrm>
          <a:prstGeom prst="roundRect">
            <a:avLst>
              <a:gd name="adj" fmla="val 20000"/>
            </a:avLst>
          </a:prstGeom>
          <a:solidFill>
            <a:srgbClr val="2574D9"/>
          </a:solidFill>
          <a:ln>
            <a:noFill/>
          </a:ln>
        </p:spPr>
        <p:txBody>
          <a:bodyPr rtlCol="0" anchor="ctr"/>
          <a:lstStyle/>
          <a:p>
            <a:pPr algn="ctr"/>
          </a:p>
        </p:txBody>
      </p:sp>
      <p:sp>
        <p:nvSpPr>
          <p:cNvPr id="13" name="Rounded Rectangle 12"/>
          <p:cNvSpPr/>
          <p:nvPr/>
        </p:nvSpPr>
        <p:spPr>
          <a:xfrm>
            <a:off x="1228778" y="3239719"/>
            <a:ext cx="58521" cy="73151"/>
          </a:xfrm>
          <a:prstGeom prst="roundRect">
            <a:avLst>
              <a:gd name="adj" fmla="val 20000"/>
            </a:avLst>
          </a:prstGeom>
          <a:solidFill>
            <a:srgbClr val="2574D9"/>
          </a:solidFill>
          <a:ln>
            <a:noFill/>
          </a:ln>
        </p:spPr>
        <p:txBody>
          <a:bodyPr rtlCol="0" anchor="ctr"/>
          <a:lstStyle/>
          <a:p>
            <a:pPr algn="ctr"/>
          </a:p>
        </p:txBody>
      </p:sp>
      <p:sp>
        <p:nvSpPr>
          <p:cNvPr id="14" name="Rounded Rectangle 13"/>
          <p:cNvSpPr/>
          <p:nvPr/>
        </p:nvSpPr>
        <p:spPr>
          <a:xfrm>
            <a:off x="1386055" y="3239719"/>
            <a:ext cx="58521" cy="73151"/>
          </a:xfrm>
          <a:prstGeom prst="roundRect">
            <a:avLst>
              <a:gd name="adj" fmla="val 20000"/>
            </a:avLst>
          </a:prstGeom>
          <a:solidFill>
            <a:srgbClr val="2574D9"/>
          </a:solidFill>
          <a:ln>
            <a:noFill/>
          </a:ln>
        </p:spPr>
        <p:txBody>
          <a:bodyPr rtlCol="0" anchor="ctr"/>
          <a:lstStyle/>
          <a:p>
            <a:pPr algn="ctr"/>
          </a:p>
        </p:txBody>
      </p:sp>
      <p:sp>
        <p:nvSpPr>
          <p:cNvPr id="15" name="TextBox 14"/>
          <p:cNvSpPr txBox="1"/>
          <p:nvPr/>
        </p:nvSpPr>
        <p:spPr>
          <a:xfrm>
            <a:off x="60960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building</a:t>
            </a:r>
          </a:p>
        </p:txBody>
      </p:sp>
      <p:sp>
        <p:nvSpPr>
          <p:cNvPr id="16" name="Oval 15"/>
          <p:cNvSpPr/>
          <p:nvPr/>
        </p:nvSpPr>
        <p:spPr>
          <a:xfrm>
            <a:off x="2558577" y="2756916"/>
            <a:ext cx="731520" cy="731520"/>
          </a:xfrm>
          <a:prstGeom prst="ellipse">
            <a:avLst/>
          </a:prstGeom>
          <a:solidFill>
            <a:srgbClr val="2574D9"/>
          </a:solidFill>
          <a:ln>
            <a:noFill/>
          </a:ln>
        </p:spPr>
        <p:txBody>
          <a:bodyPr rtlCol="0" anchor="ctr"/>
          <a:lstStyle/>
          <a:p>
            <a:pPr algn="ctr"/>
          </a:p>
        </p:txBody>
      </p:sp>
      <p:sp>
        <p:nvSpPr>
          <p:cNvPr id="17" name="Rounded Rectangle 16"/>
          <p:cNvSpPr/>
          <p:nvPr/>
        </p:nvSpPr>
        <p:spPr>
          <a:xfrm>
            <a:off x="2792663" y="2859328"/>
            <a:ext cx="58521" cy="117043"/>
          </a:xfrm>
          <a:prstGeom prst="roundRect">
            <a:avLst>
              <a:gd name="adj" fmla="val 50000"/>
            </a:avLst>
          </a:prstGeom>
          <a:solidFill>
            <a:srgbClr val="FFFFFF"/>
          </a:solidFill>
          <a:ln>
            <a:noFill/>
          </a:ln>
        </p:spPr>
        <p:txBody>
          <a:bodyPr rtlCol="0" anchor="ctr"/>
          <a:lstStyle/>
          <a:p>
            <a:pPr algn="ctr"/>
          </a:p>
        </p:txBody>
      </p:sp>
      <p:sp>
        <p:nvSpPr>
          <p:cNvPr id="18" name="Rounded Rectangle 17"/>
          <p:cNvSpPr/>
          <p:nvPr/>
        </p:nvSpPr>
        <p:spPr>
          <a:xfrm>
            <a:off x="2997489" y="2859328"/>
            <a:ext cx="58521" cy="117043"/>
          </a:xfrm>
          <a:prstGeom prst="roundRect">
            <a:avLst>
              <a:gd name="adj" fmla="val 50000"/>
            </a:avLst>
          </a:prstGeom>
          <a:solidFill>
            <a:srgbClr val="FFFFFF"/>
          </a:solidFill>
          <a:ln>
            <a:noFill/>
          </a:ln>
        </p:spPr>
        <p:txBody>
          <a:bodyPr rtlCol="0" anchor="ctr"/>
          <a:lstStyle/>
          <a:p>
            <a:pPr algn="ctr"/>
          </a:p>
        </p:txBody>
      </p:sp>
      <p:sp>
        <p:nvSpPr>
          <p:cNvPr id="19" name="Rounded Rectangle 18"/>
          <p:cNvSpPr/>
          <p:nvPr/>
        </p:nvSpPr>
        <p:spPr>
          <a:xfrm>
            <a:off x="2704881" y="2932480"/>
            <a:ext cx="438912" cy="424281"/>
          </a:xfrm>
          <a:prstGeom prst="roundRect">
            <a:avLst>
              <a:gd name="adj" fmla="val 12000"/>
            </a:avLst>
          </a:prstGeom>
          <a:solidFill>
            <a:srgbClr val="FFFFFF"/>
          </a:solidFill>
          <a:ln>
            <a:noFill/>
          </a:ln>
        </p:spPr>
        <p:txBody>
          <a:bodyPr rtlCol="0" anchor="ctr"/>
          <a:lstStyle/>
          <a:p>
            <a:pPr algn="ctr"/>
          </a:p>
        </p:txBody>
      </p:sp>
      <p:sp>
        <p:nvSpPr>
          <p:cNvPr id="20" name="Rounded Rectangle 19"/>
          <p:cNvSpPr/>
          <p:nvPr/>
        </p:nvSpPr>
        <p:spPr>
          <a:xfrm>
            <a:off x="2748772" y="3020263"/>
            <a:ext cx="351129" cy="29260"/>
          </a:xfrm>
          <a:prstGeom prst="roundRect">
            <a:avLst>
              <a:gd name="adj" fmla="val 50000"/>
            </a:avLst>
          </a:prstGeom>
          <a:solidFill>
            <a:srgbClr val="2574D9"/>
          </a:solidFill>
          <a:ln>
            <a:noFill/>
          </a:ln>
        </p:spPr>
        <p:txBody>
          <a:bodyPr rtlCol="0" anchor="ctr"/>
          <a:lstStyle/>
          <a:p>
            <a:pPr algn="ctr"/>
          </a:p>
        </p:txBody>
      </p:sp>
      <p:sp>
        <p:nvSpPr>
          <p:cNvPr id="21" name="Rounded Rectangle 20"/>
          <p:cNvSpPr/>
          <p:nvPr/>
        </p:nvSpPr>
        <p:spPr>
          <a:xfrm>
            <a:off x="2763402" y="3122676"/>
            <a:ext cx="87782" cy="65836"/>
          </a:xfrm>
          <a:prstGeom prst="roundRect">
            <a:avLst>
              <a:gd name="adj" fmla="val 30000"/>
            </a:avLst>
          </a:prstGeom>
          <a:solidFill>
            <a:srgbClr val="2574D9"/>
          </a:solidFill>
          <a:ln>
            <a:noFill/>
          </a:ln>
        </p:spPr>
        <p:txBody>
          <a:bodyPr rtlCol="0" anchor="ctr"/>
          <a:lstStyle/>
          <a:p>
            <a:pPr algn="ctr"/>
          </a:p>
        </p:txBody>
      </p:sp>
      <p:sp>
        <p:nvSpPr>
          <p:cNvPr id="22" name="Rounded Rectangle 21"/>
          <p:cNvSpPr/>
          <p:nvPr/>
        </p:nvSpPr>
        <p:spPr>
          <a:xfrm>
            <a:off x="2880445" y="3122676"/>
            <a:ext cx="87782" cy="65836"/>
          </a:xfrm>
          <a:prstGeom prst="roundRect">
            <a:avLst>
              <a:gd name="adj" fmla="val 30000"/>
            </a:avLst>
          </a:prstGeom>
          <a:solidFill>
            <a:srgbClr val="2574D9"/>
          </a:solidFill>
          <a:ln>
            <a:noFill/>
          </a:ln>
        </p:spPr>
        <p:txBody>
          <a:bodyPr rtlCol="0" anchor="ctr"/>
          <a:lstStyle/>
          <a:p>
            <a:pPr algn="ctr"/>
          </a:p>
        </p:txBody>
      </p:sp>
      <p:sp>
        <p:nvSpPr>
          <p:cNvPr id="23" name="Rounded Rectangle 22"/>
          <p:cNvSpPr/>
          <p:nvPr/>
        </p:nvSpPr>
        <p:spPr>
          <a:xfrm>
            <a:off x="2997489" y="3122676"/>
            <a:ext cx="87782" cy="65836"/>
          </a:xfrm>
          <a:prstGeom prst="roundRect">
            <a:avLst>
              <a:gd name="adj" fmla="val 30000"/>
            </a:avLst>
          </a:prstGeom>
          <a:solidFill>
            <a:srgbClr val="2574D9"/>
          </a:solidFill>
          <a:ln>
            <a:noFill/>
          </a:ln>
        </p:spPr>
        <p:txBody>
          <a:bodyPr rtlCol="0" anchor="ctr"/>
          <a:lstStyle/>
          <a:p>
            <a:pPr algn="ctr"/>
          </a:p>
        </p:txBody>
      </p:sp>
      <p:sp>
        <p:nvSpPr>
          <p:cNvPr id="24" name="Rounded Rectangle 23"/>
          <p:cNvSpPr/>
          <p:nvPr/>
        </p:nvSpPr>
        <p:spPr>
          <a:xfrm>
            <a:off x="2763402" y="3225088"/>
            <a:ext cx="87782" cy="65836"/>
          </a:xfrm>
          <a:prstGeom prst="roundRect">
            <a:avLst>
              <a:gd name="adj" fmla="val 30000"/>
            </a:avLst>
          </a:prstGeom>
          <a:solidFill>
            <a:srgbClr val="2574D9"/>
          </a:solidFill>
          <a:ln>
            <a:noFill/>
          </a:ln>
        </p:spPr>
        <p:txBody>
          <a:bodyPr rtlCol="0" anchor="ctr"/>
          <a:lstStyle/>
          <a:p>
            <a:pPr algn="ctr"/>
          </a:p>
        </p:txBody>
      </p:sp>
      <p:sp>
        <p:nvSpPr>
          <p:cNvPr id="25" name="Rounded Rectangle 24"/>
          <p:cNvSpPr/>
          <p:nvPr/>
        </p:nvSpPr>
        <p:spPr>
          <a:xfrm>
            <a:off x="2880445" y="3225088"/>
            <a:ext cx="87782" cy="65836"/>
          </a:xfrm>
          <a:prstGeom prst="roundRect">
            <a:avLst>
              <a:gd name="adj" fmla="val 30000"/>
            </a:avLst>
          </a:prstGeom>
          <a:solidFill>
            <a:srgbClr val="2574D9"/>
          </a:solidFill>
          <a:ln>
            <a:noFill/>
          </a:ln>
        </p:spPr>
        <p:txBody>
          <a:bodyPr rtlCol="0" anchor="ctr"/>
          <a:lstStyle/>
          <a:p>
            <a:pPr algn="ctr"/>
          </a:p>
        </p:txBody>
      </p:sp>
      <p:sp>
        <p:nvSpPr>
          <p:cNvPr id="26" name="Rounded Rectangle 25"/>
          <p:cNvSpPr/>
          <p:nvPr/>
        </p:nvSpPr>
        <p:spPr>
          <a:xfrm>
            <a:off x="2997489" y="3225088"/>
            <a:ext cx="87782" cy="65836"/>
          </a:xfrm>
          <a:prstGeom prst="roundRect">
            <a:avLst>
              <a:gd name="adj" fmla="val 30000"/>
            </a:avLst>
          </a:prstGeom>
          <a:solidFill>
            <a:srgbClr val="2574D9"/>
          </a:solidFill>
          <a:ln>
            <a:noFill/>
          </a:ln>
        </p:spPr>
        <p:txBody>
          <a:bodyPr rtlCol="0" anchor="ctr"/>
          <a:lstStyle/>
          <a:p>
            <a:pPr algn="ctr"/>
          </a:p>
        </p:txBody>
      </p:sp>
      <p:sp>
        <p:nvSpPr>
          <p:cNvPr id="27" name="TextBox 26"/>
          <p:cNvSpPr txBox="1"/>
          <p:nvPr/>
        </p:nvSpPr>
        <p:spPr>
          <a:xfrm>
            <a:off x="219543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calendar</a:t>
            </a:r>
          </a:p>
        </p:txBody>
      </p:sp>
      <p:sp>
        <p:nvSpPr>
          <p:cNvPr id="28" name="Oval 27"/>
          <p:cNvSpPr/>
          <p:nvPr/>
        </p:nvSpPr>
        <p:spPr>
          <a:xfrm>
            <a:off x="4144407" y="2756916"/>
            <a:ext cx="731520" cy="731520"/>
          </a:xfrm>
          <a:prstGeom prst="ellipse">
            <a:avLst/>
          </a:prstGeom>
          <a:solidFill>
            <a:srgbClr val="2574D9"/>
          </a:solidFill>
          <a:ln>
            <a:noFill/>
          </a:ln>
        </p:spPr>
        <p:txBody>
          <a:bodyPr rtlCol="0" anchor="ctr"/>
          <a:lstStyle/>
          <a:p>
            <a:pPr algn="ctr"/>
          </a:p>
        </p:txBody>
      </p:sp>
      <p:sp>
        <p:nvSpPr>
          <p:cNvPr id="29" name="Rounded Rectangle 28"/>
          <p:cNvSpPr/>
          <p:nvPr/>
        </p:nvSpPr>
        <p:spPr>
          <a:xfrm rot="8198195">
            <a:off x="4360205" y="3097955"/>
            <a:ext cx="73152" cy="181115"/>
          </a:xfrm>
          <a:prstGeom prst="roundRect">
            <a:avLst>
              <a:gd name="adj" fmla="val 50000"/>
            </a:avLst>
          </a:prstGeom>
          <a:solidFill>
            <a:srgbClr val="FFFFFF"/>
          </a:solidFill>
          <a:ln>
            <a:noFill/>
          </a:ln>
        </p:spPr>
        <p:txBody>
          <a:bodyPr rtlCol="0" anchor="ctr"/>
          <a:lstStyle/>
          <a:p>
            <a:pPr algn="ctr"/>
          </a:p>
        </p:txBody>
      </p:sp>
      <p:sp>
        <p:nvSpPr>
          <p:cNvPr id="30" name="Rounded Rectangle 29"/>
          <p:cNvSpPr/>
          <p:nvPr/>
        </p:nvSpPr>
        <p:spPr>
          <a:xfrm rot="2509210">
            <a:off x="4546743" y="2928859"/>
            <a:ext cx="73152" cy="373003"/>
          </a:xfrm>
          <a:prstGeom prst="roundRect">
            <a:avLst>
              <a:gd name="adj" fmla="val 50000"/>
            </a:avLst>
          </a:prstGeom>
          <a:solidFill>
            <a:srgbClr val="FFFFFF"/>
          </a:solidFill>
          <a:ln>
            <a:noFill/>
          </a:ln>
        </p:spPr>
        <p:txBody>
          <a:bodyPr rtlCol="0" anchor="ctr"/>
          <a:lstStyle/>
          <a:p>
            <a:pPr algn="ctr"/>
          </a:p>
        </p:txBody>
      </p:sp>
      <p:sp>
        <p:nvSpPr>
          <p:cNvPr id="31" name="Oval 30"/>
          <p:cNvSpPr/>
          <p:nvPr/>
        </p:nvSpPr>
        <p:spPr>
          <a:xfrm>
            <a:off x="4422384" y="3217773"/>
            <a:ext cx="73151" cy="73151"/>
          </a:xfrm>
          <a:prstGeom prst="ellipse">
            <a:avLst/>
          </a:prstGeom>
          <a:solidFill>
            <a:srgbClr val="FFFFFF"/>
          </a:solidFill>
          <a:ln>
            <a:noFill/>
          </a:ln>
        </p:spPr>
        <p:txBody>
          <a:bodyPr rtlCol="0" anchor="ctr"/>
          <a:lstStyle/>
          <a:p>
            <a:pPr algn="ctr"/>
          </a:p>
        </p:txBody>
      </p:sp>
      <p:sp>
        <p:nvSpPr>
          <p:cNvPr id="32" name="TextBox 31"/>
          <p:cNvSpPr txBox="1"/>
          <p:nvPr/>
        </p:nvSpPr>
        <p:spPr>
          <a:xfrm>
            <a:off x="378126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check</a:t>
            </a:r>
          </a:p>
        </p:txBody>
      </p:sp>
      <p:sp>
        <p:nvSpPr>
          <p:cNvPr id="33" name="Oval 32"/>
          <p:cNvSpPr/>
          <p:nvPr/>
        </p:nvSpPr>
        <p:spPr>
          <a:xfrm>
            <a:off x="5730237" y="2756916"/>
            <a:ext cx="731520" cy="731520"/>
          </a:xfrm>
          <a:prstGeom prst="ellipse">
            <a:avLst/>
          </a:prstGeom>
          <a:solidFill>
            <a:srgbClr val="2574D9"/>
          </a:solidFill>
          <a:ln>
            <a:noFill/>
          </a:ln>
        </p:spPr>
        <p:txBody>
          <a:bodyPr rtlCol="0" anchor="ctr"/>
          <a:lstStyle/>
          <a:p>
            <a:pPr algn="ctr"/>
          </a:p>
        </p:txBody>
      </p:sp>
      <p:sp>
        <p:nvSpPr>
          <p:cNvPr id="34" name="Oval 33"/>
          <p:cNvSpPr/>
          <p:nvPr/>
        </p:nvSpPr>
        <p:spPr>
          <a:xfrm>
            <a:off x="5847280" y="2873959"/>
            <a:ext cx="497433" cy="497433"/>
          </a:xfrm>
          <a:prstGeom prst="ellipse">
            <a:avLst/>
          </a:prstGeom>
          <a:noFill/>
          <a:ln w="51206">
            <a:solidFill>
              <a:srgbClr val="FFFFFF"/>
            </a:solidFill>
          </a:ln>
        </p:spPr>
        <p:txBody>
          <a:bodyPr rtlCol="0" anchor="ctr"/>
          <a:lstStyle/>
          <a:p>
            <a:pPr algn="ctr"/>
          </a:p>
        </p:txBody>
      </p:sp>
      <p:sp>
        <p:nvSpPr>
          <p:cNvPr id="35" name="Rounded Rectangle 34"/>
          <p:cNvSpPr/>
          <p:nvPr/>
        </p:nvSpPr>
        <p:spPr>
          <a:xfrm>
            <a:off x="6066737" y="2947112"/>
            <a:ext cx="58521" cy="175564"/>
          </a:xfrm>
          <a:prstGeom prst="roundRect">
            <a:avLst>
              <a:gd name="adj" fmla="val 50000"/>
            </a:avLst>
          </a:prstGeom>
          <a:solidFill>
            <a:srgbClr val="FFFFFF"/>
          </a:solidFill>
          <a:ln>
            <a:noFill/>
          </a:ln>
        </p:spPr>
        <p:txBody>
          <a:bodyPr rtlCol="0" anchor="ctr"/>
          <a:lstStyle/>
          <a:p>
            <a:pPr algn="ctr"/>
          </a:p>
        </p:txBody>
      </p:sp>
      <p:sp>
        <p:nvSpPr>
          <p:cNvPr id="36" name="Rounded Rectangle 35"/>
          <p:cNvSpPr/>
          <p:nvPr/>
        </p:nvSpPr>
        <p:spPr>
          <a:xfrm rot="3962251">
            <a:off x="6132573" y="3021369"/>
            <a:ext cx="58521" cy="144092"/>
          </a:xfrm>
          <a:prstGeom prst="roundRect">
            <a:avLst>
              <a:gd name="adj" fmla="val 50000"/>
            </a:avLst>
          </a:prstGeom>
          <a:solidFill>
            <a:srgbClr val="FFFFFF"/>
          </a:solidFill>
          <a:ln>
            <a:noFill/>
          </a:ln>
        </p:spPr>
        <p:txBody>
          <a:bodyPr rtlCol="0" anchor="ctr"/>
          <a:lstStyle/>
          <a:p>
            <a:pPr algn="ctr"/>
          </a:p>
        </p:txBody>
      </p:sp>
      <p:sp>
        <p:nvSpPr>
          <p:cNvPr id="37" name="Oval 36"/>
          <p:cNvSpPr/>
          <p:nvPr/>
        </p:nvSpPr>
        <p:spPr>
          <a:xfrm>
            <a:off x="6066736" y="3093415"/>
            <a:ext cx="58521" cy="58521"/>
          </a:xfrm>
          <a:prstGeom prst="ellipse">
            <a:avLst/>
          </a:prstGeom>
          <a:solidFill>
            <a:srgbClr val="FFFFFF"/>
          </a:solidFill>
          <a:ln>
            <a:noFill/>
          </a:ln>
        </p:spPr>
        <p:txBody>
          <a:bodyPr rtlCol="0" anchor="ctr"/>
          <a:lstStyle/>
          <a:p>
            <a:pPr algn="ctr"/>
          </a:p>
        </p:txBody>
      </p:sp>
      <p:sp>
        <p:nvSpPr>
          <p:cNvPr id="38" name="TextBox 37"/>
          <p:cNvSpPr txBox="1"/>
          <p:nvPr/>
        </p:nvSpPr>
        <p:spPr>
          <a:xfrm>
            <a:off x="536709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clock</a:t>
            </a:r>
          </a:p>
        </p:txBody>
      </p:sp>
      <p:sp>
        <p:nvSpPr>
          <p:cNvPr id="39" name="Oval 38"/>
          <p:cNvSpPr/>
          <p:nvPr/>
        </p:nvSpPr>
        <p:spPr>
          <a:xfrm>
            <a:off x="7316067" y="2756916"/>
            <a:ext cx="731520" cy="731520"/>
          </a:xfrm>
          <a:prstGeom prst="ellipse">
            <a:avLst/>
          </a:prstGeom>
          <a:solidFill>
            <a:srgbClr val="2574D9"/>
          </a:solidFill>
          <a:ln>
            <a:noFill/>
          </a:ln>
        </p:spPr>
        <p:txBody>
          <a:bodyPr rtlCol="0" anchor="ctr"/>
          <a:lstStyle/>
          <a:p>
            <a:pPr algn="ctr"/>
          </a:p>
        </p:txBody>
      </p:sp>
      <p:sp>
        <p:nvSpPr>
          <p:cNvPr id="40" name="Oval 39"/>
          <p:cNvSpPr/>
          <p:nvPr/>
        </p:nvSpPr>
        <p:spPr>
          <a:xfrm>
            <a:off x="7491631" y="3166567"/>
            <a:ext cx="380390" cy="117043"/>
          </a:xfrm>
          <a:prstGeom prst="ellipse">
            <a:avLst/>
          </a:prstGeom>
          <a:solidFill>
            <a:srgbClr val="FFFFFF"/>
          </a:solidFill>
          <a:ln w="32918">
            <a:solidFill>
              <a:srgbClr val="2574D9"/>
            </a:solidFill>
          </a:ln>
        </p:spPr>
        <p:txBody>
          <a:bodyPr rtlCol="0" anchor="ctr"/>
          <a:lstStyle/>
          <a:p>
            <a:pPr algn="ctr"/>
          </a:p>
        </p:txBody>
      </p:sp>
      <p:sp>
        <p:nvSpPr>
          <p:cNvPr id="41" name="Oval 40"/>
          <p:cNvSpPr/>
          <p:nvPr/>
        </p:nvSpPr>
        <p:spPr>
          <a:xfrm>
            <a:off x="7491631" y="3093415"/>
            <a:ext cx="380390" cy="117043"/>
          </a:xfrm>
          <a:prstGeom prst="ellipse">
            <a:avLst/>
          </a:prstGeom>
          <a:solidFill>
            <a:srgbClr val="FFFFFF"/>
          </a:solidFill>
          <a:ln w="32918">
            <a:solidFill>
              <a:srgbClr val="2574D9"/>
            </a:solidFill>
          </a:ln>
        </p:spPr>
        <p:txBody>
          <a:bodyPr rtlCol="0" anchor="ctr"/>
          <a:lstStyle/>
          <a:p>
            <a:pPr algn="ctr"/>
          </a:p>
        </p:txBody>
      </p:sp>
      <p:sp>
        <p:nvSpPr>
          <p:cNvPr id="42" name="Oval 41"/>
          <p:cNvSpPr/>
          <p:nvPr/>
        </p:nvSpPr>
        <p:spPr>
          <a:xfrm>
            <a:off x="7491631" y="3020263"/>
            <a:ext cx="380390" cy="117043"/>
          </a:xfrm>
          <a:prstGeom prst="ellipse">
            <a:avLst/>
          </a:prstGeom>
          <a:solidFill>
            <a:srgbClr val="FFFFFF"/>
          </a:solidFill>
          <a:ln w="32918">
            <a:solidFill>
              <a:srgbClr val="2574D9"/>
            </a:solidFill>
          </a:ln>
        </p:spPr>
        <p:txBody>
          <a:bodyPr rtlCol="0" anchor="ctr"/>
          <a:lstStyle/>
          <a:p>
            <a:pPr algn="ctr"/>
          </a:p>
        </p:txBody>
      </p:sp>
      <p:sp>
        <p:nvSpPr>
          <p:cNvPr id="43" name="TextBox 42"/>
          <p:cNvSpPr txBox="1"/>
          <p:nvPr/>
        </p:nvSpPr>
        <p:spPr>
          <a:xfrm>
            <a:off x="695292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cost</a:t>
            </a:r>
          </a:p>
        </p:txBody>
      </p:sp>
      <p:sp>
        <p:nvSpPr>
          <p:cNvPr id="44" name="Oval 43"/>
          <p:cNvSpPr/>
          <p:nvPr/>
        </p:nvSpPr>
        <p:spPr>
          <a:xfrm>
            <a:off x="8901897" y="2756916"/>
            <a:ext cx="731520" cy="731520"/>
          </a:xfrm>
          <a:prstGeom prst="ellipse">
            <a:avLst/>
          </a:prstGeom>
          <a:solidFill>
            <a:srgbClr val="2574D9"/>
          </a:solidFill>
          <a:ln>
            <a:noFill/>
          </a:ln>
        </p:spPr>
        <p:txBody>
          <a:bodyPr rtlCol="0" anchor="ctr"/>
          <a:lstStyle/>
          <a:p>
            <a:pPr algn="ctr"/>
          </a:p>
        </p:txBody>
      </p:sp>
      <p:sp>
        <p:nvSpPr>
          <p:cNvPr id="45" name="Rounded Rectangle 44"/>
          <p:cNvSpPr/>
          <p:nvPr/>
        </p:nvSpPr>
        <p:spPr>
          <a:xfrm>
            <a:off x="9121353" y="2888589"/>
            <a:ext cx="292608" cy="468172"/>
          </a:xfrm>
          <a:prstGeom prst="roundRect">
            <a:avLst>
              <a:gd name="adj" fmla="val 12000"/>
            </a:avLst>
          </a:prstGeom>
          <a:solidFill>
            <a:srgbClr val="FFFFFF"/>
          </a:solidFill>
          <a:ln>
            <a:noFill/>
          </a:ln>
        </p:spPr>
        <p:txBody>
          <a:bodyPr rtlCol="0" anchor="ctr"/>
          <a:lstStyle/>
          <a:p>
            <a:pPr algn="ctr"/>
          </a:p>
        </p:txBody>
      </p:sp>
      <p:sp>
        <p:nvSpPr>
          <p:cNvPr id="46" name="Rounded Rectangle 45"/>
          <p:cNvSpPr/>
          <p:nvPr/>
        </p:nvSpPr>
        <p:spPr>
          <a:xfrm>
            <a:off x="9194505" y="3020263"/>
            <a:ext cx="146303" cy="32918"/>
          </a:xfrm>
          <a:prstGeom prst="roundRect">
            <a:avLst>
              <a:gd name="adj" fmla="val 50000"/>
            </a:avLst>
          </a:prstGeom>
          <a:solidFill>
            <a:srgbClr val="2574D9"/>
          </a:solidFill>
          <a:ln>
            <a:noFill/>
          </a:ln>
        </p:spPr>
        <p:txBody>
          <a:bodyPr rtlCol="0" anchor="ctr"/>
          <a:lstStyle/>
          <a:p>
            <a:pPr algn="ctr"/>
          </a:p>
        </p:txBody>
      </p:sp>
      <p:sp>
        <p:nvSpPr>
          <p:cNvPr id="47" name="Rounded Rectangle 46"/>
          <p:cNvSpPr/>
          <p:nvPr/>
        </p:nvSpPr>
        <p:spPr>
          <a:xfrm>
            <a:off x="9194505" y="3108045"/>
            <a:ext cx="146303" cy="32918"/>
          </a:xfrm>
          <a:prstGeom prst="roundRect">
            <a:avLst>
              <a:gd name="adj" fmla="val 50000"/>
            </a:avLst>
          </a:prstGeom>
          <a:solidFill>
            <a:srgbClr val="2574D9"/>
          </a:solidFill>
          <a:ln>
            <a:noFill/>
          </a:ln>
        </p:spPr>
        <p:txBody>
          <a:bodyPr rtlCol="0" anchor="ctr"/>
          <a:lstStyle/>
          <a:p>
            <a:pPr algn="ctr"/>
          </a:p>
        </p:txBody>
      </p:sp>
      <p:sp>
        <p:nvSpPr>
          <p:cNvPr id="48" name="Rounded Rectangle 47"/>
          <p:cNvSpPr/>
          <p:nvPr/>
        </p:nvSpPr>
        <p:spPr>
          <a:xfrm>
            <a:off x="9194505" y="3195828"/>
            <a:ext cx="146303" cy="32918"/>
          </a:xfrm>
          <a:prstGeom prst="roundRect">
            <a:avLst>
              <a:gd name="adj" fmla="val 50000"/>
            </a:avLst>
          </a:prstGeom>
          <a:solidFill>
            <a:srgbClr val="2574D9"/>
          </a:solidFill>
          <a:ln>
            <a:noFill/>
          </a:ln>
        </p:spPr>
        <p:txBody>
          <a:bodyPr rtlCol="0" anchor="ctr"/>
          <a:lstStyle/>
          <a:p>
            <a:pPr algn="ctr"/>
          </a:p>
        </p:txBody>
      </p:sp>
      <p:sp>
        <p:nvSpPr>
          <p:cNvPr id="49" name="TextBox 48"/>
          <p:cNvSpPr txBox="1"/>
          <p:nvPr/>
        </p:nvSpPr>
        <p:spPr>
          <a:xfrm>
            <a:off x="853875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document</a:t>
            </a:r>
          </a:p>
        </p:txBody>
      </p:sp>
      <p:sp>
        <p:nvSpPr>
          <p:cNvPr id="50" name="Oval 49"/>
          <p:cNvSpPr/>
          <p:nvPr/>
        </p:nvSpPr>
        <p:spPr>
          <a:xfrm>
            <a:off x="10487727" y="2756916"/>
            <a:ext cx="731520" cy="731520"/>
          </a:xfrm>
          <a:prstGeom prst="ellipse">
            <a:avLst/>
          </a:prstGeom>
          <a:solidFill>
            <a:srgbClr val="2574D9"/>
          </a:solidFill>
          <a:ln>
            <a:noFill/>
          </a:ln>
        </p:spPr>
        <p:txBody>
          <a:bodyPr rtlCol="0" anchor="ctr"/>
          <a:lstStyle/>
          <a:p>
            <a:pPr algn="ctr"/>
          </a:p>
        </p:txBody>
      </p:sp>
      <p:sp>
        <p:nvSpPr>
          <p:cNvPr id="51" name="Oval 50"/>
          <p:cNvSpPr/>
          <p:nvPr/>
        </p:nvSpPr>
        <p:spPr>
          <a:xfrm>
            <a:off x="10604770" y="2873959"/>
            <a:ext cx="497433" cy="497433"/>
          </a:xfrm>
          <a:prstGeom prst="ellipse">
            <a:avLst/>
          </a:prstGeom>
          <a:noFill/>
          <a:ln w="51206">
            <a:solidFill>
              <a:srgbClr val="FFFFFF"/>
            </a:solidFill>
          </a:ln>
        </p:spPr>
        <p:txBody>
          <a:bodyPr rtlCol="0" anchor="ctr"/>
          <a:lstStyle/>
          <a:p>
            <a:pPr algn="ctr"/>
          </a:p>
        </p:txBody>
      </p:sp>
      <p:sp>
        <p:nvSpPr>
          <p:cNvPr id="52" name="Rounded Rectangle 51"/>
          <p:cNvSpPr/>
          <p:nvPr/>
        </p:nvSpPr>
        <p:spPr>
          <a:xfrm>
            <a:off x="10604770" y="3097072"/>
            <a:ext cx="497433" cy="51206"/>
          </a:xfrm>
          <a:prstGeom prst="roundRect">
            <a:avLst>
              <a:gd name="adj" fmla="val 50000"/>
            </a:avLst>
          </a:prstGeom>
          <a:solidFill>
            <a:srgbClr val="FFFFFF"/>
          </a:solidFill>
          <a:ln>
            <a:noFill/>
          </a:ln>
        </p:spPr>
        <p:txBody>
          <a:bodyPr rtlCol="0" anchor="ctr"/>
          <a:lstStyle/>
          <a:p>
            <a:pPr algn="ctr"/>
          </a:p>
        </p:txBody>
      </p:sp>
      <p:sp>
        <p:nvSpPr>
          <p:cNvPr id="53" name="Oval 52"/>
          <p:cNvSpPr/>
          <p:nvPr/>
        </p:nvSpPr>
        <p:spPr>
          <a:xfrm>
            <a:off x="10743758" y="2873959"/>
            <a:ext cx="219456" cy="497433"/>
          </a:xfrm>
          <a:prstGeom prst="ellipse">
            <a:avLst/>
          </a:prstGeom>
          <a:noFill/>
          <a:ln w="43891">
            <a:solidFill>
              <a:srgbClr val="FFFFFF"/>
            </a:solidFill>
          </a:ln>
        </p:spPr>
        <p:txBody>
          <a:bodyPr rtlCol="0" anchor="ctr"/>
          <a:lstStyle/>
          <a:p>
            <a:pPr algn="ctr"/>
          </a:p>
        </p:txBody>
      </p:sp>
      <p:sp>
        <p:nvSpPr>
          <p:cNvPr id="54" name="TextBox 53"/>
          <p:cNvSpPr txBox="1"/>
          <p:nvPr/>
        </p:nvSpPr>
        <p:spPr>
          <a:xfrm>
            <a:off x="10124580" y="3625596"/>
            <a:ext cx="1457814" cy="365760"/>
          </a:xfrm>
          <a:prstGeom prst="rect">
            <a:avLst/>
          </a:prstGeom>
          <a:noFill/>
        </p:spPr>
        <p:txBody>
          <a:bodyPr wrap="square" lIns="0" rIns="0" tIns="0" bIns="0">
            <a:spAutoFit/>
          </a:bodyPr>
          <a:lstStyle/>
          <a:p>
            <a:pPr algn="ctr"/>
            <a:r>
              <a:rPr sz="1050" b="0" i="0">
                <a:solidFill>
                  <a:srgbClr val="53657A"/>
                </a:solidFill>
                <a:latin typeface="Hiragino Sans"/>
              </a:rPr>
              <a:t>globe</a:t>
            </a:r>
          </a:p>
        </p:txBody>
      </p:sp>
      <p:sp>
        <p:nvSpPr>
          <p:cNvPr id="55" name="Oval 54"/>
          <p:cNvSpPr/>
          <p:nvPr/>
        </p:nvSpPr>
        <p:spPr>
          <a:xfrm>
            <a:off x="972747" y="4357116"/>
            <a:ext cx="731520" cy="731520"/>
          </a:xfrm>
          <a:prstGeom prst="ellipse">
            <a:avLst/>
          </a:prstGeom>
          <a:solidFill>
            <a:srgbClr val="2574D9"/>
          </a:solidFill>
          <a:ln>
            <a:noFill/>
          </a:ln>
        </p:spPr>
        <p:txBody>
          <a:bodyPr rtlCol="0" anchor="ctr"/>
          <a:lstStyle/>
          <a:p>
            <a:pPr algn="ctr"/>
          </a:p>
        </p:txBody>
      </p:sp>
      <p:sp>
        <p:nvSpPr>
          <p:cNvPr id="56" name="Rounded Rectangle 55"/>
          <p:cNvSpPr/>
          <p:nvPr/>
        </p:nvSpPr>
        <p:spPr>
          <a:xfrm>
            <a:off x="1170257" y="4781397"/>
            <a:ext cx="87782" cy="102412"/>
          </a:xfrm>
          <a:prstGeom prst="roundRect">
            <a:avLst>
              <a:gd name="adj" fmla="val 25000"/>
            </a:avLst>
          </a:prstGeom>
          <a:solidFill>
            <a:srgbClr val="FFFFFF"/>
          </a:solidFill>
          <a:ln>
            <a:noFill/>
          </a:ln>
        </p:spPr>
        <p:txBody>
          <a:bodyPr rtlCol="0" anchor="ctr"/>
          <a:lstStyle/>
          <a:p>
            <a:pPr algn="ctr"/>
          </a:p>
        </p:txBody>
      </p:sp>
      <p:sp>
        <p:nvSpPr>
          <p:cNvPr id="57" name="Rounded Rectangle 56"/>
          <p:cNvSpPr/>
          <p:nvPr/>
        </p:nvSpPr>
        <p:spPr>
          <a:xfrm>
            <a:off x="1294615" y="4693615"/>
            <a:ext cx="87782" cy="190195"/>
          </a:xfrm>
          <a:prstGeom prst="roundRect">
            <a:avLst>
              <a:gd name="adj" fmla="val 25000"/>
            </a:avLst>
          </a:prstGeom>
          <a:solidFill>
            <a:srgbClr val="FFFFFF"/>
          </a:solidFill>
          <a:ln>
            <a:noFill/>
          </a:ln>
        </p:spPr>
        <p:txBody>
          <a:bodyPr rtlCol="0" anchor="ctr"/>
          <a:lstStyle/>
          <a:p>
            <a:pPr algn="ctr"/>
          </a:p>
        </p:txBody>
      </p:sp>
      <p:sp>
        <p:nvSpPr>
          <p:cNvPr id="58" name="Rounded Rectangle 57"/>
          <p:cNvSpPr/>
          <p:nvPr/>
        </p:nvSpPr>
        <p:spPr>
          <a:xfrm>
            <a:off x="1418974" y="4591202"/>
            <a:ext cx="87782" cy="292608"/>
          </a:xfrm>
          <a:prstGeom prst="roundRect">
            <a:avLst>
              <a:gd name="adj" fmla="val 25000"/>
            </a:avLst>
          </a:prstGeom>
          <a:solidFill>
            <a:srgbClr val="FFFFFF"/>
          </a:solidFill>
          <a:ln>
            <a:noFill/>
          </a:ln>
        </p:spPr>
        <p:txBody>
          <a:bodyPr rtlCol="0" anchor="ctr"/>
          <a:lstStyle/>
          <a:p>
            <a:pPr algn="ctr"/>
          </a:p>
        </p:txBody>
      </p:sp>
      <p:sp>
        <p:nvSpPr>
          <p:cNvPr id="59" name="TextBox 58"/>
          <p:cNvSpPr txBox="1"/>
          <p:nvPr/>
        </p:nvSpPr>
        <p:spPr>
          <a:xfrm>
            <a:off x="60960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growth</a:t>
            </a:r>
          </a:p>
        </p:txBody>
      </p:sp>
      <p:sp>
        <p:nvSpPr>
          <p:cNvPr id="60" name="Oval 59"/>
          <p:cNvSpPr/>
          <p:nvPr/>
        </p:nvSpPr>
        <p:spPr>
          <a:xfrm>
            <a:off x="2558577" y="4357116"/>
            <a:ext cx="731520" cy="731520"/>
          </a:xfrm>
          <a:prstGeom prst="ellipse">
            <a:avLst/>
          </a:prstGeom>
          <a:solidFill>
            <a:srgbClr val="2574D9"/>
          </a:solidFill>
          <a:ln>
            <a:noFill/>
          </a:ln>
        </p:spPr>
        <p:txBody>
          <a:bodyPr rtlCol="0" anchor="ctr"/>
          <a:lstStyle/>
          <a:p>
            <a:pPr algn="ctr"/>
          </a:p>
        </p:txBody>
      </p:sp>
      <p:sp>
        <p:nvSpPr>
          <p:cNvPr id="61" name="Oval 60"/>
          <p:cNvSpPr/>
          <p:nvPr/>
        </p:nvSpPr>
        <p:spPr>
          <a:xfrm>
            <a:off x="2763402" y="4459528"/>
            <a:ext cx="321868" cy="321868"/>
          </a:xfrm>
          <a:prstGeom prst="ellipse">
            <a:avLst/>
          </a:prstGeom>
          <a:solidFill>
            <a:srgbClr val="FFFFFF"/>
          </a:solidFill>
          <a:ln>
            <a:noFill/>
          </a:ln>
        </p:spPr>
        <p:txBody>
          <a:bodyPr rtlCol="0" anchor="ctr"/>
          <a:lstStyle/>
          <a:p>
            <a:pPr algn="ctr"/>
          </a:p>
        </p:txBody>
      </p:sp>
      <p:sp>
        <p:nvSpPr>
          <p:cNvPr id="62" name="Rounded Rectangle 61"/>
          <p:cNvSpPr/>
          <p:nvPr/>
        </p:nvSpPr>
        <p:spPr>
          <a:xfrm>
            <a:off x="2851185" y="4752136"/>
            <a:ext cx="146303" cy="131673"/>
          </a:xfrm>
          <a:prstGeom prst="roundRect">
            <a:avLst>
              <a:gd name="adj" fmla="val 30000"/>
            </a:avLst>
          </a:prstGeom>
          <a:solidFill>
            <a:srgbClr val="FFFFFF"/>
          </a:solidFill>
          <a:ln>
            <a:noFill/>
          </a:ln>
        </p:spPr>
        <p:txBody>
          <a:bodyPr rtlCol="0" anchor="ctr"/>
          <a:lstStyle/>
          <a:p>
            <a:pPr algn="ctr"/>
          </a:p>
        </p:txBody>
      </p:sp>
      <p:sp>
        <p:nvSpPr>
          <p:cNvPr id="63" name="Rounded Rectangle 62"/>
          <p:cNvSpPr/>
          <p:nvPr/>
        </p:nvSpPr>
        <p:spPr>
          <a:xfrm>
            <a:off x="2873130" y="4898440"/>
            <a:ext cx="102412" cy="43891"/>
          </a:xfrm>
          <a:prstGeom prst="roundRect">
            <a:avLst>
              <a:gd name="adj" fmla="val 50000"/>
            </a:avLst>
          </a:prstGeom>
          <a:solidFill>
            <a:srgbClr val="FFFFFF"/>
          </a:solidFill>
          <a:ln>
            <a:noFill/>
          </a:ln>
        </p:spPr>
        <p:txBody>
          <a:bodyPr rtlCol="0" anchor="ctr"/>
          <a:lstStyle/>
          <a:p>
            <a:pPr algn="ctr"/>
          </a:p>
        </p:txBody>
      </p:sp>
      <p:sp>
        <p:nvSpPr>
          <p:cNvPr id="64" name="TextBox 63"/>
          <p:cNvSpPr txBox="1"/>
          <p:nvPr/>
        </p:nvSpPr>
        <p:spPr>
          <a:xfrm>
            <a:off x="219543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idea</a:t>
            </a:r>
          </a:p>
        </p:txBody>
      </p:sp>
      <p:sp>
        <p:nvSpPr>
          <p:cNvPr id="65" name="Oval 64"/>
          <p:cNvSpPr/>
          <p:nvPr/>
        </p:nvSpPr>
        <p:spPr>
          <a:xfrm>
            <a:off x="4144407" y="4357116"/>
            <a:ext cx="731520" cy="731520"/>
          </a:xfrm>
          <a:prstGeom prst="ellipse">
            <a:avLst/>
          </a:prstGeom>
          <a:solidFill>
            <a:srgbClr val="2574D9"/>
          </a:solidFill>
          <a:ln>
            <a:noFill/>
          </a:ln>
        </p:spPr>
        <p:txBody>
          <a:bodyPr rtlCol="0" anchor="ctr"/>
          <a:lstStyle/>
          <a:p>
            <a:pPr algn="ctr"/>
          </a:p>
        </p:txBody>
      </p:sp>
      <p:sp>
        <p:nvSpPr>
          <p:cNvPr id="66" name="Oval 65"/>
          <p:cNvSpPr/>
          <p:nvPr/>
        </p:nvSpPr>
        <p:spPr>
          <a:xfrm>
            <a:off x="4319971" y="4459528"/>
            <a:ext cx="380390" cy="380390"/>
          </a:xfrm>
          <a:prstGeom prst="ellipse">
            <a:avLst/>
          </a:prstGeom>
          <a:solidFill>
            <a:srgbClr val="FFFFFF"/>
          </a:solidFill>
          <a:ln>
            <a:noFill/>
          </a:ln>
        </p:spPr>
        <p:txBody>
          <a:bodyPr rtlCol="0" anchor="ctr"/>
          <a:lstStyle/>
          <a:p>
            <a:pPr algn="ctr"/>
          </a:p>
        </p:txBody>
      </p:sp>
      <p:sp>
        <p:nvSpPr>
          <p:cNvPr id="67" name="Isosceles Triangle 66"/>
          <p:cNvSpPr/>
          <p:nvPr/>
        </p:nvSpPr>
        <p:spPr>
          <a:xfrm>
            <a:off x="4319971" y="4664354"/>
            <a:ext cx="380390" cy="336499"/>
          </a:xfrm>
          <a:prstGeom prst="triangle">
            <a:avLst/>
          </a:prstGeom>
          <a:solidFill>
            <a:srgbClr val="FFFFFF"/>
          </a:solidFill>
          <a:ln>
            <a:noFill/>
          </a:ln>
        </p:spPr>
        <p:txBody>
          <a:bodyPr rtlCol="0" anchor="ctr"/>
          <a:lstStyle/>
          <a:p>
            <a:pPr algn="ctr"/>
          </a:p>
        </p:txBody>
      </p:sp>
      <p:sp>
        <p:nvSpPr>
          <p:cNvPr id="68" name="Oval 67"/>
          <p:cNvSpPr/>
          <p:nvPr/>
        </p:nvSpPr>
        <p:spPr>
          <a:xfrm>
            <a:off x="4451645" y="4561941"/>
            <a:ext cx="117043" cy="117043"/>
          </a:xfrm>
          <a:prstGeom prst="ellipse">
            <a:avLst/>
          </a:prstGeom>
          <a:solidFill>
            <a:srgbClr val="2574D9"/>
          </a:solidFill>
          <a:ln>
            <a:noFill/>
          </a:ln>
        </p:spPr>
        <p:txBody>
          <a:bodyPr rtlCol="0" anchor="ctr"/>
          <a:lstStyle/>
          <a:p>
            <a:pPr algn="ctr"/>
          </a:p>
        </p:txBody>
      </p:sp>
      <p:sp>
        <p:nvSpPr>
          <p:cNvPr id="69" name="TextBox 68"/>
          <p:cNvSpPr txBox="1"/>
          <p:nvPr/>
        </p:nvSpPr>
        <p:spPr>
          <a:xfrm>
            <a:off x="378126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location</a:t>
            </a:r>
          </a:p>
        </p:txBody>
      </p:sp>
      <p:sp>
        <p:nvSpPr>
          <p:cNvPr id="70" name="Oval 69"/>
          <p:cNvSpPr/>
          <p:nvPr/>
        </p:nvSpPr>
        <p:spPr>
          <a:xfrm>
            <a:off x="5730237" y="4357116"/>
            <a:ext cx="731520" cy="731520"/>
          </a:xfrm>
          <a:prstGeom prst="ellipse">
            <a:avLst/>
          </a:prstGeom>
          <a:solidFill>
            <a:srgbClr val="2574D9"/>
          </a:solidFill>
          <a:ln>
            <a:noFill/>
          </a:ln>
        </p:spPr>
        <p:txBody>
          <a:bodyPr rtlCol="0" anchor="ctr"/>
          <a:lstStyle/>
          <a:p>
            <a:pPr algn="ctr"/>
          </a:p>
        </p:txBody>
      </p:sp>
      <p:sp>
        <p:nvSpPr>
          <p:cNvPr id="71" name="Oval 70"/>
          <p:cNvSpPr/>
          <p:nvPr/>
        </p:nvSpPr>
        <p:spPr>
          <a:xfrm>
            <a:off x="5993584" y="4474159"/>
            <a:ext cx="204825" cy="204825"/>
          </a:xfrm>
          <a:prstGeom prst="ellipse">
            <a:avLst/>
          </a:prstGeom>
          <a:solidFill>
            <a:srgbClr val="FFFFFF"/>
          </a:solidFill>
          <a:ln>
            <a:noFill/>
          </a:ln>
        </p:spPr>
        <p:txBody>
          <a:bodyPr rtlCol="0" anchor="ctr"/>
          <a:lstStyle/>
          <a:p>
            <a:pPr algn="ctr"/>
          </a:p>
        </p:txBody>
      </p:sp>
      <p:sp>
        <p:nvSpPr>
          <p:cNvPr id="72" name="Trapezoid 71"/>
          <p:cNvSpPr/>
          <p:nvPr/>
        </p:nvSpPr>
        <p:spPr>
          <a:xfrm>
            <a:off x="5920432" y="4781397"/>
            <a:ext cx="351129" cy="248716"/>
          </a:xfrm>
          <a:prstGeom prst="trapezoid">
            <a:avLst/>
          </a:prstGeom>
          <a:solidFill>
            <a:srgbClr val="FFFFFF"/>
          </a:solidFill>
          <a:ln>
            <a:noFill/>
          </a:ln>
        </p:spPr>
        <p:txBody>
          <a:bodyPr rtlCol="0" anchor="ctr"/>
          <a:lstStyle/>
          <a:p>
            <a:pPr algn="ctr"/>
          </a:p>
        </p:txBody>
      </p:sp>
      <p:sp>
        <p:nvSpPr>
          <p:cNvPr id="73" name="TextBox 72"/>
          <p:cNvSpPr txBox="1"/>
          <p:nvPr/>
        </p:nvSpPr>
        <p:spPr>
          <a:xfrm>
            <a:off x="536709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people</a:t>
            </a:r>
          </a:p>
        </p:txBody>
      </p:sp>
      <p:sp>
        <p:nvSpPr>
          <p:cNvPr id="74" name="Oval 73"/>
          <p:cNvSpPr/>
          <p:nvPr/>
        </p:nvSpPr>
        <p:spPr>
          <a:xfrm>
            <a:off x="7316067" y="4357116"/>
            <a:ext cx="731520" cy="731520"/>
          </a:xfrm>
          <a:prstGeom prst="ellipse">
            <a:avLst/>
          </a:prstGeom>
          <a:solidFill>
            <a:srgbClr val="2574D9"/>
          </a:solidFill>
          <a:ln>
            <a:noFill/>
          </a:ln>
        </p:spPr>
        <p:txBody>
          <a:bodyPr rtlCol="0" anchor="ctr"/>
          <a:lstStyle/>
          <a:p>
            <a:pPr algn="ctr"/>
          </a:p>
        </p:txBody>
      </p:sp>
      <p:sp>
        <p:nvSpPr>
          <p:cNvPr id="75" name="Regular Pentagon 74"/>
          <p:cNvSpPr/>
          <p:nvPr/>
        </p:nvSpPr>
        <p:spPr>
          <a:xfrm rot="10800000">
            <a:off x="7491631" y="4488789"/>
            <a:ext cx="380390" cy="497433"/>
          </a:xfrm>
          <a:prstGeom prst="pentagon">
            <a:avLst/>
          </a:prstGeom>
          <a:solidFill>
            <a:srgbClr val="FFFFFF"/>
          </a:solidFill>
          <a:ln>
            <a:noFill/>
          </a:ln>
        </p:spPr>
        <p:txBody>
          <a:bodyPr rtlCol="0" anchor="ctr"/>
          <a:lstStyle/>
          <a:p>
            <a:pPr algn="ctr"/>
          </a:p>
        </p:txBody>
      </p:sp>
      <p:sp>
        <p:nvSpPr>
          <p:cNvPr id="76" name="Rounded Rectangle 75"/>
          <p:cNvSpPr/>
          <p:nvPr/>
        </p:nvSpPr>
        <p:spPr>
          <a:xfrm rot="8480412">
            <a:off x="7605017" y="4727242"/>
            <a:ext cx="65836" cy="93680"/>
          </a:xfrm>
          <a:prstGeom prst="roundRect">
            <a:avLst>
              <a:gd name="adj" fmla="val 50000"/>
            </a:avLst>
          </a:prstGeom>
          <a:solidFill>
            <a:srgbClr val="2574D9"/>
          </a:solidFill>
          <a:ln>
            <a:noFill/>
          </a:ln>
        </p:spPr>
        <p:txBody>
          <a:bodyPr rtlCol="0" anchor="ctr"/>
          <a:lstStyle/>
          <a:p>
            <a:pPr algn="ctr"/>
          </a:p>
        </p:txBody>
      </p:sp>
      <p:sp>
        <p:nvSpPr>
          <p:cNvPr id="77" name="Rounded Rectangle 76"/>
          <p:cNvSpPr/>
          <p:nvPr/>
        </p:nvSpPr>
        <p:spPr>
          <a:xfrm rot="2161642">
            <a:off x="7692800" y="4630694"/>
            <a:ext cx="65836" cy="198994"/>
          </a:xfrm>
          <a:prstGeom prst="roundRect">
            <a:avLst>
              <a:gd name="adj" fmla="val 50000"/>
            </a:avLst>
          </a:prstGeom>
          <a:solidFill>
            <a:srgbClr val="2574D9"/>
          </a:solidFill>
          <a:ln>
            <a:noFill/>
          </a:ln>
        </p:spPr>
        <p:txBody>
          <a:bodyPr rtlCol="0" anchor="ctr"/>
          <a:lstStyle/>
          <a:p>
            <a:pPr algn="ctr"/>
          </a:p>
        </p:txBody>
      </p:sp>
      <p:sp>
        <p:nvSpPr>
          <p:cNvPr id="78" name="Oval 77"/>
          <p:cNvSpPr/>
          <p:nvPr/>
        </p:nvSpPr>
        <p:spPr>
          <a:xfrm>
            <a:off x="7634278" y="4777739"/>
            <a:ext cx="65836" cy="65836"/>
          </a:xfrm>
          <a:prstGeom prst="ellipse">
            <a:avLst/>
          </a:prstGeom>
          <a:solidFill>
            <a:srgbClr val="2574D9"/>
          </a:solidFill>
          <a:ln>
            <a:noFill/>
          </a:ln>
        </p:spPr>
        <p:txBody>
          <a:bodyPr rtlCol="0" anchor="ctr"/>
          <a:lstStyle/>
          <a:p>
            <a:pPr algn="ctr"/>
          </a:p>
        </p:txBody>
      </p:sp>
      <p:sp>
        <p:nvSpPr>
          <p:cNvPr id="79" name="TextBox 78"/>
          <p:cNvSpPr txBox="1"/>
          <p:nvPr/>
        </p:nvSpPr>
        <p:spPr>
          <a:xfrm>
            <a:off x="695292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shield</a:t>
            </a:r>
          </a:p>
        </p:txBody>
      </p:sp>
      <p:sp>
        <p:nvSpPr>
          <p:cNvPr id="80" name="Oval 79"/>
          <p:cNvSpPr/>
          <p:nvPr/>
        </p:nvSpPr>
        <p:spPr>
          <a:xfrm>
            <a:off x="8901897" y="4357116"/>
            <a:ext cx="731520" cy="731520"/>
          </a:xfrm>
          <a:prstGeom prst="ellipse">
            <a:avLst/>
          </a:prstGeom>
          <a:solidFill>
            <a:srgbClr val="2574D9"/>
          </a:solidFill>
          <a:ln>
            <a:noFill/>
          </a:ln>
        </p:spPr>
        <p:txBody>
          <a:bodyPr rtlCol="0" anchor="ctr"/>
          <a:lstStyle/>
          <a:p>
            <a:pPr algn="ctr"/>
          </a:p>
        </p:txBody>
      </p:sp>
      <p:sp>
        <p:nvSpPr>
          <p:cNvPr id="81" name="Oval 80"/>
          <p:cNvSpPr/>
          <p:nvPr/>
        </p:nvSpPr>
        <p:spPr>
          <a:xfrm>
            <a:off x="9033570" y="4488789"/>
            <a:ext cx="468172" cy="468172"/>
          </a:xfrm>
          <a:prstGeom prst="ellipse">
            <a:avLst/>
          </a:prstGeom>
          <a:solidFill>
            <a:srgbClr val="FFFFFF"/>
          </a:solidFill>
          <a:ln>
            <a:noFill/>
          </a:ln>
        </p:spPr>
        <p:txBody>
          <a:bodyPr rtlCol="0" anchor="ctr"/>
          <a:lstStyle/>
          <a:p>
            <a:pPr algn="ctr"/>
          </a:p>
        </p:txBody>
      </p:sp>
      <p:sp>
        <p:nvSpPr>
          <p:cNvPr id="82" name="Oval 81"/>
          <p:cNvSpPr/>
          <p:nvPr/>
        </p:nvSpPr>
        <p:spPr>
          <a:xfrm>
            <a:off x="9165244" y="4620463"/>
            <a:ext cx="204825" cy="204825"/>
          </a:xfrm>
          <a:prstGeom prst="ellipse">
            <a:avLst/>
          </a:prstGeom>
          <a:solidFill>
            <a:srgbClr val="2574D9"/>
          </a:solidFill>
          <a:ln>
            <a:noFill/>
          </a:ln>
        </p:spPr>
        <p:txBody>
          <a:bodyPr rtlCol="0" anchor="ctr"/>
          <a:lstStyle/>
          <a:p>
            <a:pPr algn="ctr"/>
          </a:p>
        </p:txBody>
      </p:sp>
      <p:sp>
        <p:nvSpPr>
          <p:cNvPr id="83" name="TextBox 82"/>
          <p:cNvSpPr txBox="1"/>
          <p:nvPr/>
        </p:nvSpPr>
        <p:spPr>
          <a:xfrm>
            <a:off x="853875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target</a:t>
            </a:r>
          </a:p>
        </p:txBody>
      </p:sp>
      <p:sp>
        <p:nvSpPr>
          <p:cNvPr id="84" name="Oval 83"/>
          <p:cNvSpPr/>
          <p:nvPr/>
        </p:nvSpPr>
        <p:spPr>
          <a:xfrm>
            <a:off x="10487727" y="4357116"/>
            <a:ext cx="731520" cy="731520"/>
          </a:xfrm>
          <a:prstGeom prst="ellipse">
            <a:avLst/>
          </a:prstGeom>
          <a:solidFill>
            <a:srgbClr val="2574D9"/>
          </a:solidFill>
          <a:ln>
            <a:noFill/>
          </a:ln>
        </p:spPr>
        <p:txBody>
          <a:bodyPr rtlCol="0" anchor="ctr"/>
          <a:lstStyle/>
          <a:p>
            <a:pPr algn="ctr"/>
          </a:p>
        </p:txBody>
      </p:sp>
      <p:sp>
        <p:nvSpPr>
          <p:cNvPr id="85" name="Isosceles Triangle 84"/>
          <p:cNvSpPr/>
          <p:nvPr/>
        </p:nvSpPr>
        <p:spPr>
          <a:xfrm>
            <a:off x="10634031" y="4503420"/>
            <a:ext cx="438912" cy="395020"/>
          </a:xfrm>
          <a:prstGeom prst="triangle">
            <a:avLst/>
          </a:prstGeom>
          <a:solidFill>
            <a:srgbClr val="FFFFFF"/>
          </a:solidFill>
          <a:ln>
            <a:noFill/>
          </a:ln>
        </p:spPr>
        <p:txBody>
          <a:bodyPr rtlCol="0" anchor="ctr"/>
          <a:lstStyle/>
          <a:p>
            <a:pPr algn="ctr"/>
          </a:p>
        </p:txBody>
      </p:sp>
      <p:sp>
        <p:nvSpPr>
          <p:cNvPr id="86" name="Rounded Rectangle 85"/>
          <p:cNvSpPr/>
          <p:nvPr/>
        </p:nvSpPr>
        <p:spPr>
          <a:xfrm>
            <a:off x="10827883" y="4620463"/>
            <a:ext cx="51206" cy="146304"/>
          </a:xfrm>
          <a:prstGeom prst="roundRect">
            <a:avLst>
              <a:gd name="adj" fmla="val 50000"/>
            </a:avLst>
          </a:prstGeom>
          <a:solidFill>
            <a:srgbClr val="2574D9"/>
          </a:solidFill>
          <a:ln>
            <a:noFill/>
          </a:ln>
        </p:spPr>
        <p:txBody>
          <a:bodyPr rtlCol="0" anchor="ctr"/>
          <a:lstStyle/>
          <a:p>
            <a:pPr algn="ctr"/>
          </a:p>
        </p:txBody>
      </p:sp>
      <p:sp>
        <p:nvSpPr>
          <p:cNvPr id="87" name="Oval 86"/>
          <p:cNvSpPr/>
          <p:nvPr/>
        </p:nvSpPr>
        <p:spPr>
          <a:xfrm>
            <a:off x="10827883" y="4810658"/>
            <a:ext cx="51206" cy="36576"/>
          </a:xfrm>
          <a:prstGeom prst="ellipse">
            <a:avLst/>
          </a:prstGeom>
          <a:solidFill>
            <a:srgbClr val="2574D9"/>
          </a:solidFill>
          <a:ln>
            <a:noFill/>
          </a:ln>
        </p:spPr>
        <p:txBody>
          <a:bodyPr rtlCol="0" anchor="ctr"/>
          <a:lstStyle/>
          <a:p>
            <a:pPr algn="ctr"/>
          </a:p>
        </p:txBody>
      </p:sp>
      <p:sp>
        <p:nvSpPr>
          <p:cNvPr id="88" name="TextBox 87"/>
          <p:cNvSpPr txBox="1"/>
          <p:nvPr/>
        </p:nvSpPr>
        <p:spPr>
          <a:xfrm>
            <a:off x="10124580" y="5225796"/>
            <a:ext cx="1457814" cy="365760"/>
          </a:xfrm>
          <a:prstGeom prst="rect">
            <a:avLst/>
          </a:prstGeom>
          <a:noFill/>
        </p:spPr>
        <p:txBody>
          <a:bodyPr wrap="square" lIns="0" rIns="0" tIns="0" bIns="0">
            <a:spAutoFit/>
          </a:bodyPr>
          <a:lstStyle/>
          <a:p>
            <a:pPr algn="ctr"/>
            <a:r>
              <a:rPr sz="1050" b="0" i="0">
                <a:solidFill>
                  <a:srgbClr val="53657A"/>
                </a:solidFill>
                <a:latin typeface="Hiragino Sans"/>
              </a:rPr>
              <a:t>warning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310896"/>
            <a:ext cx="5029200" cy="18288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CHARTS.PY: ADD_NATIVE_CHART()</a:t>
            </a:r>
          </a:p>
        </p:txBody>
      </p:sp>
      <p:sp>
        <p:nvSpPr>
          <p:cNvPr id="3" name="TextBox 2"/>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ネイティブチャート（6種）</a:t>
            </a:r>
          </a:p>
        </p:txBody>
      </p:sp>
      <p:sp>
        <p:nvSpPr>
          <p:cNvPr id="4" name="Rectangle 3"/>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5" name="TextBox 4"/>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07</a:t>
            </a:r>
          </a:p>
        </p:txBody>
      </p:sp>
      <p:sp>
        <p:nvSpPr>
          <p:cNvPr id="6" name="TextBox 5"/>
          <p:cNvSpPr txBox="1"/>
          <p:nvPr/>
        </p:nvSpPr>
        <p:spPr>
          <a:xfrm>
            <a:off x="609600" y="1335024"/>
            <a:ext cx="10972799" cy="365760"/>
          </a:xfrm>
          <a:prstGeom prst="rect">
            <a:avLst/>
          </a:prstGeom>
          <a:noFill/>
        </p:spPr>
        <p:txBody>
          <a:bodyPr wrap="square" lIns="0" rIns="0" tIns="0" bIns="0">
            <a:spAutoFit/>
          </a:bodyPr>
          <a:lstStyle/>
          <a:p>
            <a:pPr algn="l"/>
            <a:r>
              <a:rPr sz="1200" b="0" i="0">
                <a:solidFill>
                  <a:srgbClr val="53657A"/>
                </a:solidFill>
                <a:latin typeface="Hiragino Sans"/>
              </a:rPr>
              <a:t>PNG画像と異なり、貼り付け後もPowerPoint上で数値・系列名を直接編集できる。chart_with_insightのchartフィールドから使う。</a:t>
            </a:r>
          </a:p>
        </p:txBody>
      </p:sp>
      <p:graphicFrame>
        <p:nvGraphicFramePr>
          <p:cNvPr id="7" name="Chart 6"/>
          <p:cNvGraphicFramePr>
            <a:graphicFrameLocks noGrp="1"/>
          </p:cNvGraphicFramePr>
          <p:nvPr/>
        </p:nvGraphicFramePr>
        <p:xfrm>
          <a:off x="609600" y="1837944"/>
          <a:ext cx="3488266" cy="1604772"/>
        </p:xfrm>
        <a:graphic>
          <a:graphicData uri="http://schemas.openxmlformats.org/drawingml/2006/chart">
            <c:chart xmlns:c="http://schemas.openxmlformats.org/drawingml/2006/chart" r:id="rId2"/>
          </a:graphicData>
        </a:graphic>
      </p:graphicFrame>
      <p:sp>
        <p:nvSpPr>
          <p:cNvPr id="8" name="TextBox 7"/>
          <p:cNvSpPr txBox="1"/>
          <p:nvPr/>
        </p:nvSpPr>
        <p:spPr>
          <a:xfrm>
            <a:off x="609600" y="3479292"/>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"column"</a:t>
            </a:r>
          </a:p>
        </p:txBody>
      </p:sp>
      <p:graphicFrame>
        <p:nvGraphicFramePr>
          <p:cNvPr id="9" name="Chart 8"/>
          <p:cNvGraphicFramePr>
            <a:graphicFrameLocks noGrp="1"/>
          </p:cNvGraphicFramePr>
          <p:nvPr/>
        </p:nvGraphicFramePr>
        <p:xfrm>
          <a:off x="4351866" y="1837944"/>
          <a:ext cx="3488266" cy="1604772"/>
        </p:xfrm>
        <a:graphic>
          <a:graphicData uri="http://schemas.openxmlformats.org/drawingml/2006/chart">
            <c:chart xmlns:c="http://schemas.openxmlformats.org/drawingml/2006/chart" r:id="rId3"/>
          </a:graphicData>
        </a:graphic>
      </p:graphicFrame>
      <p:sp>
        <p:nvSpPr>
          <p:cNvPr id="10" name="TextBox 9"/>
          <p:cNvSpPr txBox="1"/>
          <p:nvPr/>
        </p:nvSpPr>
        <p:spPr>
          <a:xfrm>
            <a:off x="4351866" y="3479292"/>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"stacked_column"</a:t>
            </a:r>
          </a:p>
        </p:txBody>
      </p:sp>
      <p:graphicFrame>
        <p:nvGraphicFramePr>
          <p:cNvPr id="11" name="Chart 10"/>
          <p:cNvGraphicFramePr>
            <a:graphicFrameLocks noGrp="1"/>
          </p:cNvGraphicFramePr>
          <p:nvPr/>
        </p:nvGraphicFramePr>
        <p:xfrm>
          <a:off x="8094132" y="1837944"/>
          <a:ext cx="3488266" cy="1604772"/>
        </p:xfrm>
        <a:graphic>
          <a:graphicData uri="http://schemas.openxmlformats.org/drawingml/2006/chart">
            <c:chart xmlns:c="http://schemas.openxmlformats.org/drawingml/2006/chart" r:id="rId4"/>
          </a:graphicData>
        </a:graphic>
      </p:graphicFrame>
      <p:sp>
        <p:nvSpPr>
          <p:cNvPr id="12" name="TextBox 11"/>
          <p:cNvSpPr txBox="1"/>
          <p:nvPr/>
        </p:nvSpPr>
        <p:spPr>
          <a:xfrm>
            <a:off x="8094132" y="3479292"/>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"bar"</a:t>
            </a:r>
          </a:p>
        </p:txBody>
      </p:sp>
      <p:graphicFrame>
        <p:nvGraphicFramePr>
          <p:cNvPr id="13" name="Chart 12"/>
          <p:cNvGraphicFramePr>
            <a:graphicFrameLocks noGrp="1"/>
          </p:cNvGraphicFramePr>
          <p:nvPr/>
        </p:nvGraphicFramePr>
        <p:xfrm>
          <a:off x="609600" y="4037076"/>
          <a:ext cx="3488266" cy="1604772"/>
        </p:xfrm>
        <a:graphic>
          <a:graphicData uri="http://schemas.openxmlformats.org/drawingml/2006/chart">
            <c:chart xmlns:c="http://schemas.openxmlformats.org/drawingml/2006/chart" r:id="rId5"/>
          </a:graphicData>
        </a:graphic>
      </p:graphicFrame>
      <p:sp>
        <p:nvSpPr>
          <p:cNvPr id="14" name="TextBox 13"/>
          <p:cNvSpPr txBox="1"/>
          <p:nvPr/>
        </p:nvSpPr>
        <p:spPr>
          <a:xfrm>
            <a:off x="609600" y="5678424"/>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"line"</a:t>
            </a:r>
          </a:p>
        </p:txBody>
      </p:sp>
      <p:graphicFrame>
        <p:nvGraphicFramePr>
          <p:cNvPr id="15" name="Chart 14"/>
          <p:cNvGraphicFramePr>
            <a:graphicFrameLocks noGrp="1"/>
          </p:cNvGraphicFramePr>
          <p:nvPr/>
        </p:nvGraphicFramePr>
        <p:xfrm>
          <a:off x="4351866" y="4037076"/>
          <a:ext cx="3488266" cy="1604772"/>
        </p:xfrm>
        <a:graphic>
          <a:graphicData uri="http://schemas.openxmlformats.org/drawingml/2006/chart">
            <c:chart xmlns:c="http://schemas.openxmlformats.org/drawingml/2006/chart" r:id="rId6"/>
          </a:graphicData>
        </a:graphic>
      </p:graphicFrame>
      <p:sp>
        <p:nvSpPr>
          <p:cNvPr id="16" name="TextBox 15"/>
          <p:cNvSpPr txBox="1"/>
          <p:nvPr/>
        </p:nvSpPr>
        <p:spPr>
          <a:xfrm>
            <a:off x="4351866" y="5678424"/>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"pie"</a:t>
            </a:r>
          </a:p>
        </p:txBody>
      </p:sp>
      <p:graphicFrame>
        <p:nvGraphicFramePr>
          <p:cNvPr id="17" name="Chart 16"/>
          <p:cNvGraphicFramePr>
            <a:graphicFrameLocks noGrp="1"/>
          </p:cNvGraphicFramePr>
          <p:nvPr/>
        </p:nvGraphicFramePr>
        <p:xfrm>
          <a:off x="8094132" y="4037076"/>
          <a:ext cx="3488266" cy="1604772"/>
        </p:xfrm>
        <a:graphic>
          <a:graphicData uri="http://schemas.openxmlformats.org/drawingml/2006/chart">
            <c:chart xmlns:c="http://schemas.openxmlformats.org/drawingml/2006/chart" r:id="rId7"/>
          </a:graphicData>
        </a:graphic>
      </p:graphicFrame>
      <p:sp>
        <p:nvSpPr>
          <p:cNvPr id="18" name="TextBox 17"/>
          <p:cNvSpPr txBox="1"/>
          <p:nvPr/>
        </p:nvSpPr>
        <p:spPr>
          <a:xfrm>
            <a:off x="8094132" y="5678424"/>
            <a:ext cx="3488266" cy="365760"/>
          </a:xfrm>
          <a:prstGeom prst="rect">
            <a:avLst/>
          </a:prstGeom>
          <a:noFill/>
        </p:spPr>
        <p:txBody>
          <a:bodyPr wrap="square" lIns="0" rIns="0" tIns="0" bIns="0">
            <a:spAutoFit/>
          </a:bodyPr>
          <a:lstStyle/>
          <a:p>
            <a:pPr algn="ctr"/>
            <a:r>
              <a:rPr sz="1000" b="1" i="0">
                <a:solidFill>
                  <a:srgbClr val="102C49"/>
                </a:solidFill>
                <a:latin typeface="Hiragino Sans"/>
              </a:rPr>
              <a:t>chart.type: "scatter"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09600" y="2926080"/>
            <a:ext cx="82296" cy="548640"/>
          </a:xfrm>
          <a:prstGeom prst="roundRect">
            <a:avLst>
              <a:gd name="adj" fmla="val 16000"/>
            </a:avLst>
          </a:prstGeom>
          <a:solidFill>
            <a:srgbClr val="2574D9"/>
          </a:solidFill>
          <a:ln>
            <a:noFill/>
          </a:ln>
        </p:spPr>
        <p:txBody>
          <a:bodyPr rtlCol="0" anchor="ctr"/>
          <a:lstStyle/>
          <a:p>
            <a:pPr algn="ctr"/>
          </a:p>
        </p:txBody>
      </p:sp>
      <p:sp>
        <p:nvSpPr>
          <p:cNvPr id="3" name="TextBox 2"/>
          <p:cNvSpPr txBox="1"/>
          <p:nvPr/>
        </p:nvSpPr>
        <p:spPr>
          <a:xfrm>
            <a:off x="883920" y="2907792"/>
            <a:ext cx="9144000" cy="27432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SECTION DIVIDER</a:t>
            </a:r>
          </a:p>
        </p:txBody>
      </p:sp>
      <p:sp>
        <p:nvSpPr>
          <p:cNvPr id="4" name="TextBox 3"/>
          <p:cNvSpPr txBox="1"/>
          <p:nvPr/>
        </p:nvSpPr>
        <p:spPr>
          <a:xfrm>
            <a:off x="883920" y="3255264"/>
            <a:ext cx="10058400" cy="1097280"/>
          </a:xfrm>
          <a:prstGeom prst="rect">
            <a:avLst/>
          </a:prstGeom>
          <a:noFill/>
        </p:spPr>
        <p:txBody>
          <a:bodyPr wrap="square" lIns="0" rIns="0" tIns="0" bIns="0" anchor="t">
            <a:spAutoFit/>
          </a:bodyPr>
          <a:lstStyle/>
          <a:p>
            <a:pPr algn="l">
              <a:lnSpc>
                <a:spcPct val="102000"/>
              </a:lnSpc>
              <a:spcAft>
                <a:spcPts val="0"/>
              </a:spcAft>
            </a:pPr>
            <a:r>
              <a:rPr sz="3400" b="1">
                <a:solidFill>
                  <a:srgbClr val="102C49"/>
                </a:solidFill>
                <a:latin typeface="Hiragino Sans"/>
                <a:ea typeface="Hiragino Sans"/>
              </a:rPr>
              <a:t>renderer カタログ（20種）</a:t>
            </a:r>
          </a:p>
        </p:txBody>
      </p:sp>
      <p:sp>
        <p:nvSpPr>
          <p:cNvPr id="5" name="TextBox 4"/>
          <p:cNvSpPr txBox="1"/>
          <p:nvPr/>
        </p:nvSpPr>
        <p:spPr>
          <a:xfrm>
            <a:off x="883920" y="4215384"/>
            <a:ext cx="8686800" cy="548640"/>
          </a:xfrm>
          <a:prstGeom prst="rect">
            <a:avLst/>
          </a:prstGeom>
          <a:noFill/>
        </p:spPr>
        <p:txBody>
          <a:bodyPr wrap="square" lIns="0" rIns="0" tIns="0" bIns="0" anchor="t">
            <a:spAutoFit/>
          </a:bodyPr>
          <a:lstStyle/>
          <a:p>
            <a:pPr algn="l">
              <a:lnSpc>
                <a:spcPct val="108000"/>
              </a:lnSpc>
              <a:spcAft>
                <a:spcPts val="0"/>
              </a:spcAft>
            </a:pPr>
            <a:r>
              <a:rPr sz="1500" b="0">
                <a:solidFill>
                  <a:srgbClr val="53657A"/>
                </a:solidFill>
                <a:latin typeface="Yu Gothic"/>
                <a:ea typeface="Yu Gothic"/>
              </a:rPr>
              <a:t>各typeの最小構成の例。件数・文言・配色は指示に応じて自由に調整でき、これが唯一の形ではない</a:t>
            </a:r>
          </a:p>
        </p:txBody>
      </p:sp>
      <p:sp>
        <p:nvSpPr>
          <p:cNvPr id="6" name="TextBox 5"/>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08</a:t>
            </a:r>
          </a:p>
        </p:txBody>
      </p:sp>
      <p:sp>
        <p:nvSpPr>
          <p:cNvPr id="7" name="TextBox 6"/>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“section_divider” — 複数テーマを扱う資料の章区切り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comparison: 二つの観点を公平に比較する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09</a:t>
            </a:r>
          </a:p>
        </p:txBody>
      </p:sp>
      <p:sp>
        <p:nvSpPr>
          <p:cNvPr id="5" name="Rounded Rectangle 4"/>
          <p:cNvSpPr/>
          <p:nvPr/>
        </p:nvSpPr>
        <p:spPr>
          <a:xfrm>
            <a:off x="609600" y="2611246"/>
            <a:ext cx="54864" cy="347472"/>
          </a:xfrm>
          <a:prstGeom prst="roundRect">
            <a:avLst>
              <a:gd name="adj" fmla="val 16000"/>
            </a:avLst>
          </a:prstGeom>
          <a:solidFill>
            <a:srgbClr val="2574D9"/>
          </a:solidFill>
          <a:ln>
            <a:noFill/>
          </a:ln>
        </p:spPr>
        <p:txBody>
          <a:bodyPr rtlCol="0" anchor="ctr"/>
          <a:lstStyle/>
          <a:p>
            <a:pPr algn="ctr"/>
          </a:p>
        </p:txBody>
      </p:sp>
      <p:sp>
        <p:nvSpPr>
          <p:cNvPr id="6" name="TextBox 5"/>
          <p:cNvSpPr txBox="1"/>
          <p:nvPr/>
        </p:nvSpPr>
        <p:spPr>
          <a:xfrm>
            <a:off x="755904" y="2602102"/>
            <a:ext cx="5148071"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向いている場面</a:t>
            </a:r>
          </a:p>
        </p:txBody>
      </p:sp>
      <p:sp>
        <p:nvSpPr>
          <p:cNvPr id="7" name="TextBox 6"/>
          <p:cNvSpPr txBox="1"/>
          <p:nvPr/>
        </p:nvSpPr>
        <p:spPr>
          <a:xfrm>
            <a:off x="609600" y="3178174"/>
            <a:ext cx="5294375" cy="1054404"/>
          </a:xfrm>
          <a:prstGeom prst="rect">
            <a:avLst/>
          </a:prstGeom>
          <a:noFill/>
        </p:spPr>
        <p:txBody>
          <a:bodyPr wrap="square" lIns="0" rIns="0" tIns="0" bIns="0" anchor="t">
            <a:spAutoFit/>
          </a:bodyPr>
          <a:lstStyle/>
          <a:p>
            <a:pPr algn="l" marL="251460" indent="-251460">
              <a:lnSpc>
                <a:spcPct val="108000"/>
              </a:lnSpc>
              <a:spcBef>
                <a:spcPts val="0"/>
              </a:spcBef>
              <a:spcAft>
                <a:spcPts val="2600"/>
              </a:spcAft>
            </a:pPr>
            <a:r>
              <a:rPr sz="1200" b="1">
                <a:solidFill>
                  <a:srgbClr val="102C49"/>
                </a:solidFill>
                <a:latin typeface="Hiragino Sans"/>
                <a:ea typeface="Hiragino Sans"/>
              </a:rPr>
              <a:t>•  価値とリスク</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メリットとデメリットを両方読ませたいとき</a:t>
            </a:r>
          </a:p>
          <a:p>
            <a:pPr algn="l" marL="251460" indent="-251460">
              <a:lnSpc>
                <a:spcPct val="108000"/>
              </a:lnSpc>
              <a:spcBef>
                <a:spcPts val="0"/>
              </a:spcBef>
              <a:spcAft>
                <a:spcPts val="0"/>
              </a:spcAft>
            </a:pPr>
            <a:r>
              <a:rPr sz="1200" b="1">
                <a:solidFill>
                  <a:srgbClr val="102C49"/>
                </a:solidFill>
                <a:latin typeface="Hiragino Sans"/>
                <a:ea typeface="Hiragino Sans"/>
              </a:rPr>
              <a:t>•  現状と将来</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Before/Afterを対等な分量で見せたいとき</a:t>
            </a:r>
          </a:p>
        </p:txBody>
      </p:sp>
      <p:sp>
        <p:nvSpPr>
          <p:cNvPr id="8" name="Rounded Rectangle 7"/>
          <p:cNvSpPr/>
          <p:nvPr/>
        </p:nvSpPr>
        <p:spPr>
          <a:xfrm>
            <a:off x="6288023" y="2611246"/>
            <a:ext cx="54864" cy="347472"/>
          </a:xfrm>
          <a:prstGeom prst="roundRect">
            <a:avLst>
              <a:gd name="adj" fmla="val 16000"/>
            </a:avLst>
          </a:prstGeom>
          <a:solidFill>
            <a:srgbClr val="148C9A"/>
          </a:solidFill>
          <a:ln>
            <a:noFill/>
          </a:ln>
        </p:spPr>
        <p:txBody>
          <a:bodyPr rtlCol="0" anchor="ctr"/>
          <a:lstStyle/>
          <a:p>
            <a:pPr algn="ctr"/>
          </a:p>
        </p:txBody>
      </p:sp>
      <p:sp>
        <p:nvSpPr>
          <p:cNvPr id="9" name="TextBox 8"/>
          <p:cNvSpPr txBox="1"/>
          <p:nvPr/>
        </p:nvSpPr>
        <p:spPr>
          <a:xfrm>
            <a:off x="6434327" y="2602102"/>
            <a:ext cx="5148071"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編集の単位</a:t>
            </a:r>
          </a:p>
        </p:txBody>
      </p:sp>
      <p:sp>
        <p:nvSpPr>
          <p:cNvPr id="10" name="TextBox 9"/>
          <p:cNvSpPr txBox="1"/>
          <p:nvPr/>
        </p:nvSpPr>
        <p:spPr>
          <a:xfrm>
            <a:off x="6288023" y="3178174"/>
            <a:ext cx="5294375" cy="1054404"/>
          </a:xfrm>
          <a:prstGeom prst="rect">
            <a:avLst/>
          </a:prstGeom>
          <a:noFill/>
        </p:spPr>
        <p:txBody>
          <a:bodyPr wrap="square" lIns="0" rIns="0" tIns="0" bIns="0" anchor="t">
            <a:spAutoFit/>
          </a:bodyPr>
          <a:lstStyle/>
          <a:p>
            <a:pPr algn="l" marL="251460" indent="-251460">
              <a:lnSpc>
                <a:spcPct val="108000"/>
              </a:lnSpc>
              <a:spcBef>
                <a:spcPts val="0"/>
              </a:spcBef>
              <a:spcAft>
                <a:spcPts val="2600"/>
              </a:spcAft>
            </a:pPr>
            <a:r>
              <a:rPr sz="1200" b="1">
                <a:solidFill>
                  <a:srgbClr val="102C49"/>
                </a:solidFill>
                <a:latin typeface="Hiragino Sans"/>
                <a:ea typeface="Hiragino Sans"/>
              </a:rPr>
              <a:t>—  列ごとに1つのtextbox</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項目を行ごとに別shapeへ分割しない</a:t>
            </a:r>
          </a:p>
          <a:p>
            <a:pPr algn="l" marL="251460" indent="-251460">
              <a:lnSpc>
                <a:spcPct val="108000"/>
              </a:lnSpc>
              <a:spcBef>
                <a:spcPts val="0"/>
              </a:spcBef>
              <a:spcAft>
                <a:spcPts val="0"/>
              </a:spcAft>
            </a:pPr>
            <a:r>
              <a:rPr sz="1200" b="1">
                <a:solidFill>
                  <a:srgbClr val="102C49"/>
                </a:solidFill>
                <a:latin typeface="Hiragino Sans"/>
                <a:ea typeface="Hiragino Sans"/>
              </a:rPr>
              <a:t>—  balanced / asymmetric</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片側を弱めたい場合はasymmetricを選ぶ</a:t>
            </a:r>
          </a:p>
        </p:txBody>
      </p:sp>
      <p:sp>
        <p:nvSpPr>
          <p:cNvPr id="11" name="Rounded Rectangle 10"/>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balancedは対等な2列、asymmetricは片側を補助情報として弱める</a:t>
            </a:r>
          </a:p>
        </p:txBody>
      </p:sp>
      <p:sp>
        <p:nvSpPr>
          <p:cNvPr id="12" name="TextBox 11"/>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“comparison” — 二つの観点、価値とリスク、現状と将来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evidence_and_decision: 根拠から一つの結論を導く</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10</a:t>
            </a:r>
          </a:p>
        </p:txBody>
      </p:sp>
      <p:sp>
        <p:nvSpPr>
          <p:cNvPr id="5" name="Rounded Rectangle 4"/>
          <p:cNvSpPr/>
          <p:nvPr/>
        </p:nvSpPr>
        <p:spPr>
          <a:xfrm>
            <a:off x="499872" y="1280160"/>
            <a:ext cx="6655755" cy="5193792"/>
          </a:xfrm>
          <a:prstGeom prst="roundRect">
            <a:avLst>
              <a:gd name="adj" fmla="val 3423"/>
            </a:avLst>
          </a:prstGeom>
          <a:solidFill>
            <a:srgbClr val="E7EBF0"/>
          </a:solidFill>
          <a:ln>
            <a:noFill/>
          </a:ln>
        </p:spPr>
        <p:txBody>
          <a:bodyPr rtlCol="0" anchor="ctr"/>
          <a:lstStyle/>
          <a:p>
            <a:pPr algn="ctr"/>
          </a:p>
        </p:txBody>
      </p:sp>
      <p:sp>
        <p:nvSpPr>
          <p:cNvPr id="6" name="Rounded Rectangle 5"/>
          <p:cNvSpPr/>
          <p:nvPr/>
        </p:nvSpPr>
        <p:spPr>
          <a:xfrm>
            <a:off x="792480" y="3066390"/>
            <a:ext cx="54864" cy="347472"/>
          </a:xfrm>
          <a:prstGeom prst="roundRect">
            <a:avLst>
              <a:gd name="adj" fmla="val 16000"/>
            </a:avLst>
          </a:prstGeom>
          <a:solidFill>
            <a:srgbClr val="2574D9"/>
          </a:solidFill>
          <a:ln>
            <a:noFill/>
          </a:ln>
        </p:spPr>
        <p:txBody>
          <a:bodyPr rtlCol="0" anchor="ctr"/>
          <a:lstStyle/>
          <a:p>
            <a:pPr algn="ctr"/>
          </a:p>
        </p:txBody>
      </p:sp>
      <p:sp>
        <p:nvSpPr>
          <p:cNvPr id="7" name="TextBox 6"/>
          <p:cNvSpPr txBox="1"/>
          <p:nvPr/>
        </p:nvSpPr>
        <p:spPr>
          <a:xfrm>
            <a:off x="938784" y="3057246"/>
            <a:ext cx="5924235"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使う場面</a:t>
            </a:r>
          </a:p>
        </p:txBody>
      </p:sp>
      <p:sp>
        <p:nvSpPr>
          <p:cNvPr id="8" name="TextBox 7"/>
          <p:cNvSpPr txBox="1"/>
          <p:nvPr/>
        </p:nvSpPr>
        <p:spPr>
          <a:xfrm>
            <a:off x="792480" y="3633318"/>
            <a:ext cx="6070539" cy="1054404"/>
          </a:xfrm>
          <a:prstGeom prst="rect">
            <a:avLst/>
          </a:prstGeom>
          <a:noFill/>
        </p:spPr>
        <p:txBody>
          <a:bodyPr wrap="square" lIns="0" rIns="0" tIns="0" bIns="0" anchor="t">
            <a:spAutoFit/>
          </a:bodyPr>
          <a:lstStyle/>
          <a:p>
            <a:pPr algn="l" marL="251460" indent="-251460">
              <a:lnSpc>
                <a:spcPct val="108000"/>
              </a:lnSpc>
              <a:spcBef>
                <a:spcPts val="0"/>
              </a:spcBef>
              <a:spcAft>
                <a:spcPts val="2600"/>
              </a:spcAft>
            </a:pPr>
            <a:r>
              <a:rPr sz="1200" b="1">
                <a:solidFill>
                  <a:srgbClr val="102C49"/>
                </a:solidFill>
                <a:latin typeface="Hiragino Sans"/>
                <a:ea typeface="Hiragino Sans"/>
              </a:rPr>
              <a:t>•  根拠が複数、結論は1つ</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複数の事実から単一の推奨判断を示したいとき</a:t>
            </a:r>
          </a:p>
          <a:p>
            <a:pPr algn="l" marL="251460" indent="-251460">
              <a:lnSpc>
                <a:spcPct val="108000"/>
              </a:lnSpc>
              <a:spcBef>
                <a:spcPts val="0"/>
              </a:spcBef>
              <a:spcAft>
                <a:spcPts val="0"/>
              </a:spcAft>
            </a:pPr>
            <a:r>
              <a:rPr sz="1200" b="1">
                <a:solidFill>
                  <a:srgbClr val="102C49"/>
                </a:solidFill>
                <a:latin typeface="Hiragino Sans"/>
                <a:ea typeface="Hiragino Sans"/>
              </a:rPr>
              <a:t>•  判断理由を明示したい</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結論だけでなく根拠も同じページで示したいとき</a:t>
            </a:r>
          </a:p>
        </p:txBody>
      </p:sp>
      <p:sp>
        <p:nvSpPr>
          <p:cNvPr id="9" name="Rounded Rectangle 8"/>
          <p:cNvSpPr/>
          <p:nvPr/>
        </p:nvSpPr>
        <p:spPr>
          <a:xfrm>
            <a:off x="7429947" y="1335024"/>
            <a:ext cx="4152451" cy="5084064"/>
          </a:xfrm>
          <a:prstGeom prst="roundRect">
            <a:avLst>
              <a:gd name="adj" fmla="val 4281"/>
            </a:avLst>
          </a:prstGeom>
          <a:solidFill>
            <a:srgbClr val="E1EDFC"/>
          </a:solidFill>
          <a:ln>
            <a:noFill/>
          </a:ln>
        </p:spPr>
        <p:txBody>
          <a:bodyPr rtlCol="0" anchor="ctr"/>
          <a:lstStyle/>
          <a:p>
            <a:pPr algn="ctr"/>
          </a:p>
        </p:txBody>
      </p:sp>
      <p:sp>
        <p:nvSpPr>
          <p:cNvPr id="10" name="TextBox 9"/>
          <p:cNvSpPr txBox="1"/>
          <p:nvPr/>
        </p:nvSpPr>
        <p:spPr>
          <a:xfrm>
            <a:off x="7740843" y="1609344"/>
            <a:ext cx="3530659" cy="4535424"/>
          </a:xfrm>
          <a:prstGeom prst="rect">
            <a:avLst/>
          </a:prstGeom>
          <a:noFill/>
        </p:spPr>
        <p:txBody>
          <a:bodyPr wrap="square" lIns="0" rIns="0" tIns="0" bIns="0" anchor="ctr">
            <a:spAutoFit/>
          </a:bodyPr>
          <a:lstStyle/>
          <a:p>
            <a:pPr algn="l">
              <a:lnSpc>
                <a:spcPct val="108000"/>
              </a:lnSpc>
              <a:spcBef>
                <a:spcPts val="0"/>
              </a:spcBef>
              <a:spcAft>
                <a:spcPts val="1000"/>
              </a:spcAft>
            </a:pPr>
            <a:r>
              <a:rPr sz="1000" b="1">
                <a:solidFill>
                  <a:srgbClr val="2574D9"/>
                </a:solidFill>
                <a:latin typeface="Hiragino Sans"/>
                <a:ea typeface="Hiragino Sans"/>
              </a:rPr>
              <a:t>推奨する使い方</a:t>
            </a:r>
          </a:p>
          <a:p>
            <a:pPr algn="l">
              <a:lnSpc>
                <a:spcPct val="105000"/>
              </a:lnSpc>
              <a:spcBef>
                <a:spcPts val="0"/>
              </a:spcBef>
              <a:spcAft>
                <a:spcPts val="1400"/>
              </a:spcAft>
            </a:pPr>
            <a:r>
              <a:rPr sz="1500" b="1">
                <a:solidFill>
                  <a:srgbClr val="102C49"/>
                </a:solidFill>
                <a:latin typeface="Hiragino Sans"/>
                <a:ea typeface="Hiragino Sans"/>
              </a:rPr>
              <a:t>結論は1文に絞り、根拠は独立した領域で支える</a:t>
            </a:r>
          </a:p>
          <a:p>
            <a:pPr algn="l">
              <a:lnSpc>
                <a:spcPct val="115000"/>
              </a:lnSpc>
              <a:spcBef>
                <a:spcPts val="0"/>
              </a:spcBef>
              <a:spcAft>
                <a:spcPts val="0"/>
              </a:spcAft>
            </a:pPr>
            <a:r>
              <a:rPr sz="1200" b="0">
                <a:solidFill>
                  <a:srgbClr val="53657A"/>
                </a:solidFill>
                <a:latin typeface="Hiragino Sans"/>
                <a:ea typeface="Hiragino Sans"/>
              </a:rPr>
              <a:t>evidenceは箇条書きの根拠群、decisionは結論文。結論を薄めないよう1文に絞る。</a:t>
            </a:r>
          </a:p>
        </p:txBody>
      </p:sp>
      <p:sp>
        <p:nvSpPr>
          <p:cNvPr id="11" name="TextBox 10"/>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“evidence_and_decision” — 根拠から一つの推奨判断を導く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scope_and_exclusions: 対象と対象外を同時に示す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900" b="0">
                <a:solidFill>
                  <a:srgbClr val="738296"/>
                </a:solidFill>
                <a:latin typeface="Yu Gothic"/>
                <a:ea typeface="Yu Gothic"/>
              </a:rPr>
              <a:t>11</a:t>
            </a:r>
          </a:p>
        </p:txBody>
      </p:sp>
      <p:sp>
        <p:nvSpPr>
          <p:cNvPr id="5" name="Rounded Rectangle 4"/>
          <p:cNvSpPr/>
          <p:nvPr/>
        </p:nvSpPr>
        <p:spPr>
          <a:xfrm>
            <a:off x="609600" y="1335024"/>
            <a:ext cx="7279766" cy="5084064"/>
          </a:xfrm>
          <a:prstGeom prst="roundRect">
            <a:avLst>
              <a:gd name="adj" fmla="val 3497"/>
            </a:avLst>
          </a:prstGeom>
          <a:solidFill>
            <a:srgbClr val="E1EDFC"/>
          </a:solidFill>
          <a:ln>
            <a:noFill/>
          </a:ln>
        </p:spPr>
        <p:txBody>
          <a:bodyPr rtlCol="0" anchor="ctr"/>
          <a:lstStyle/>
          <a:p>
            <a:pPr algn="ctr"/>
          </a:p>
        </p:txBody>
      </p:sp>
      <p:sp>
        <p:nvSpPr>
          <p:cNvPr id="6" name="Rounded Rectangle 5"/>
          <p:cNvSpPr/>
          <p:nvPr/>
        </p:nvSpPr>
        <p:spPr>
          <a:xfrm>
            <a:off x="902208" y="2793848"/>
            <a:ext cx="54864" cy="347472"/>
          </a:xfrm>
          <a:prstGeom prst="roundRect">
            <a:avLst>
              <a:gd name="adj" fmla="val 16000"/>
            </a:avLst>
          </a:prstGeom>
          <a:solidFill>
            <a:srgbClr val="2574D9"/>
          </a:solidFill>
          <a:ln>
            <a:noFill/>
          </a:ln>
        </p:spPr>
        <p:txBody>
          <a:bodyPr rtlCol="0" anchor="ctr"/>
          <a:lstStyle/>
          <a:p>
            <a:pPr algn="ctr"/>
          </a:p>
        </p:txBody>
      </p:sp>
      <p:sp>
        <p:nvSpPr>
          <p:cNvPr id="7" name="TextBox 6"/>
          <p:cNvSpPr txBox="1"/>
          <p:nvPr/>
        </p:nvSpPr>
        <p:spPr>
          <a:xfrm>
            <a:off x="1048512" y="2784704"/>
            <a:ext cx="6548246"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対象に含めるもの（scope）</a:t>
            </a:r>
          </a:p>
        </p:txBody>
      </p:sp>
      <p:sp>
        <p:nvSpPr>
          <p:cNvPr id="8" name="TextBox 7"/>
          <p:cNvSpPr txBox="1"/>
          <p:nvPr/>
        </p:nvSpPr>
        <p:spPr>
          <a:xfrm>
            <a:off x="902208" y="3507080"/>
            <a:ext cx="3220275" cy="256032"/>
          </a:xfrm>
          <a:prstGeom prst="rect">
            <a:avLst/>
          </a:prstGeom>
          <a:noFill/>
        </p:spPr>
        <p:txBody>
          <a:bodyPr wrap="square" lIns="0" rIns="0" tIns="0" bIns="0" anchor="t">
            <a:spAutoFit/>
          </a:bodyPr>
          <a:lstStyle/>
          <a:p>
            <a:pPr algn="l">
              <a:lnSpc>
                <a:spcPct val="108000"/>
              </a:lnSpc>
              <a:spcAft>
                <a:spcPts val="0"/>
              </a:spcAft>
            </a:pPr>
            <a:r>
              <a:rPr sz="900" b="1">
                <a:solidFill>
                  <a:srgbClr val="2574D9"/>
                </a:solidFill>
                <a:latin typeface="Yu Gothic"/>
                <a:ea typeface="Yu Gothic"/>
              </a:rPr>
              <a:t>IN</a:t>
            </a:r>
          </a:p>
        </p:txBody>
      </p:sp>
      <p:sp>
        <p:nvSpPr>
          <p:cNvPr id="9" name="TextBox 8"/>
          <p:cNvSpPr txBox="1"/>
          <p:nvPr/>
        </p:nvSpPr>
        <p:spPr>
          <a:xfrm>
            <a:off x="902208" y="3909416"/>
            <a:ext cx="3220275" cy="3529584"/>
          </a:xfrm>
          <a:prstGeom prst="rect">
            <a:avLst/>
          </a:prstGeom>
          <a:noFill/>
        </p:spPr>
        <p:txBody>
          <a:bodyPr wrap="square" lIns="0" rIns="0" tIns="0" bIns="0" anchor="t">
            <a:spAutoFit/>
          </a:bodyPr>
          <a:lstStyle/>
          <a:p>
            <a:pPr algn="l">
              <a:lnSpc>
                <a:spcPct val="108000"/>
              </a:lnSpc>
              <a:spcBef>
                <a:spcPts val="0"/>
              </a:spcBef>
              <a:spcAft>
                <a:spcPts val="700"/>
              </a:spcAft>
            </a:pPr>
            <a:r>
              <a:rPr sz="1500" b="1">
                <a:solidFill>
                  <a:srgbClr val="102C49"/>
                </a:solidFill>
                <a:latin typeface="Hiragino Sans"/>
                <a:ea typeface="Hiragino Sans"/>
              </a:rPr>
              <a:t>scope配列</a:t>
            </a:r>
          </a:p>
          <a:p>
            <a:pPr algn="l">
              <a:lnSpc>
                <a:spcPct val="108000"/>
              </a:lnSpc>
              <a:spcBef>
                <a:spcPts val="0"/>
              </a:spcBef>
              <a:spcAft>
                <a:spcPts val="0"/>
              </a:spcAft>
            </a:pPr>
            <a:r>
              <a:rPr sz="900" b="0">
                <a:solidFill>
                  <a:srgbClr val="53657A"/>
                </a:solidFill>
                <a:latin typeface="Hiragino Sans"/>
                <a:ea typeface="Hiragino Sans"/>
              </a:rPr>
              <a:t>対象とする意味単位を列挙する</a:t>
            </a:r>
          </a:p>
        </p:txBody>
      </p:sp>
      <p:sp>
        <p:nvSpPr>
          <p:cNvPr id="10" name="TextBox 9"/>
          <p:cNvSpPr txBox="1"/>
          <p:nvPr/>
        </p:nvSpPr>
        <p:spPr>
          <a:xfrm>
            <a:off x="4376483" y="3507080"/>
            <a:ext cx="3220275" cy="256032"/>
          </a:xfrm>
          <a:prstGeom prst="rect">
            <a:avLst/>
          </a:prstGeom>
          <a:noFill/>
        </p:spPr>
        <p:txBody>
          <a:bodyPr wrap="square" lIns="0" rIns="0" tIns="0" bIns="0" anchor="t">
            <a:spAutoFit/>
          </a:bodyPr>
          <a:lstStyle/>
          <a:p>
            <a:pPr algn="l">
              <a:lnSpc>
                <a:spcPct val="108000"/>
              </a:lnSpc>
              <a:spcAft>
                <a:spcPts val="0"/>
              </a:spcAft>
            </a:pPr>
            <a:r>
              <a:rPr sz="900" b="1">
                <a:solidFill>
                  <a:srgbClr val="2574D9"/>
                </a:solidFill>
                <a:latin typeface="Yu Gothic"/>
                <a:ea typeface="Yu Gothic"/>
              </a:rPr>
              <a:t>OUT</a:t>
            </a:r>
          </a:p>
        </p:txBody>
      </p:sp>
      <p:sp>
        <p:nvSpPr>
          <p:cNvPr id="11" name="TextBox 10"/>
          <p:cNvSpPr txBox="1"/>
          <p:nvPr/>
        </p:nvSpPr>
        <p:spPr>
          <a:xfrm>
            <a:off x="4376483" y="3909416"/>
            <a:ext cx="3220275" cy="3529584"/>
          </a:xfrm>
          <a:prstGeom prst="rect">
            <a:avLst/>
          </a:prstGeom>
          <a:noFill/>
        </p:spPr>
        <p:txBody>
          <a:bodyPr wrap="square" lIns="0" rIns="0" tIns="0" bIns="0" anchor="t">
            <a:spAutoFit/>
          </a:bodyPr>
          <a:lstStyle/>
          <a:p>
            <a:pPr algn="l">
              <a:lnSpc>
                <a:spcPct val="108000"/>
              </a:lnSpc>
              <a:spcBef>
                <a:spcPts val="0"/>
              </a:spcBef>
              <a:spcAft>
                <a:spcPts val="700"/>
              </a:spcAft>
            </a:pPr>
            <a:r>
              <a:rPr sz="1500" b="1">
                <a:solidFill>
                  <a:srgbClr val="102C49"/>
                </a:solidFill>
                <a:latin typeface="Hiragino Sans"/>
                <a:ea typeface="Hiragino Sans"/>
              </a:rPr>
              <a:t>exclusionsは別枠</a:t>
            </a:r>
          </a:p>
          <a:p>
            <a:pPr algn="l">
              <a:lnSpc>
                <a:spcPct val="108000"/>
              </a:lnSpc>
              <a:spcBef>
                <a:spcPts val="0"/>
              </a:spcBef>
              <a:spcAft>
                <a:spcPts val="0"/>
              </a:spcAft>
            </a:pPr>
            <a:r>
              <a:rPr sz="900" b="0">
                <a:solidFill>
                  <a:srgbClr val="53657A"/>
                </a:solidFill>
                <a:latin typeface="Hiragino Sans"/>
                <a:ea typeface="Hiragino Sans"/>
              </a:rPr>
              <a:t>対象外と混在させず一括リストにする</a:t>
            </a:r>
          </a:p>
        </p:txBody>
      </p:sp>
      <p:sp>
        <p:nvSpPr>
          <p:cNvPr id="12" name="TextBox 11"/>
          <p:cNvSpPr txBox="1"/>
          <p:nvPr/>
        </p:nvSpPr>
        <p:spPr>
          <a:xfrm>
            <a:off x="902208" y="5742432"/>
            <a:ext cx="6694550" cy="256032"/>
          </a:xfrm>
          <a:prstGeom prst="rect">
            <a:avLst/>
          </a:prstGeom>
          <a:noFill/>
        </p:spPr>
        <p:txBody>
          <a:bodyPr wrap="square" lIns="0" rIns="0" tIns="0" bIns="0" anchor="t">
            <a:spAutoFit/>
          </a:bodyPr>
          <a:lstStyle/>
          <a:p>
            <a:pPr algn="l">
              <a:lnSpc>
                <a:spcPct val="108000"/>
              </a:lnSpc>
              <a:spcAft>
                <a:spcPts val="0"/>
              </a:spcAft>
            </a:pPr>
            <a:r>
              <a:rPr sz="900" b="1">
                <a:solidFill>
                  <a:srgbClr val="102C49"/>
                </a:solidFill>
                <a:latin typeface="Yu Gothic"/>
                <a:ea typeface="Yu Gothic"/>
              </a:rPr>
              <a:t>period: 期間や数値などの補足情報を1行で添えられる</a:t>
            </a:r>
          </a:p>
        </p:txBody>
      </p:sp>
      <p:sp>
        <p:nvSpPr>
          <p:cNvPr id="13" name="Rounded Rectangle 12"/>
          <p:cNvSpPr/>
          <p:nvPr/>
        </p:nvSpPr>
        <p:spPr>
          <a:xfrm>
            <a:off x="8273414" y="1335024"/>
            <a:ext cx="54864" cy="347472"/>
          </a:xfrm>
          <a:prstGeom prst="roundRect">
            <a:avLst>
              <a:gd name="adj" fmla="val 16000"/>
            </a:avLst>
          </a:prstGeom>
          <a:solidFill>
            <a:srgbClr val="53657A"/>
          </a:solidFill>
          <a:ln>
            <a:noFill/>
          </a:ln>
        </p:spPr>
        <p:txBody>
          <a:bodyPr rtlCol="0" anchor="ctr"/>
          <a:lstStyle/>
          <a:p>
            <a:pPr algn="ctr"/>
          </a:p>
        </p:txBody>
      </p:sp>
      <p:sp>
        <p:nvSpPr>
          <p:cNvPr id="14" name="TextBox 13"/>
          <p:cNvSpPr txBox="1"/>
          <p:nvPr/>
        </p:nvSpPr>
        <p:spPr>
          <a:xfrm>
            <a:off x="8419718" y="1325880"/>
            <a:ext cx="3162680"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対象外（exclusions）</a:t>
            </a:r>
          </a:p>
        </p:txBody>
      </p:sp>
      <p:sp>
        <p:nvSpPr>
          <p:cNvPr id="15" name="TextBox 14"/>
          <p:cNvSpPr txBox="1"/>
          <p:nvPr/>
        </p:nvSpPr>
        <p:spPr>
          <a:xfrm>
            <a:off x="8273414" y="1975104"/>
            <a:ext cx="3308984" cy="3849624"/>
          </a:xfrm>
          <a:prstGeom prst="rect">
            <a:avLst/>
          </a:prstGeom>
          <a:noFill/>
        </p:spPr>
        <p:txBody>
          <a:bodyPr wrap="square" lIns="0" rIns="0" tIns="0" bIns="0" anchor="t">
            <a:spAutoFit/>
          </a:bodyPr>
          <a:lstStyle/>
          <a:p>
            <a:pPr algn="l" marL="240982" indent="-240982">
              <a:lnSpc>
                <a:spcPct val="108000"/>
              </a:lnSpc>
              <a:spcBef>
                <a:spcPts val="0"/>
              </a:spcBef>
              <a:spcAft>
                <a:spcPts val="3100"/>
              </a:spcAft>
            </a:pPr>
            <a:r>
              <a:rPr sz="1150" b="1">
                <a:solidFill>
                  <a:srgbClr val="102C49"/>
                </a:solidFill>
                <a:latin typeface="Hiragino Sans"/>
                <a:ea typeface="Hiragino Sans"/>
              </a:rPr>
              <a:t>—  除外項目は配列でまとめて一括表示する</a:t>
            </a:r>
          </a:p>
          <a:p>
            <a:pPr algn="l" marL="240982" indent="-240982">
              <a:lnSpc>
                <a:spcPct val="108000"/>
              </a:lnSpc>
              <a:spcBef>
                <a:spcPts val="0"/>
              </a:spcBef>
              <a:spcAft>
                <a:spcPts val="3100"/>
              </a:spcAft>
            </a:pPr>
            <a:r>
              <a:rPr sz="1150" b="1">
                <a:solidFill>
                  <a:srgbClr val="102C49"/>
                </a:solidFill>
                <a:latin typeface="Hiragino Sans"/>
                <a:ea typeface="Hiragino Sans"/>
              </a:rPr>
              <a:t>—  個別のcard化はしない</a:t>
            </a:r>
          </a:p>
          <a:p>
            <a:pPr algn="l" marL="240982" indent="-240982">
              <a:lnSpc>
                <a:spcPct val="108000"/>
              </a:lnSpc>
              <a:spcBef>
                <a:spcPts val="0"/>
              </a:spcBef>
              <a:spcAft>
                <a:spcPts val="0"/>
              </a:spcAft>
            </a:pPr>
            <a:r>
              <a:rPr sz="1150" b="1">
                <a:solidFill>
                  <a:srgbClr val="102C49"/>
                </a:solidFill>
                <a:latin typeface="Hiragino Sans"/>
                <a:ea typeface="Hiragino Sans"/>
              </a:rPr>
              <a:t>—  対象と対象外は必ず両方示す</a:t>
            </a:r>
          </a:p>
        </p:txBody>
      </p:sp>
      <p:sp>
        <p:nvSpPr>
          <p:cNvPr id="16" name="TextBox 15"/>
          <p:cNvSpPr txBox="1"/>
          <p:nvPr/>
        </p:nvSpPr>
        <p:spPr>
          <a:xfrm>
            <a:off x="8273414" y="6035040"/>
            <a:ext cx="3308984" cy="310896"/>
          </a:xfrm>
          <a:prstGeom prst="rect">
            <a:avLst/>
          </a:prstGeom>
          <a:noFill/>
        </p:spPr>
        <p:txBody>
          <a:bodyPr wrap="square" lIns="0" rIns="0" tIns="0" bIns="0" anchor="t">
            <a:spAutoFit/>
          </a:bodyPr>
          <a:lstStyle/>
          <a:p>
            <a:pPr algn="l">
              <a:lnSpc>
                <a:spcPct val="108000"/>
              </a:lnSpc>
              <a:spcAft>
                <a:spcPts val="0"/>
              </a:spcAft>
            </a:pPr>
            <a:r>
              <a:rPr sz="900" b="1">
                <a:solidFill>
                  <a:srgbClr val="102C49"/>
                </a:solidFill>
                <a:latin typeface="Yu Gothic"/>
                <a:ea typeface="Yu Gothic"/>
              </a:rPr>
              <a:t>対象範囲と除外範囲を1ページで誤解なく伝える</a:t>
            </a:r>
          </a:p>
        </p:txBody>
      </p:sp>
      <p:sp>
        <p:nvSpPr>
          <p:cNvPr id="17" name="TextBox 16"/>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“scope_and_exclusions” — 対象範囲と対象外を同時に示す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process_with_gates: フェーズと承認ゲートを分けて描く</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900" b="0">
                <a:solidFill>
                  <a:srgbClr val="738296"/>
                </a:solidFill>
                <a:latin typeface="Yu Gothic"/>
                <a:ea typeface="Yu Gothic"/>
              </a:rPr>
              <a:t>12</a:t>
            </a:r>
          </a:p>
        </p:txBody>
      </p:sp>
      <p:sp>
        <p:nvSpPr>
          <p:cNvPr id="5" name="Rounded Rectangle 4"/>
          <p:cNvSpPr/>
          <p:nvPr/>
        </p:nvSpPr>
        <p:spPr>
          <a:xfrm>
            <a:off x="609600" y="1335024"/>
            <a:ext cx="5422391" cy="685857"/>
          </a:xfrm>
          <a:prstGeom prst="roundRect">
            <a:avLst>
              <a:gd name="adj" fmla="val 25923"/>
            </a:avLst>
          </a:prstGeom>
          <a:solidFill>
            <a:srgbClr val="E1EDFC"/>
          </a:solidFill>
          <a:ln>
            <a:noFill/>
          </a:ln>
        </p:spPr>
        <p:txBody>
          <a:bodyPr rtlCol="0" anchor="ctr"/>
          <a:lstStyle/>
          <a:p>
            <a:pPr algn="ctr"/>
          </a:p>
        </p:txBody>
      </p:sp>
      <p:sp>
        <p:nvSpPr>
          <p:cNvPr id="6" name="TextBox 5"/>
          <p:cNvSpPr txBox="1"/>
          <p:nvPr/>
        </p:nvSpPr>
        <p:spPr>
          <a:xfrm>
            <a:off x="746760" y="1472184"/>
            <a:ext cx="5148071" cy="274320"/>
          </a:xfrm>
          <a:prstGeom prst="rect">
            <a:avLst/>
          </a:prstGeom>
          <a:noFill/>
        </p:spPr>
        <p:txBody>
          <a:bodyPr wrap="square" lIns="0" rIns="0" tIns="0" bIns="0" anchor="t">
            <a:spAutoFit/>
          </a:bodyPr>
          <a:lstStyle/>
          <a:p>
            <a:pPr algn="ctr">
              <a:lnSpc>
                <a:spcPct val="108000"/>
              </a:lnSpc>
              <a:spcAft>
                <a:spcPts val="0"/>
              </a:spcAft>
            </a:pPr>
            <a:r>
              <a:rPr sz="1150" b="1">
                <a:solidFill>
                  <a:srgbClr val="102C49"/>
                </a:solidFill>
                <a:latin typeface="Yu Gothic"/>
                <a:ea typeface="Yu Gothic"/>
              </a:rPr>
              <a:t>フェーズ</a:t>
            </a:r>
          </a:p>
        </p:txBody>
      </p:sp>
      <p:sp>
        <p:nvSpPr>
          <p:cNvPr id="7" name="Rounded Rectangle 6"/>
          <p:cNvSpPr/>
          <p:nvPr/>
        </p:nvSpPr>
        <p:spPr>
          <a:xfrm>
            <a:off x="6160007" y="1335024"/>
            <a:ext cx="5422391" cy="685857"/>
          </a:xfrm>
          <a:prstGeom prst="roundRect">
            <a:avLst>
              <a:gd name="adj" fmla="val 25923"/>
            </a:avLst>
          </a:prstGeom>
          <a:solidFill>
            <a:srgbClr val="E7EBF0"/>
          </a:solidFill>
          <a:ln>
            <a:noFill/>
          </a:ln>
        </p:spPr>
        <p:txBody>
          <a:bodyPr rtlCol="0" anchor="ctr"/>
          <a:lstStyle/>
          <a:p>
            <a:pPr algn="ctr"/>
          </a:p>
        </p:txBody>
      </p:sp>
      <p:sp>
        <p:nvSpPr>
          <p:cNvPr id="8" name="TextBox 7"/>
          <p:cNvSpPr txBox="1"/>
          <p:nvPr/>
        </p:nvSpPr>
        <p:spPr>
          <a:xfrm>
            <a:off x="6297167" y="1472184"/>
            <a:ext cx="5148071" cy="274320"/>
          </a:xfrm>
          <a:prstGeom prst="rect">
            <a:avLst/>
          </a:prstGeom>
          <a:noFill/>
        </p:spPr>
        <p:txBody>
          <a:bodyPr wrap="square" lIns="0" rIns="0" tIns="0" bIns="0" anchor="t">
            <a:spAutoFit/>
          </a:bodyPr>
          <a:lstStyle/>
          <a:p>
            <a:pPr algn="ctr">
              <a:lnSpc>
                <a:spcPct val="108000"/>
              </a:lnSpc>
              <a:spcAft>
                <a:spcPts val="0"/>
              </a:spcAft>
            </a:pPr>
            <a:r>
              <a:rPr sz="1150" b="1">
                <a:solidFill>
                  <a:srgbClr val="102C49"/>
                </a:solidFill>
                <a:latin typeface="Yu Gothic"/>
                <a:ea typeface="Yu Gothic"/>
              </a:rPr>
              <a:t>ゲート</a:t>
            </a:r>
          </a:p>
        </p:txBody>
      </p:sp>
      <p:sp>
        <p:nvSpPr>
          <p:cNvPr id="9" name="TextBox 8"/>
          <p:cNvSpPr txBox="1"/>
          <p:nvPr/>
        </p:nvSpPr>
        <p:spPr>
          <a:xfrm>
            <a:off x="609600" y="2359209"/>
            <a:ext cx="5422391" cy="256032"/>
          </a:xfrm>
          <a:prstGeom prst="rect">
            <a:avLst/>
          </a:prstGeom>
          <a:noFill/>
        </p:spPr>
        <p:txBody>
          <a:bodyPr wrap="square" lIns="0" rIns="0" tIns="0" bIns="0" anchor="t">
            <a:spAutoFit/>
          </a:bodyPr>
          <a:lstStyle/>
          <a:p>
            <a:pPr algn="l">
              <a:lnSpc>
                <a:spcPct val="108000"/>
              </a:lnSpc>
              <a:spcAft>
                <a:spcPts val="0"/>
              </a:spcAft>
            </a:pPr>
            <a:r>
              <a:rPr sz="900" b="1">
                <a:solidFill>
                  <a:srgbClr val="2574D9"/>
                </a:solidFill>
                <a:latin typeface="Yu Gothic"/>
                <a:ea typeface="Yu Gothic"/>
              </a:rPr>
              <a:t>PHASE</a:t>
            </a:r>
          </a:p>
        </p:txBody>
      </p:sp>
      <p:sp>
        <p:nvSpPr>
          <p:cNvPr id="10" name="TextBox 9"/>
          <p:cNvSpPr txBox="1"/>
          <p:nvPr/>
        </p:nvSpPr>
        <p:spPr>
          <a:xfrm>
            <a:off x="609600" y="2761545"/>
            <a:ext cx="5422391" cy="1644201"/>
          </a:xfrm>
          <a:prstGeom prst="rect">
            <a:avLst/>
          </a:prstGeom>
          <a:noFill/>
        </p:spPr>
        <p:txBody>
          <a:bodyPr wrap="square" lIns="0" rIns="0" tIns="0" bIns="0" anchor="t">
            <a:spAutoFit/>
          </a:bodyPr>
          <a:lstStyle/>
          <a:p>
            <a:pPr algn="l" marL="306705" indent="-306705">
              <a:lnSpc>
                <a:spcPct val="108000"/>
              </a:lnSpc>
              <a:spcBef>
                <a:spcPts val="0"/>
              </a:spcBef>
              <a:spcAft>
                <a:spcPts val="2900"/>
              </a:spcAft>
            </a:pPr>
            <a:r>
              <a:rPr sz="1150" b="1">
                <a:solidFill>
                  <a:srgbClr val="102C49"/>
                </a:solidFill>
                <a:latin typeface="Hiragino Sans"/>
                <a:ea typeface="Hiragino Sans"/>
              </a:rPr>
              <a:t>・  phases配列の各要素が1つのレーンになる</a:t>
            </a:r>
          </a:p>
          <a:p>
            <a:pPr algn="l" marL="306705" indent="-306705">
              <a:lnSpc>
                <a:spcPct val="108000"/>
              </a:lnSpc>
              <a:spcBef>
                <a:spcPts val="0"/>
              </a:spcBef>
              <a:spcAft>
                <a:spcPts val="0"/>
              </a:spcAft>
            </a:pPr>
            <a:r>
              <a:rPr sz="1150" b="1">
                <a:solidFill>
                  <a:srgbClr val="102C49"/>
                </a:solidFill>
                <a:latin typeface="Hiragino Sans"/>
                <a:ea typeface="Hiragino Sans"/>
              </a:rPr>
              <a:t>・  weightで幅の比率を調整できる</a:t>
            </a:r>
          </a:p>
        </p:txBody>
      </p:sp>
      <p:sp>
        <p:nvSpPr>
          <p:cNvPr id="11" name="TextBox 10"/>
          <p:cNvSpPr txBox="1"/>
          <p:nvPr/>
        </p:nvSpPr>
        <p:spPr>
          <a:xfrm>
            <a:off x="6160007" y="2359209"/>
            <a:ext cx="5422391" cy="256032"/>
          </a:xfrm>
          <a:prstGeom prst="rect">
            <a:avLst/>
          </a:prstGeom>
          <a:noFill/>
        </p:spPr>
        <p:txBody>
          <a:bodyPr wrap="square" lIns="0" rIns="0" tIns="0" bIns="0" anchor="t">
            <a:spAutoFit/>
          </a:bodyPr>
          <a:lstStyle/>
          <a:p>
            <a:pPr algn="l">
              <a:lnSpc>
                <a:spcPct val="108000"/>
              </a:lnSpc>
              <a:spcAft>
                <a:spcPts val="0"/>
              </a:spcAft>
            </a:pPr>
            <a:r>
              <a:rPr sz="900" b="1">
                <a:solidFill>
                  <a:srgbClr val="2574D9"/>
                </a:solidFill>
                <a:latin typeface="Yu Gothic"/>
                <a:ea typeface="Yu Gothic"/>
              </a:rPr>
              <a:t>GATE</a:t>
            </a:r>
          </a:p>
        </p:txBody>
      </p:sp>
      <p:sp>
        <p:nvSpPr>
          <p:cNvPr id="12" name="TextBox 11"/>
          <p:cNvSpPr txBox="1"/>
          <p:nvPr/>
        </p:nvSpPr>
        <p:spPr>
          <a:xfrm>
            <a:off x="6160007" y="2761545"/>
            <a:ext cx="5422391" cy="1644201"/>
          </a:xfrm>
          <a:prstGeom prst="rect">
            <a:avLst/>
          </a:prstGeom>
          <a:noFill/>
        </p:spPr>
        <p:txBody>
          <a:bodyPr wrap="square" lIns="0" rIns="0" tIns="0" bIns="0" anchor="t">
            <a:spAutoFit/>
          </a:bodyPr>
          <a:lstStyle/>
          <a:p>
            <a:pPr algn="l" marL="306705" indent="-306705">
              <a:lnSpc>
                <a:spcPct val="108000"/>
              </a:lnSpc>
              <a:spcBef>
                <a:spcPts val="0"/>
              </a:spcBef>
              <a:spcAft>
                <a:spcPts val="2900"/>
              </a:spcAft>
            </a:pPr>
            <a:r>
              <a:rPr sz="1150" b="1">
                <a:solidFill>
                  <a:srgbClr val="102C49"/>
                </a:solidFill>
                <a:latin typeface="Hiragino Sans"/>
                <a:ea typeface="Hiragino Sans"/>
              </a:rPr>
              <a:t>・  gatesは0〜1のpositionで時系列上に配置</a:t>
            </a:r>
          </a:p>
          <a:p>
            <a:pPr algn="l" marL="306705" indent="-306705">
              <a:lnSpc>
                <a:spcPct val="108000"/>
              </a:lnSpc>
              <a:spcBef>
                <a:spcPts val="0"/>
              </a:spcBef>
              <a:spcAft>
                <a:spcPts val="0"/>
              </a:spcAft>
            </a:pPr>
            <a:r>
              <a:rPr sz="1150" b="1">
                <a:solidFill>
                  <a:srgbClr val="102C49"/>
                </a:solidFill>
                <a:latin typeface="Hiragino Sans"/>
                <a:ea typeface="Hiragino Sans"/>
              </a:rPr>
              <a:t>・  承認・判断のタイミングを示す</a:t>
            </a:r>
          </a:p>
        </p:txBody>
      </p:sp>
      <p:sp>
        <p:nvSpPr>
          <p:cNvPr id="13" name="Rectangle 12"/>
          <p:cNvSpPr/>
          <p:nvPr/>
        </p:nvSpPr>
        <p:spPr>
          <a:xfrm>
            <a:off x="609600" y="4972674"/>
            <a:ext cx="10972799" cy="12700"/>
          </a:xfrm>
          <a:prstGeom prst="rect">
            <a:avLst/>
          </a:prstGeom>
          <a:solidFill>
            <a:srgbClr val="D7DEE6"/>
          </a:solidFill>
          <a:ln>
            <a:noFill/>
          </a:ln>
        </p:spPr>
        <p:txBody>
          <a:bodyPr rtlCol="0" anchor="ctr"/>
          <a:lstStyle/>
          <a:p>
            <a:pPr algn="ctr"/>
          </a:p>
        </p:txBody>
      </p:sp>
      <p:sp>
        <p:nvSpPr>
          <p:cNvPr id="14" name="Oval 13"/>
          <p:cNvSpPr/>
          <p:nvPr/>
        </p:nvSpPr>
        <p:spPr>
          <a:xfrm>
            <a:off x="3851147" y="4922382"/>
            <a:ext cx="100584" cy="100584"/>
          </a:xfrm>
          <a:prstGeom prst="ellipse">
            <a:avLst/>
          </a:prstGeom>
          <a:solidFill>
            <a:srgbClr val="2574D9"/>
          </a:solidFill>
          <a:ln>
            <a:noFill/>
          </a:ln>
        </p:spPr>
        <p:txBody>
          <a:bodyPr rtlCol="0" anchor="ctr"/>
          <a:lstStyle/>
          <a:p>
            <a:pPr algn="ctr"/>
          </a:p>
        </p:txBody>
      </p:sp>
      <p:sp>
        <p:nvSpPr>
          <p:cNvPr id="15" name="TextBox 14"/>
          <p:cNvSpPr txBox="1"/>
          <p:nvPr/>
        </p:nvSpPr>
        <p:spPr>
          <a:xfrm>
            <a:off x="3101339" y="5137266"/>
            <a:ext cx="1600200" cy="310896"/>
          </a:xfrm>
          <a:prstGeom prst="rect">
            <a:avLst/>
          </a:prstGeom>
          <a:noFill/>
        </p:spPr>
        <p:txBody>
          <a:bodyPr wrap="square" lIns="0" rIns="0" tIns="0" bIns="0" anchor="t">
            <a:spAutoFit/>
          </a:bodyPr>
          <a:lstStyle/>
          <a:p>
            <a:pPr algn="ctr">
              <a:lnSpc>
                <a:spcPct val="108000"/>
              </a:lnSpc>
              <a:spcAft>
                <a:spcPts val="0"/>
              </a:spcAft>
            </a:pPr>
            <a:r>
              <a:rPr sz="900" b="1">
                <a:solidFill>
                  <a:srgbClr val="102C49"/>
                </a:solidFill>
                <a:latin typeface="Yu Gothic"/>
                <a:ea typeface="Yu Gothic"/>
              </a:rPr>
              <a:t>ゲート1</a:t>
            </a:r>
          </a:p>
        </p:txBody>
      </p:sp>
      <p:sp>
        <p:nvSpPr>
          <p:cNvPr id="16" name="Oval 15"/>
          <p:cNvSpPr/>
          <p:nvPr/>
        </p:nvSpPr>
        <p:spPr>
          <a:xfrm>
            <a:off x="11532107" y="4922382"/>
            <a:ext cx="100584" cy="100584"/>
          </a:xfrm>
          <a:prstGeom prst="ellipse">
            <a:avLst/>
          </a:prstGeom>
          <a:solidFill>
            <a:srgbClr val="2574D9"/>
          </a:solidFill>
          <a:ln>
            <a:noFill/>
          </a:ln>
        </p:spPr>
        <p:txBody>
          <a:bodyPr rtlCol="0" anchor="ctr"/>
          <a:lstStyle/>
          <a:p>
            <a:pPr algn="ctr"/>
          </a:p>
        </p:txBody>
      </p:sp>
      <p:sp>
        <p:nvSpPr>
          <p:cNvPr id="17" name="TextBox 16"/>
          <p:cNvSpPr txBox="1"/>
          <p:nvPr/>
        </p:nvSpPr>
        <p:spPr>
          <a:xfrm>
            <a:off x="9982199" y="5137266"/>
            <a:ext cx="1600200" cy="310896"/>
          </a:xfrm>
          <a:prstGeom prst="rect">
            <a:avLst/>
          </a:prstGeom>
          <a:noFill/>
        </p:spPr>
        <p:txBody>
          <a:bodyPr wrap="square" lIns="0" rIns="0" tIns="0" bIns="0" anchor="t">
            <a:spAutoFit/>
          </a:bodyPr>
          <a:lstStyle/>
          <a:p>
            <a:pPr algn="r">
              <a:lnSpc>
                <a:spcPct val="108000"/>
              </a:lnSpc>
              <a:spcAft>
                <a:spcPts val="0"/>
              </a:spcAft>
            </a:pPr>
            <a:r>
              <a:rPr sz="900" b="1">
                <a:solidFill>
                  <a:srgbClr val="102C49"/>
                </a:solidFill>
                <a:latin typeface="Yu Gothic"/>
                <a:ea typeface="Yu Gothic"/>
              </a:rPr>
              <a:t>ゲート2</a:t>
            </a:r>
          </a:p>
        </p:txBody>
      </p:sp>
      <p:sp>
        <p:nvSpPr>
          <p:cNvPr id="18" name="Rectangle 17"/>
          <p:cNvSpPr/>
          <p:nvPr/>
        </p:nvSpPr>
        <p:spPr>
          <a:xfrm>
            <a:off x="609600" y="5828487"/>
            <a:ext cx="347472" cy="25400"/>
          </a:xfrm>
          <a:prstGeom prst="rect">
            <a:avLst/>
          </a:prstGeom>
          <a:solidFill>
            <a:srgbClr val="2574D9"/>
          </a:solidFill>
          <a:ln>
            <a:noFill/>
          </a:ln>
        </p:spPr>
        <p:txBody>
          <a:bodyPr rtlCol="0" anchor="ctr"/>
          <a:lstStyle/>
          <a:p>
            <a:pPr algn="ctr"/>
          </a:p>
        </p:txBody>
      </p:sp>
      <p:sp>
        <p:nvSpPr>
          <p:cNvPr id="19" name="TextBox 18"/>
          <p:cNvSpPr txBox="1"/>
          <p:nvPr/>
        </p:nvSpPr>
        <p:spPr>
          <a:xfrm>
            <a:off x="609600" y="5983935"/>
            <a:ext cx="10972799" cy="502920"/>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Hiragino Sans"/>
                <a:ea typeface="Hiragino Sans"/>
              </a:rPr>
              <a:t>フェーズは横並びのレーン、ゲートは別レイヤーの時系列軸</a:t>
            </a:r>
          </a:p>
        </p:txBody>
      </p:sp>
      <p:sp>
        <p:nvSpPr>
          <p:cNvPr id="20" name="TextBox 19"/>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“process_with_gates” — フェーズ、作業、判断時点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table_with_conclusion: 表と結論をセットで示す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900" b="0">
                <a:solidFill>
                  <a:srgbClr val="738296"/>
                </a:solidFill>
                <a:latin typeface="Yu Gothic"/>
                <a:ea typeface="Yu Gothic"/>
              </a:rPr>
              <a:t>13</a:t>
            </a:r>
          </a:p>
        </p:txBody>
      </p:sp>
      <p:graphicFrame>
        <p:nvGraphicFramePr>
          <p:cNvPr id="5" name="Table 4"/>
          <p:cNvGraphicFramePr>
            <a:graphicFrameLocks noGrp="1"/>
          </p:cNvGraphicFramePr>
          <p:nvPr/>
        </p:nvGraphicFramePr>
        <p:xfrm>
          <a:off x="609600" y="1335024"/>
          <a:ext cx="10972797" cy="4173774"/>
        </p:xfrm>
        <a:graphic>
          <a:graphicData uri="http://schemas.openxmlformats.org/drawingml/2006/table">
            <a:tbl>
              <a:tblPr firstRow="1" bandRow="1">
                <a:tableStyleId>{5C22544A-7EE6-4342-B048-85BDC9FD1C3A}</a:tableStyleId>
              </a:tblPr>
              <a:tblGrid>
                <a:gridCol w="2593570"/>
                <a:gridCol w="6583679"/>
                <a:gridCol w="1795548"/>
              </a:tblGrid>
              <a:tr h="695629">
                <a:tc>
                  <a:txBody>
                    <a:bodyPr/>
                    <a:lstStyle/>
                    <a:p>
                      <a:pPr algn="l"/>
                      <a:r>
                        <a:rPr sz="1150" b="1">
                          <a:solidFill>
                            <a:srgbClr val="102C49"/>
                          </a:solidFill>
                          <a:latin typeface="Hiragino Sans"/>
                          <a:ea typeface="Hiragino Sans"/>
                        </a:rPr>
                        <a:t>項目</a:t>
                      </a:r>
                    </a:p>
                  </a:txBody>
                  <a:tcPr marL="146304" marR="146304" marT="54864" marB="54864" anchor="ctr">
                    <a:solidFill>
                      <a:srgbClr val="E7EBF0"/>
                    </a:solidFill>
                    <a:lnL>
                      <a:noFill/>
                    </a:lnL>
                    <a:lnR>
                      <a:noFill/>
                    </a:lnR>
                    <a:lnT>
                      <a:noFill/>
                    </a:lnT>
                    <a:lnB w="17780">
                      <a:solidFill>
                        <a:srgbClr val="102C49"/>
                      </a:solidFill>
                    </a:lnB>
                  </a:tcPr>
                </a:tc>
                <a:tc>
                  <a:txBody>
                    <a:bodyPr/>
                    <a:lstStyle/>
                    <a:p>
                      <a:pPr algn="l"/>
                      <a:r>
                        <a:rPr sz="1150" b="1">
                          <a:solidFill>
                            <a:srgbClr val="102C49"/>
                          </a:solidFill>
                          <a:latin typeface="Hiragino Sans"/>
                          <a:ea typeface="Hiragino Sans"/>
                        </a:rPr>
                        <a:t>編集性の工夫</a:t>
                      </a:r>
                    </a:p>
                  </a:txBody>
                  <a:tcPr marL="146304" marR="146304" marT="54864" marB="54864" anchor="ctr">
                    <a:solidFill>
                      <a:srgbClr val="E7EBF0"/>
                    </a:solidFill>
                    <a:lnL>
                      <a:noFill/>
                    </a:lnL>
                    <a:lnR>
                      <a:noFill/>
                    </a:lnR>
                    <a:lnT>
                      <a:noFill/>
                    </a:lnT>
                    <a:lnB w="17780">
                      <a:solidFill>
                        <a:srgbClr val="102C49"/>
                      </a:solidFill>
                    </a:lnB>
                  </a:tcPr>
                </a:tc>
                <a:tc>
                  <a:txBody>
                    <a:bodyPr/>
                    <a:lstStyle/>
                    <a:p>
                      <a:pPr algn="ctr"/>
                      <a:r>
                        <a:rPr sz="1150" b="1">
                          <a:solidFill>
                            <a:srgbClr val="102C49"/>
                          </a:solidFill>
                          <a:latin typeface="Hiragino Sans"/>
                          <a:ea typeface="Hiragino Sans"/>
                        </a:rPr>
                        <a:t>備考</a:t>
                      </a:r>
                    </a:p>
                  </a:txBody>
                  <a:tcPr marL="146304" marR="146304" marT="54864" marB="54864" anchor="ctr">
                    <a:solidFill>
                      <a:srgbClr val="E7EBF0"/>
                    </a:solidFill>
                    <a:lnL>
                      <a:noFill/>
                    </a:lnL>
                    <a:lnR>
                      <a:noFill/>
                    </a:lnR>
                    <a:lnT>
                      <a:noFill/>
                    </a:lnT>
                    <a:lnB w="17780">
                      <a:solidFill>
                        <a:srgbClr val="102C49"/>
                      </a:solidFill>
                    </a:lnB>
                  </a:tcPr>
                </a:tc>
              </a:tr>
              <a:tr h="695629">
                <a:tc>
                  <a:txBody>
                    <a:bodyPr/>
                    <a:lstStyle/>
                    <a:p>
                      <a:pPr algn="l"/>
                      <a:r>
                        <a:rPr sz="1150" b="0">
                          <a:solidFill>
                            <a:srgbClr val="102C49"/>
                          </a:solidFill>
                          <a:latin typeface="Hiragino Sans"/>
                          <a:ea typeface="Hiragino Sans"/>
                        </a:rPr>
                        <a:t>ネイティブtable</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PowerPointの表機能で作るため、画像化せずセルの文字を直接クリックして編集できる</a:t>
                      </a:r>
                    </a:p>
                  </a:txBody>
                  <a:tcPr marL="146304" marR="146304" marT="54864" marB="54864" anchor="ctr">
                    <a:solidFill>
                      <a:srgbClr val="FFFFFF"/>
                    </a:solidFill>
                    <a:lnL>
                      <a:noFill/>
                    </a:lnL>
                    <a:lnR>
                      <a:noFill/>
                    </a:lnR>
                    <a:lnT>
                      <a:noFill/>
                    </a:lnT>
                    <a:lnB w="9525">
                      <a:solidFill>
                        <a:srgbClr val="D7DEE6"/>
                      </a:solidFill>
                    </a:lnB>
                  </a:tcPr>
                </a:tc>
                <a:tc>
                  <a:txBody>
                    <a:bodyPr/>
                    <a:lstStyle/>
                    <a:p>
                      <a:pPr algn="ctr"/>
                      <a:r>
                        <a:rPr sz="1150" b="0">
                          <a:solidFill>
                            <a:srgbClr val="102C49"/>
                          </a:solidFill>
                          <a:latin typeface="Hiragino Sans"/>
                          <a:ea typeface="Hiragino Sans"/>
                        </a:rPr>
                        <a:t>必須</a:t>
                      </a:r>
                    </a:p>
                  </a:txBody>
                  <a:tcPr marL="146304" marR="146304" marT="54864" marB="54864" anchor="ctr">
                    <a:solidFill>
                      <a:srgbClr val="FFFFFF"/>
                    </a:solidFill>
                    <a:lnL>
                      <a:noFill/>
                    </a:lnL>
                    <a:lnR>
                      <a:noFill/>
                    </a:lnR>
                    <a:lnT>
                      <a:noFill/>
                    </a:lnT>
                    <a:lnB w="9525">
                      <a:solidFill>
                        <a:srgbClr val="D7DEE6"/>
                      </a:solidFill>
                    </a:lnB>
                  </a:tcPr>
                </a:tc>
              </a:tr>
              <a:tr h="695629">
                <a:tc>
                  <a:txBody>
                    <a:bodyPr/>
                    <a:lstStyle/>
                    <a:p>
                      <a:pPr algn="l"/>
                      <a:r>
                        <a:rPr sz="1150" b="0">
                          <a:solidFill>
                            <a:srgbClr val="102C49"/>
                          </a:solidFill>
                          <a:latin typeface="Hiragino Sans"/>
                          <a:ea typeface="Hiragino Sans"/>
                        </a:rPr>
                        <a:t>縦線なし</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列の区切りは余白だけで示す。全辺に線を引くと構造がのっぺりして見える</a:t>
                      </a:r>
                    </a:p>
                  </a:txBody>
                  <a:tcPr marL="146304" marR="146304" marT="54864" marB="54864" anchor="ctr">
                    <a:solidFill>
                      <a:srgbClr val="FFFFFF"/>
                    </a:solidFill>
                    <a:lnL>
                      <a:noFill/>
                    </a:lnL>
                    <a:lnR>
                      <a:noFill/>
                    </a:lnR>
                    <a:lnT>
                      <a:noFill/>
                    </a:lnT>
                    <a:lnB w="9525">
                      <a:solidFill>
                        <a:srgbClr val="D7DEE6"/>
                      </a:solidFill>
                    </a:lnB>
                  </a:tcPr>
                </a:tc>
                <a:tc>
                  <a:txBody>
                    <a:bodyPr/>
                    <a:lstStyle/>
                    <a:p>
                      <a:pPr algn="ctr"/>
                      <a:r>
                        <a:rPr sz="1150" b="0">
                          <a:solidFill>
                            <a:srgbClr val="102C49"/>
                          </a:solidFill>
                          <a:latin typeface="Hiragino Sans"/>
                          <a:ea typeface="Hiragino Sans"/>
                        </a:rPr>
                        <a:t>任意</a:t>
                      </a:r>
                    </a:p>
                  </a:txBody>
                  <a:tcPr marL="146304" marR="146304" marT="54864" marB="54864" anchor="ctr">
                    <a:solidFill>
                      <a:srgbClr val="FFFFFF"/>
                    </a:solidFill>
                    <a:lnL>
                      <a:noFill/>
                    </a:lnL>
                    <a:lnR>
                      <a:noFill/>
                    </a:lnR>
                    <a:lnT>
                      <a:noFill/>
                    </a:lnT>
                    <a:lnB w="9525">
                      <a:solidFill>
                        <a:srgbClr val="D7DEE6"/>
                      </a:solidFill>
                    </a:lnB>
                  </a:tcPr>
                </a:tc>
              </a:tr>
              <a:tr h="695629">
                <a:tc>
                  <a:txBody>
                    <a:bodyPr/>
                    <a:lstStyle/>
                    <a:p>
                      <a:pPr algn="l"/>
                      <a:r>
                        <a:rPr sz="1150" b="0">
                          <a:solidFill>
                            <a:srgbClr val="102C49"/>
                          </a:solidFill>
                          <a:latin typeface="Hiragino Sans"/>
                          <a:ea typeface="Hiragino Sans"/>
                        </a:rPr>
                        <a:t>ヘッダー下だけ強罫線</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本文行は薄い横線のみ。ヘッダーと本文の境界だけを強く見せる</a:t>
                      </a:r>
                    </a:p>
                  </a:txBody>
                  <a:tcPr marL="146304" marR="146304" marT="54864" marB="54864" anchor="ctr">
                    <a:solidFill>
                      <a:srgbClr val="FFFFFF"/>
                    </a:solidFill>
                    <a:lnL>
                      <a:noFill/>
                    </a:lnL>
                    <a:lnR>
                      <a:noFill/>
                    </a:lnR>
                    <a:lnT>
                      <a:noFill/>
                    </a:lnT>
                    <a:lnB w="9525">
                      <a:solidFill>
                        <a:srgbClr val="D7DEE6"/>
                      </a:solidFill>
                    </a:lnB>
                  </a:tcPr>
                </a:tc>
                <a:tc>
                  <a:txBody>
                    <a:bodyPr/>
                    <a:lstStyle/>
                    <a:p>
                      <a:pPr algn="ctr"/>
                      <a:r>
                        <a:rPr sz="1150" b="0">
                          <a:solidFill>
                            <a:srgbClr val="102C49"/>
                          </a:solidFill>
                          <a:latin typeface="Hiragino Sans"/>
                          <a:ea typeface="Hiragino Sans"/>
                        </a:rPr>
                        <a:t>任意</a:t>
                      </a:r>
                    </a:p>
                  </a:txBody>
                  <a:tcPr marL="146304" marR="146304" marT="54864" marB="54864" anchor="ctr">
                    <a:solidFill>
                      <a:srgbClr val="FFFFFF"/>
                    </a:solidFill>
                    <a:lnL>
                      <a:noFill/>
                    </a:lnL>
                    <a:lnR>
                      <a:noFill/>
                    </a:lnR>
                    <a:lnT>
                      <a:noFill/>
                    </a:lnT>
                    <a:lnB w="9525">
                      <a:solidFill>
                        <a:srgbClr val="D7DEE6"/>
                      </a:solidFill>
                    </a:lnB>
                  </a:tcPr>
                </a:tc>
              </a:tr>
              <a:tr h="695629">
                <a:tc>
                  <a:txBody>
                    <a:bodyPr/>
                    <a:lstStyle/>
                    <a:p>
                      <a:pPr algn="l"/>
                      <a:r>
                        <a:rPr sz="1150" b="1">
                          <a:solidFill>
                            <a:srgbClr val="2574D9"/>
                          </a:solidFill>
                          <a:latin typeface="Hiragino Sans"/>
                          <a:ea typeface="Hiragino Sans"/>
                        </a:rPr>
                        <a:t>_highlight: true</a:t>
                      </a:r>
                    </a:p>
                  </a:txBody>
                  <a:tcPr marL="146304" marR="146304" marT="54864" marB="54864" anchor="ctr">
                    <a:solidFill>
                      <a:srgbClr val="E1EDFC"/>
                    </a:solidFill>
                    <a:lnL>
                      <a:noFill/>
                    </a:lnL>
                    <a:lnR>
                      <a:noFill/>
                    </a:lnR>
                    <a:lnT>
                      <a:noFill/>
                    </a:lnT>
                    <a:lnB w="9525">
                      <a:solidFill>
                        <a:srgbClr val="D7DEE6"/>
                      </a:solidFill>
                    </a:lnB>
                  </a:tcPr>
                </a:tc>
                <a:tc>
                  <a:txBody>
                    <a:bodyPr/>
                    <a:lstStyle/>
                    <a:p>
                      <a:pPr algn="l"/>
                      <a:r>
                        <a:rPr sz="1150" b="1">
                          <a:solidFill>
                            <a:srgbClr val="2574D9"/>
                          </a:solidFill>
                          <a:latin typeface="Hiragino Sans"/>
                          <a:ea typeface="Hiragino Sans"/>
                        </a:rPr>
                        <a:t>行に付けると太字＋淡色背景で強調表示。装飾用の追加shapeは不要</a:t>
                      </a:r>
                    </a:p>
                  </a:txBody>
                  <a:tcPr marL="146304" marR="146304" marT="54864" marB="54864" anchor="ctr">
                    <a:solidFill>
                      <a:srgbClr val="E1EDFC"/>
                    </a:solidFill>
                    <a:lnL>
                      <a:noFill/>
                    </a:lnL>
                    <a:lnR>
                      <a:noFill/>
                    </a:lnR>
                    <a:lnT>
                      <a:noFill/>
                    </a:lnT>
                    <a:lnB w="9525">
                      <a:solidFill>
                        <a:srgbClr val="D7DEE6"/>
                      </a:solidFill>
                    </a:lnB>
                  </a:tcPr>
                </a:tc>
                <a:tc>
                  <a:txBody>
                    <a:bodyPr/>
                    <a:lstStyle/>
                    <a:p>
                      <a:pPr algn="ctr"/>
                      <a:r>
                        <a:rPr sz="1150" b="1">
                          <a:solidFill>
                            <a:srgbClr val="2574D9"/>
                          </a:solidFill>
                          <a:latin typeface="Hiragino Sans"/>
                          <a:ea typeface="Hiragino Sans"/>
                        </a:rPr>
                        <a:t>任意</a:t>
                      </a:r>
                    </a:p>
                  </a:txBody>
                  <a:tcPr marL="146304" marR="146304" marT="54864" marB="54864" anchor="ctr">
                    <a:solidFill>
                      <a:srgbClr val="E1EDFC"/>
                    </a:solidFill>
                    <a:lnL>
                      <a:noFill/>
                    </a:lnL>
                    <a:lnR>
                      <a:noFill/>
                    </a:lnR>
                    <a:lnT>
                      <a:noFill/>
                    </a:lnT>
                    <a:lnB w="9525">
                      <a:solidFill>
                        <a:srgbClr val="D7DEE6"/>
                      </a:solidFill>
                    </a:lnB>
                  </a:tcPr>
                </a:tc>
              </a:tr>
              <a:tr h="695629">
                <a:tc>
                  <a:txBody>
                    <a:bodyPr/>
                    <a:lstStyle/>
                    <a:p>
                      <a:pPr algn="l"/>
                      <a:r>
                        <a:rPr sz="1150" b="0">
                          <a:solidFill>
                            <a:srgbClr val="102C49"/>
                          </a:solidFill>
                          <a:latin typeface="Hiragino Sans"/>
                          <a:ea typeface="Hiragino Sans"/>
                        </a:rPr>
                        <a:t>rows配列</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各要素が1行になる。件数の増減はrows配列を増減するだけでレイアウト再設計は不要</a:t>
                      </a:r>
                    </a:p>
                  </a:txBody>
                  <a:tcPr marL="146304" marR="146304" marT="54864" marB="54864" anchor="ctr">
                    <a:solidFill>
                      <a:srgbClr val="FFFFFF"/>
                    </a:solidFill>
                    <a:lnL>
                      <a:noFill/>
                    </a:lnL>
                    <a:lnR>
                      <a:noFill/>
                    </a:lnR>
                    <a:lnT>
                      <a:noFill/>
                    </a:lnT>
                    <a:lnB w="9525">
                      <a:solidFill>
                        <a:srgbClr val="D7DEE6"/>
                      </a:solidFill>
                    </a:lnB>
                  </a:tcPr>
                </a:tc>
                <a:tc>
                  <a:txBody>
                    <a:bodyPr/>
                    <a:lstStyle/>
                    <a:p>
                      <a:pPr algn="ctr"/>
                      <a:r>
                        <a:rPr sz="1150" b="0">
                          <a:solidFill>
                            <a:srgbClr val="102C49"/>
                          </a:solidFill>
                          <a:latin typeface="Hiragino Sans"/>
                          <a:ea typeface="Hiragino Sans"/>
                        </a:rPr>
                        <a:t>必須</a:t>
                      </a:r>
                    </a:p>
                  </a:txBody>
                  <a:tcPr marL="146304" marR="146304" marT="54864" marB="54864" anchor="ctr">
                    <a:solidFill>
                      <a:srgbClr val="FFFFFF"/>
                    </a:solidFill>
                    <a:lnL>
                      <a:noFill/>
                    </a:lnL>
                    <a:lnR>
                      <a:noFill/>
                    </a:lnR>
                    <a:lnT>
                      <a:noFill/>
                    </a:lnT>
                    <a:lnB w="9525">
                      <a:solidFill>
                        <a:srgbClr val="D7DEE6"/>
                      </a:solidFill>
                    </a:lnB>
                  </a:tcPr>
                </a:tc>
              </a:tr>
            </a:tbl>
          </a:graphicData>
        </a:graphic>
      </p:graphicFrame>
      <p:sp>
        <p:nvSpPr>
          <p:cNvPr id="6" name="Rounded Rectangle 5"/>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150" b="1">
                <a:solidFill>
                  <a:srgbClr val="102C49"/>
                </a:solidFill>
                <a:latin typeface="Hiragino Sans"/>
                <a:ea typeface="Hiragino Sans"/>
              </a:rPr>
              <a:t>結論は表の外に独立させ、表そのものは常にネイティブPowerPoint tableで作る</a:t>
            </a:r>
          </a:p>
        </p:txBody>
      </p:sp>
      <p:sp>
        <p:nvSpPr>
          <p:cNvPr id="7" name="TextBox 6"/>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“table_with_conclusion” — 条件、比較、評価を表で読む。ネイティブtableのため件数が増えても行を足すだけ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000" b="1">
                <a:solidFill>
                  <a:srgbClr val="102C49"/>
                </a:solidFill>
                <a:latin typeface="Hiragino Sans"/>
                <a:ea typeface="Hiragino Sans"/>
              </a:rPr>
              <a:t>table_with_insight: 四半期指標の推移から複数の気づきを示す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900" b="0">
                <a:solidFill>
                  <a:srgbClr val="738296"/>
                </a:solidFill>
                <a:latin typeface="Yu Gothic"/>
                <a:ea typeface="Yu Gothic"/>
              </a:rPr>
              <a:t>14</a:t>
            </a:r>
          </a:p>
        </p:txBody>
      </p:sp>
      <p:graphicFrame>
        <p:nvGraphicFramePr>
          <p:cNvPr id="5" name="Table 4"/>
          <p:cNvGraphicFramePr>
            <a:graphicFrameLocks noGrp="1"/>
          </p:cNvGraphicFramePr>
          <p:nvPr/>
        </p:nvGraphicFramePr>
        <p:xfrm>
          <a:off x="609600" y="1335024"/>
          <a:ext cx="7330672" cy="4173776"/>
        </p:xfrm>
        <a:graphic>
          <a:graphicData uri="http://schemas.openxmlformats.org/drawingml/2006/table">
            <a:tbl>
              <a:tblPr firstRow="1" bandRow="1">
                <a:tableStyleId>{5C22544A-7EE6-4342-B048-85BDC9FD1C3A}</a:tableStyleId>
              </a:tblPr>
              <a:tblGrid>
                <a:gridCol w="2332486"/>
                <a:gridCol w="1666062"/>
                <a:gridCol w="1666062"/>
                <a:gridCol w="1666062"/>
              </a:tblGrid>
              <a:tr h="1043444">
                <a:tc>
                  <a:txBody>
                    <a:bodyPr/>
                    <a:lstStyle/>
                    <a:p>
                      <a:pPr algn="l"/>
                      <a:r>
                        <a:rPr sz="1150" b="1">
                          <a:solidFill>
                            <a:srgbClr val="102C49"/>
                          </a:solidFill>
                          <a:latin typeface="Hiragino Sans"/>
                          <a:ea typeface="Hiragino Sans"/>
                        </a:rPr>
                        <a:t>指標</a:t>
                      </a:r>
                    </a:p>
                  </a:txBody>
                  <a:tcPr marL="146304" marR="146304" marT="54864" marB="54864" anchor="ctr">
                    <a:solidFill>
                      <a:srgbClr val="E7EBF0"/>
                    </a:solidFill>
                    <a:lnL>
                      <a:noFill/>
                    </a:lnL>
                    <a:lnR>
                      <a:noFill/>
                    </a:lnR>
                    <a:lnT>
                      <a:noFill/>
                    </a:lnT>
                    <a:lnB w="17780">
                      <a:solidFill>
                        <a:srgbClr val="102C49"/>
                      </a:solidFill>
                    </a:lnB>
                  </a:tcPr>
                </a:tc>
                <a:tc>
                  <a:txBody>
                    <a:bodyPr/>
                    <a:lstStyle/>
                    <a:p>
                      <a:pPr algn="l"/>
                      <a:r>
                        <a:rPr sz="1150" b="1">
                          <a:solidFill>
                            <a:srgbClr val="102C49"/>
                          </a:solidFill>
                          <a:latin typeface="Hiragino Sans"/>
                          <a:ea typeface="Hiragino Sans"/>
                        </a:rPr>
                        <a:t>Q1</a:t>
                      </a:r>
                    </a:p>
                  </a:txBody>
                  <a:tcPr marL="146304" marR="146304" marT="54864" marB="54864" anchor="ctr">
                    <a:solidFill>
                      <a:srgbClr val="E7EBF0"/>
                    </a:solidFill>
                    <a:lnL>
                      <a:noFill/>
                    </a:lnL>
                    <a:lnR>
                      <a:noFill/>
                    </a:lnR>
                    <a:lnT>
                      <a:noFill/>
                    </a:lnT>
                    <a:lnB w="17780">
                      <a:solidFill>
                        <a:srgbClr val="102C49"/>
                      </a:solidFill>
                    </a:lnB>
                  </a:tcPr>
                </a:tc>
                <a:tc>
                  <a:txBody>
                    <a:bodyPr/>
                    <a:lstStyle/>
                    <a:p>
                      <a:pPr algn="l"/>
                      <a:r>
                        <a:rPr sz="1150" b="1">
                          <a:solidFill>
                            <a:srgbClr val="102C49"/>
                          </a:solidFill>
                          <a:latin typeface="Hiragino Sans"/>
                          <a:ea typeface="Hiragino Sans"/>
                        </a:rPr>
                        <a:t>Q2</a:t>
                      </a:r>
                    </a:p>
                  </a:txBody>
                  <a:tcPr marL="146304" marR="146304" marT="54864" marB="54864" anchor="ctr">
                    <a:solidFill>
                      <a:srgbClr val="E7EBF0"/>
                    </a:solidFill>
                    <a:lnL>
                      <a:noFill/>
                    </a:lnL>
                    <a:lnR>
                      <a:noFill/>
                    </a:lnR>
                    <a:lnT>
                      <a:noFill/>
                    </a:lnT>
                    <a:lnB w="17780">
                      <a:solidFill>
                        <a:srgbClr val="102C49"/>
                      </a:solidFill>
                    </a:lnB>
                  </a:tcPr>
                </a:tc>
                <a:tc>
                  <a:txBody>
                    <a:bodyPr/>
                    <a:lstStyle/>
                    <a:p>
                      <a:pPr algn="l"/>
                      <a:r>
                        <a:rPr sz="1150" b="1">
                          <a:solidFill>
                            <a:srgbClr val="102C49"/>
                          </a:solidFill>
                          <a:latin typeface="Hiragino Sans"/>
                          <a:ea typeface="Hiragino Sans"/>
                        </a:rPr>
                        <a:t>Q3</a:t>
                      </a:r>
                    </a:p>
                  </a:txBody>
                  <a:tcPr marL="146304" marR="146304" marT="54864" marB="54864" anchor="ctr">
                    <a:solidFill>
                      <a:srgbClr val="E7EBF0"/>
                    </a:solidFill>
                    <a:lnL>
                      <a:noFill/>
                    </a:lnL>
                    <a:lnR>
                      <a:noFill/>
                    </a:lnR>
                    <a:lnT>
                      <a:noFill/>
                    </a:lnT>
                    <a:lnB w="17780">
                      <a:solidFill>
                        <a:srgbClr val="102C49"/>
                      </a:solidFill>
                    </a:lnB>
                  </a:tcPr>
                </a:tc>
              </a:tr>
              <a:tr h="1043444">
                <a:tc>
                  <a:txBody>
                    <a:bodyPr/>
                    <a:lstStyle/>
                    <a:p>
                      <a:pPr algn="l"/>
                      <a:r>
                        <a:rPr sz="1150" b="0">
                          <a:solidFill>
                            <a:srgbClr val="102C49"/>
                          </a:solidFill>
                          <a:latin typeface="Hiragino Sans"/>
                          <a:ea typeface="Hiragino Sans"/>
                        </a:rPr>
                        <a:t>新規商談数</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120件</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98件</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145件</a:t>
                      </a:r>
                    </a:p>
                  </a:txBody>
                  <a:tcPr marL="146304" marR="146304" marT="54864" marB="54864" anchor="ctr">
                    <a:solidFill>
                      <a:srgbClr val="FFFFFF"/>
                    </a:solidFill>
                    <a:lnL>
                      <a:noFill/>
                    </a:lnL>
                    <a:lnR>
                      <a:noFill/>
                    </a:lnR>
                    <a:lnT>
                      <a:noFill/>
                    </a:lnT>
                    <a:lnB w="9525">
                      <a:solidFill>
                        <a:srgbClr val="D7DEE6"/>
                      </a:solidFill>
                    </a:lnB>
                  </a:tcPr>
                </a:tc>
              </a:tr>
              <a:tr h="1043444">
                <a:tc>
                  <a:txBody>
                    <a:bodyPr/>
                    <a:lstStyle/>
                    <a:p>
                      <a:pPr algn="l"/>
                      <a:r>
                        <a:rPr sz="1150" b="0">
                          <a:solidFill>
                            <a:srgbClr val="102C49"/>
                          </a:solidFill>
                          <a:latin typeface="Hiragino Sans"/>
                          <a:ea typeface="Hiragino Sans"/>
                        </a:rPr>
                        <a:t>平均商談期間</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32日</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29日</a:t>
                      </a:r>
                    </a:p>
                  </a:txBody>
                  <a:tcPr marL="146304" marR="146304" marT="54864" marB="54864" anchor="ctr">
                    <a:solidFill>
                      <a:srgbClr val="FFFFFF"/>
                    </a:solidFill>
                    <a:lnL>
                      <a:noFill/>
                    </a:lnL>
                    <a:lnR>
                      <a:noFill/>
                    </a:lnR>
                    <a:lnT>
                      <a:noFill/>
                    </a:lnT>
                    <a:lnB w="9525">
                      <a:solidFill>
                        <a:srgbClr val="D7DEE6"/>
                      </a:solidFill>
                    </a:lnB>
                  </a:tcPr>
                </a:tc>
                <a:tc>
                  <a:txBody>
                    <a:bodyPr/>
                    <a:lstStyle/>
                    <a:p>
                      <a:pPr algn="l"/>
                      <a:r>
                        <a:rPr sz="1150" b="0">
                          <a:solidFill>
                            <a:srgbClr val="102C49"/>
                          </a:solidFill>
                          <a:latin typeface="Hiragino Sans"/>
                          <a:ea typeface="Hiragino Sans"/>
                        </a:rPr>
                        <a:t>35日</a:t>
                      </a:r>
                    </a:p>
                  </a:txBody>
                  <a:tcPr marL="146304" marR="146304" marT="54864" marB="54864" anchor="ctr">
                    <a:solidFill>
                      <a:srgbClr val="FFFFFF"/>
                    </a:solidFill>
                    <a:lnL>
                      <a:noFill/>
                    </a:lnL>
                    <a:lnR>
                      <a:noFill/>
                    </a:lnR>
                    <a:lnT>
                      <a:noFill/>
                    </a:lnT>
                    <a:lnB w="9525">
                      <a:solidFill>
                        <a:srgbClr val="D7DEE6"/>
                      </a:solidFill>
                    </a:lnB>
                  </a:tcPr>
                </a:tc>
              </a:tr>
              <a:tr h="1043444">
                <a:tc>
                  <a:txBody>
                    <a:bodyPr/>
                    <a:lstStyle/>
                    <a:p>
                      <a:pPr algn="l"/>
                      <a:r>
                        <a:rPr sz="1150" b="1">
                          <a:solidFill>
                            <a:srgbClr val="2574D9"/>
                          </a:solidFill>
                          <a:latin typeface="Hiragino Sans"/>
                          <a:ea typeface="Hiragino Sans"/>
                        </a:rPr>
                        <a:t>受注率</a:t>
                      </a:r>
                    </a:p>
                  </a:txBody>
                  <a:tcPr marL="146304" marR="146304" marT="54864" marB="54864" anchor="ctr">
                    <a:solidFill>
                      <a:srgbClr val="E1EDFC"/>
                    </a:solidFill>
                    <a:lnL>
                      <a:noFill/>
                    </a:lnL>
                    <a:lnR>
                      <a:noFill/>
                    </a:lnR>
                    <a:lnT>
                      <a:noFill/>
                    </a:lnT>
                    <a:lnB w="9525">
                      <a:solidFill>
                        <a:srgbClr val="D7DEE6"/>
                      </a:solidFill>
                    </a:lnB>
                  </a:tcPr>
                </a:tc>
                <a:tc>
                  <a:txBody>
                    <a:bodyPr/>
                    <a:lstStyle/>
                    <a:p>
                      <a:pPr algn="l"/>
                      <a:r>
                        <a:rPr sz="1150" b="1">
                          <a:solidFill>
                            <a:srgbClr val="2574D9"/>
                          </a:solidFill>
                          <a:latin typeface="Hiragino Sans"/>
                          <a:ea typeface="Hiragino Sans"/>
                        </a:rPr>
                        <a:t>18%</a:t>
                      </a:r>
                    </a:p>
                  </a:txBody>
                  <a:tcPr marL="146304" marR="146304" marT="54864" marB="54864" anchor="ctr">
                    <a:solidFill>
                      <a:srgbClr val="E1EDFC"/>
                    </a:solidFill>
                    <a:lnL>
                      <a:noFill/>
                    </a:lnL>
                    <a:lnR>
                      <a:noFill/>
                    </a:lnR>
                    <a:lnT>
                      <a:noFill/>
                    </a:lnT>
                    <a:lnB w="9525">
                      <a:solidFill>
                        <a:srgbClr val="D7DEE6"/>
                      </a:solidFill>
                    </a:lnB>
                  </a:tcPr>
                </a:tc>
                <a:tc>
                  <a:txBody>
                    <a:bodyPr/>
                    <a:lstStyle/>
                    <a:p>
                      <a:pPr algn="l"/>
                      <a:r>
                        <a:rPr sz="1150" b="1">
                          <a:solidFill>
                            <a:srgbClr val="2574D9"/>
                          </a:solidFill>
                          <a:latin typeface="Hiragino Sans"/>
                          <a:ea typeface="Hiragino Sans"/>
                        </a:rPr>
                        <a:t>22%</a:t>
                      </a:r>
                    </a:p>
                  </a:txBody>
                  <a:tcPr marL="146304" marR="146304" marT="54864" marB="54864" anchor="ctr">
                    <a:solidFill>
                      <a:srgbClr val="E1EDFC"/>
                    </a:solidFill>
                    <a:lnL>
                      <a:noFill/>
                    </a:lnL>
                    <a:lnR>
                      <a:noFill/>
                    </a:lnR>
                    <a:lnT>
                      <a:noFill/>
                    </a:lnT>
                    <a:lnB w="9525">
                      <a:solidFill>
                        <a:srgbClr val="D7DEE6"/>
                      </a:solidFill>
                    </a:lnB>
                  </a:tcPr>
                </a:tc>
                <a:tc>
                  <a:txBody>
                    <a:bodyPr/>
                    <a:lstStyle/>
                    <a:p>
                      <a:pPr algn="l"/>
                      <a:r>
                        <a:rPr sz="1150" b="1">
                          <a:solidFill>
                            <a:srgbClr val="2574D9"/>
                          </a:solidFill>
                          <a:latin typeface="Hiragino Sans"/>
                          <a:ea typeface="Hiragino Sans"/>
                        </a:rPr>
                        <a:t>15%</a:t>
                      </a:r>
                    </a:p>
                  </a:txBody>
                  <a:tcPr marL="146304" marR="146304" marT="54864" marB="54864" anchor="ctr">
                    <a:solidFill>
                      <a:srgbClr val="E1EDFC"/>
                    </a:solidFill>
                    <a:lnL>
                      <a:noFill/>
                    </a:lnL>
                    <a:lnR>
                      <a:noFill/>
                    </a:lnR>
                    <a:lnT>
                      <a:noFill/>
                    </a:lnT>
                    <a:lnB w="9525">
                      <a:solidFill>
                        <a:srgbClr val="D7DEE6"/>
                      </a:solidFill>
                    </a:lnB>
                  </a:tcPr>
                </a:tc>
              </a:tr>
            </a:tbl>
          </a:graphicData>
        </a:graphic>
      </p:graphicFrame>
      <p:sp>
        <p:nvSpPr>
          <p:cNvPr id="6" name="Rounded Rectangle 5"/>
          <p:cNvSpPr/>
          <p:nvPr/>
        </p:nvSpPr>
        <p:spPr>
          <a:xfrm>
            <a:off x="8324321" y="1335024"/>
            <a:ext cx="54864" cy="347472"/>
          </a:xfrm>
          <a:prstGeom prst="roundRect">
            <a:avLst>
              <a:gd name="adj" fmla="val 16000"/>
            </a:avLst>
          </a:prstGeom>
          <a:solidFill>
            <a:srgbClr val="2574D9"/>
          </a:solidFill>
          <a:ln>
            <a:noFill/>
          </a:ln>
        </p:spPr>
        <p:txBody>
          <a:bodyPr rtlCol="0" anchor="ctr"/>
          <a:lstStyle/>
          <a:p>
            <a:pPr algn="ctr"/>
          </a:p>
        </p:txBody>
      </p:sp>
      <p:sp>
        <p:nvSpPr>
          <p:cNvPr id="7" name="TextBox 6"/>
          <p:cNvSpPr txBox="1"/>
          <p:nvPr/>
        </p:nvSpPr>
        <p:spPr>
          <a:xfrm>
            <a:off x="8470625" y="1325880"/>
            <a:ext cx="3111773"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読み取れること</a:t>
            </a:r>
          </a:p>
        </p:txBody>
      </p:sp>
      <p:sp>
        <p:nvSpPr>
          <p:cNvPr id="8" name="TextBox 7"/>
          <p:cNvSpPr txBox="1"/>
          <p:nvPr/>
        </p:nvSpPr>
        <p:spPr>
          <a:xfrm>
            <a:off x="8324321" y="1929384"/>
            <a:ext cx="3258077" cy="3533696"/>
          </a:xfrm>
          <a:prstGeom prst="rect">
            <a:avLst/>
          </a:prstGeom>
          <a:noFill/>
        </p:spPr>
        <p:txBody>
          <a:bodyPr wrap="square" lIns="0" rIns="0" tIns="0" bIns="0" anchor="t">
            <a:spAutoFit/>
          </a:bodyPr>
          <a:lstStyle/>
          <a:p>
            <a:pPr algn="l" marL="240982" indent="-240982">
              <a:lnSpc>
                <a:spcPct val="108000"/>
              </a:lnSpc>
              <a:spcBef>
                <a:spcPts val="0"/>
              </a:spcBef>
              <a:spcAft>
                <a:spcPts val="2700"/>
              </a:spcAft>
            </a:pPr>
            <a:r>
              <a:rPr sz="1150" b="1">
                <a:solidFill>
                  <a:srgbClr val="102C49"/>
                </a:solidFill>
                <a:latin typeface="Hiragino Sans"/>
                <a:ea typeface="Hiragino Sans"/>
              </a:rPr>
              <a:t>—  Q2は商談数が減った一方、受注率は最も高かった（質を優先した営業活動の効果）</a:t>
            </a:r>
          </a:p>
          <a:p>
            <a:pPr algn="l" marL="240982" indent="-240982">
              <a:lnSpc>
                <a:spcPct val="108000"/>
              </a:lnSpc>
              <a:spcBef>
                <a:spcPts val="0"/>
              </a:spcBef>
              <a:spcAft>
                <a:spcPts val="2700"/>
              </a:spcAft>
            </a:pPr>
            <a:r>
              <a:rPr sz="1150" b="1">
                <a:solidFill>
                  <a:srgbClr val="102C49"/>
                </a:solidFill>
                <a:latin typeface="Hiragino Sans"/>
                <a:ea typeface="Hiragino Sans"/>
              </a:rPr>
              <a:t>—  Q3は商談数が増えたが受注率が低下しており、対応の丁寧さが薄れている可能性がある</a:t>
            </a:r>
          </a:p>
          <a:p>
            <a:pPr algn="l" marL="240982" indent="-240982">
              <a:lnSpc>
                <a:spcPct val="108000"/>
              </a:lnSpc>
              <a:spcBef>
                <a:spcPts val="0"/>
              </a:spcBef>
              <a:spcAft>
                <a:spcPts val="0"/>
              </a:spcAft>
            </a:pPr>
            <a:r>
              <a:rPr sz="1150" b="1">
                <a:solidFill>
                  <a:srgbClr val="102C49"/>
                </a:solidFill>
                <a:latin typeface="Hiragino Sans"/>
                <a:ea typeface="Hiragino Sans"/>
              </a:rPr>
              <a:t>—  平均商談期間はQ2に短縮したが、Q3で再び伸びている</a:t>
            </a:r>
          </a:p>
        </p:txBody>
      </p:sp>
      <p:sp>
        <p:nvSpPr>
          <p:cNvPr id="9" name="Rounded Rectangle 8"/>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150" b="1">
                <a:solidFill>
                  <a:srgbClr val="102C49"/>
                </a:solidFill>
                <a:latin typeface="Hiragino Sans"/>
                <a:ea typeface="Hiragino Sans"/>
              </a:rPr>
              <a:t>Q3は量を優先した結果、質が犠牲になっている可能性がある。次四半期は受注率の回復を優先指標に据える</a:t>
            </a:r>
          </a:p>
        </p:txBody>
      </p:sp>
      <p:sp>
        <p:nvSpPr>
          <p:cNvPr id="10" name="TextBox 9"/>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“table_with_insight” — 表から複数の気づきを箇条書きで示す（chart_with_insightの表版）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chart_with_insight (standard): グラフと読み取りを公平に示す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15</a:t>
            </a:r>
          </a:p>
        </p:txBody>
      </p:sp>
      <p:graphicFrame>
        <p:nvGraphicFramePr>
          <p:cNvPr id="5" name="Chart 4"/>
          <p:cNvGraphicFramePr>
            <a:graphicFrameLocks noGrp="1"/>
          </p:cNvGraphicFramePr>
          <p:nvPr/>
        </p:nvGraphicFramePr>
        <p:xfrm>
          <a:off x="609600" y="1335024"/>
          <a:ext cx="7330673" cy="4173776"/>
        </p:xfrm>
        <a:graphic>
          <a:graphicData uri="http://schemas.openxmlformats.org/drawingml/2006/chart">
            <c:chart xmlns:c="http://schemas.openxmlformats.org/drawingml/2006/chart" r:id="rId2"/>
          </a:graphicData>
        </a:graphic>
      </p:graphicFrame>
      <p:sp>
        <p:nvSpPr>
          <p:cNvPr id="6" name="Rounded Rectangle 5"/>
          <p:cNvSpPr/>
          <p:nvPr/>
        </p:nvSpPr>
        <p:spPr>
          <a:xfrm>
            <a:off x="8324321" y="1335024"/>
            <a:ext cx="54864" cy="347472"/>
          </a:xfrm>
          <a:prstGeom prst="roundRect">
            <a:avLst>
              <a:gd name="adj" fmla="val 16000"/>
            </a:avLst>
          </a:prstGeom>
          <a:solidFill>
            <a:srgbClr val="2574D9"/>
          </a:solidFill>
          <a:ln>
            <a:noFill/>
          </a:ln>
        </p:spPr>
        <p:txBody>
          <a:bodyPr rtlCol="0" anchor="ctr"/>
          <a:lstStyle/>
          <a:p>
            <a:pPr algn="ctr"/>
          </a:p>
        </p:txBody>
      </p:sp>
      <p:sp>
        <p:nvSpPr>
          <p:cNvPr id="7" name="TextBox 6"/>
          <p:cNvSpPr txBox="1"/>
          <p:nvPr/>
        </p:nvSpPr>
        <p:spPr>
          <a:xfrm>
            <a:off x="8470625" y="1325880"/>
            <a:ext cx="3111773"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使う場面</a:t>
            </a:r>
          </a:p>
        </p:txBody>
      </p:sp>
      <p:sp>
        <p:nvSpPr>
          <p:cNvPr id="8" name="TextBox 7"/>
          <p:cNvSpPr txBox="1"/>
          <p:nvPr/>
        </p:nvSpPr>
        <p:spPr>
          <a:xfrm>
            <a:off x="8324321" y="1929384"/>
            <a:ext cx="3258077" cy="3533696"/>
          </a:xfrm>
          <a:prstGeom prst="rect">
            <a:avLst/>
          </a:prstGeom>
          <a:noFill/>
        </p:spPr>
        <p:txBody>
          <a:bodyPr wrap="square" lIns="0" rIns="0" tIns="0" bIns="0" anchor="t">
            <a:spAutoFit/>
          </a:bodyPr>
          <a:lstStyle/>
          <a:p>
            <a:pPr algn="l" marL="251460" indent="-251460">
              <a:lnSpc>
                <a:spcPct val="108000"/>
              </a:lnSpc>
              <a:spcBef>
                <a:spcPts val="0"/>
              </a:spcBef>
              <a:spcAft>
                <a:spcPts val="2700"/>
              </a:spcAft>
            </a:pPr>
            <a:r>
              <a:rPr sz="1200" b="1">
                <a:solidFill>
                  <a:srgbClr val="102C49"/>
                </a:solidFill>
                <a:latin typeface="Hiragino Sans"/>
                <a:ea typeface="Hiragino Sans"/>
              </a:rPr>
              <a:t>—  グラフの全体像を偏りなく見せたいとき</a:t>
            </a:r>
          </a:p>
          <a:p>
            <a:pPr algn="l" marL="251460" indent="-251460">
              <a:lnSpc>
                <a:spcPct val="108000"/>
              </a:lnSpc>
              <a:spcBef>
                <a:spcPts val="0"/>
              </a:spcBef>
              <a:spcAft>
                <a:spcPts val="2700"/>
              </a:spcAft>
            </a:pPr>
            <a:r>
              <a:rPr sz="1200" b="1">
                <a:solidFill>
                  <a:srgbClr val="102C49"/>
                </a:solidFill>
                <a:latin typeface="Hiragino Sans"/>
                <a:ea typeface="Hiragino Sans"/>
              </a:rPr>
              <a:t>—  棒・積み上げ棒・横棒・折れ線・円・散布図に対応</a:t>
            </a:r>
          </a:p>
          <a:p>
            <a:pPr algn="l" marL="251460" indent="-251460">
              <a:lnSpc>
                <a:spcPct val="108000"/>
              </a:lnSpc>
              <a:spcBef>
                <a:spcPts val="0"/>
              </a:spcBef>
              <a:spcAft>
                <a:spcPts val="0"/>
              </a:spcAft>
            </a:pPr>
            <a:r>
              <a:rPr sz="1200" b="1">
                <a:solidFill>
                  <a:srgbClr val="102C49"/>
                </a:solidFill>
                <a:latin typeface="Hiragino Sans"/>
                <a:ea typeface="Hiragino Sans"/>
              </a:rPr>
              <a:t>—  chartを指定すると数値をPowerPoint上で直接編集できる</a:t>
            </a:r>
          </a:p>
        </p:txBody>
      </p:sp>
      <p:sp>
        <p:nvSpPr>
          <p:cNvPr id="9" name="Rounded Rectangle 8"/>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グラフ全体を公平に読ませたいときはstandardを選ぶ</a:t>
            </a:r>
          </a:p>
        </p:txBody>
      </p:sp>
      <p:sp>
        <p:nvSpPr>
          <p:cNvPr id="10" name="TextBox 9"/>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“chart_with_insight (standard)” — グラフ全体を公平に読む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chart_with_insight (conclusion-led): 一つの主張を強く伝える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16</a:t>
            </a:r>
          </a:p>
        </p:txBody>
      </p:sp>
      <p:sp>
        <p:nvSpPr>
          <p:cNvPr id="5" name="Rounded Rectangle 4"/>
          <p:cNvSpPr/>
          <p:nvPr/>
        </p:nvSpPr>
        <p:spPr>
          <a:xfrm>
            <a:off x="609600" y="1335024"/>
            <a:ext cx="3445545" cy="5084064"/>
          </a:xfrm>
          <a:prstGeom prst="roundRect">
            <a:avLst>
              <a:gd name="adj" fmla="val 5160"/>
            </a:avLst>
          </a:prstGeom>
          <a:solidFill>
            <a:srgbClr val="E1EDFC"/>
          </a:solidFill>
          <a:ln>
            <a:noFill/>
          </a:ln>
        </p:spPr>
        <p:txBody>
          <a:bodyPr rtlCol="0" anchor="ctr"/>
          <a:lstStyle/>
          <a:p>
            <a:pPr algn="ctr"/>
          </a:p>
        </p:txBody>
      </p:sp>
      <p:sp>
        <p:nvSpPr>
          <p:cNvPr id="6" name="TextBox 5"/>
          <p:cNvSpPr txBox="1"/>
          <p:nvPr/>
        </p:nvSpPr>
        <p:spPr>
          <a:xfrm>
            <a:off x="883920" y="1645920"/>
            <a:ext cx="2896905" cy="274320"/>
          </a:xfrm>
          <a:prstGeom prst="rect">
            <a:avLst/>
          </a:prstGeom>
          <a:noFill/>
        </p:spPr>
        <p:txBody>
          <a:bodyPr wrap="square" lIns="0" rIns="0" tIns="0" bIns="0" anchor="t">
            <a:spAutoFit/>
          </a:bodyPr>
          <a:lstStyle/>
          <a:p>
            <a:pPr algn="l">
              <a:lnSpc>
                <a:spcPct val="108000"/>
              </a:lnSpc>
              <a:spcAft>
                <a:spcPts val="0"/>
              </a:spcAft>
            </a:pPr>
            <a:r>
              <a:rPr sz="1000" b="1">
                <a:solidFill>
                  <a:srgbClr val="2574D9"/>
                </a:solidFill>
                <a:latin typeface="Yu Gothic"/>
                <a:ea typeface="Yu Gothic"/>
              </a:rPr>
              <a:t>使う場面</a:t>
            </a:r>
          </a:p>
        </p:txBody>
      </p:sp>
      <p:sp>
        <p:nvSpPr>
          <p:cNvPr id="7" name="TextBox 6"/>
          <p:cNvSpPr txBox="1"/>
          <p:nvPr/>
        </p:nvSpPr>
        <p:spPr>
          <a:xfrm>
            <a:off x="883920" y="2176272"/>
            <a:ext cx="2896905" cy="1417320"/>
          </a:xfrm>
          <a:prstGeom prst="rect">
            <a:avLst/>
          </a:prstGeom>
          <a:noFill/>
        </p:spPr>
        <p:txBody>
          <a:bodyPr wrap="square" lIns="0" rIns="0" tIns="0" bIns="0" anchor="t">
            <a:spAutoFit/>
          </a:bodyPr>
          <a:lstStyle/>
          <a:p>
            <a:pPr algn="l">
              <a:lnSpc>
                <a:spcPct val="102000"/>
              </a:lnSpc>
              <a:spcAft>
                <a:spcPts val="0"/>
              </a:spcAft>
            </a:pPr>
            <a:r>
              <a:rPr sz="1500" b="1">
                <a:solidFill>
                  <a:srgbClr val="102C49"/>
                </a:solidFill>
                <a:latin typeface="Yu Gothic"/>
                <a:ea typeface="Yu Gothic"/>
              </a:rPr>
              <a:t>1つの主張を強く伝えたいときはconclusion-ledを選ぶ</a:t>
            </a:r>
          </a:p>
        </p:txBody>
      </p:sp>
      <p:sp>
        <p:nvSpPr>
          <p:cNvPr id="8" name="TextBox 7"/>
          <p:cNvSpPr txBox="1"/>
          <p:nvPr/>
        </p:nvSpPr>
        <p:spPr>
          <a:xfrm>
            <a:off x="883920" y="3794760"/>
            <a:ext cx="2896905" cy="2267712"/>
          </a:xfrm>
          <a:prstGeom prst="rect">
            <a:avLst/>
          </a:prstGeom>
          <a:noFill/>
        </p:spPr>
        <p:txBody>
          <a:bodyPr wrap="square" lIns="0" rIns="0" tIns="0" bIns="0" anchor="t">
            <a:spAutoFit/>
          </a:bodyPr>
          <a:lstStyle/>
          <a:p>
            <a:pPr algn="l" marL="251460" indent="-251460">
              <a:lnSpc>
                <a:spcPct val="108000"/>
              </a:lnSpc>
              <a:spcBef>
                <a:spcPts val="0"/>
              </a:spcBef>
              <a:spcAft>
                <a:spcPts val="2700"/>
              </a:spcAft>
            </a:pPr>
            <a:r>
              <a:rPr sz="1200" b="1">
                <a:solidFill>
                  <a:srgbClr val="102C49"/>
                </a:solidFill>
                <a:latin typeface="Hiragino Sans"/>
                <a:ea typeface="Hiragino Sans"/>
              </a:rPr>
              <a:t>—  グラフから読み取れる主張が1つに絞れるとき</a:t>
            </a:r>
          </a:p>
          <a:p>
            <a:pPr algn="l" marL="251460" indent="-251460">
              <a:lnSpc>
                <a:spcPct val="108000"/>
              </a:lnSpc>
              <a:spcBef>
                <a:spcPts val="0"/>
              </a:spcBef>
              <a:spcAft>
                <a:spcPts val="0"/>
              </a:spcAft>
            </a:pPr>
            <a:r>
              <a:rPr sz="1200" b="1">
                <a:solidFill>
                  <a:srgbClr val="102C49"/>
                </a:solidFill>
                <a:latin typeface="Hiragino Sans"/>
                <a:ea typeface="Hiragino Sans"/>
              </a:rPr>
              <a:t>—  primary_messageで結論を先に示し、グラフで裏付ける</a:t>
            </a:r>
          </a:p>
        </p:txBody>
      </p:sp>
      <p:graphicFrame>
        <p:nvGraphicFramePr>
          <p:cNvPr id="9" name="Chart 8"/>
          <p:cNvGraphicFramePr>
            <a:graphicFrameLocks noGrp="1"/>
          </p:cNvGraphicFramePr>
          <p:nvPr/>
        </p:nvGraphicFramePr>
        <p:xfrm>
          <a:off x="4439193" y="1335024"/>
          <a:ext cx="7143205" cy="5084064"/>
        </p:xfrm>
        <a:graphic>
          <a:graphicData uri="http://schemas.openxmlformats.org/drawingml/2006/chart">
            <c:chart xmlns:c="http://schemas.openxmlformats.org/drawingml/2006/chart" r:id="rId2"/>
          </a:graphicData>
        </a:graphic>
      </p:graphicFrame>
      <p:sp>
        <p:nvSpPr>
          <p:cNvPr id="10" name="TextBox 9"/>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“chart_with_insight (conclusion-led)” — 一つの主張を強く伝える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org_layers: 縦の階層と横の実行部門を分けて描く</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17</a:t>
            </a:r>
          </a:p>
        </p:txBody>
      </p:sp>
      <p:sp>
        <p:nvSpPr>
          <p:cNvPr id="5" name="Rounded Rectangle 4"/>
          <p:cNvSpPr/>
          <p:nvPr/>
        </p:nvSpPr>
        <p:spPr>
          <a:xfrm>
            <a:off x="609600" y="1335024"/>
            <a:ext cx="10972799" cy="1135093"/>
          </a:xfrm>
          <a:prstGeom prst="roundRect">
            <a:avLst>
              <a:gd name="adj" fmla="val 15663"/>
            </a:avLst>
          </a:prstGeom>
          <a:solidFill>
            <a:srgbClr val="E1EDFC"/>
          </a:solidFill>
          <a:ln>
            <a:noFill/>
          </a:ln>
        </p:spPr>
        <p:txBody>
          <a:bodyPr rtlCol="0" anchor="ctr"/>
          <a:lstStyle/>
          <a:p>
            <a:pPr algn="ctr"/>
          </a:p>
        </p:txBody>
      </p:sp>
      <p:sp>
        <p:nvSpPr>
          <p:cNvPr id="6" name="Rounded Rectangle 5"/>
          <p:cNvSpPr/>
          <p:nvPr/>
        </p:nvSpPr>
        <p:spPr>
          <a:xfrm>
            <a:off x="609600" y="2616421"/>
            <a:ext cx="10972799" cy="1135093"/>
          </a:xfrm>
          <a:prstGeom prst="roundRect">
            <a:avLst>
              <a:gd name="adj" fmla="val 15663"/>
            </a:avLst>
          </a:prstGeom>
          <a:solidFill>
            <a:srgbClr val="E7EBF0"/>
          </a:solidFill>
          <a:ln>
            <a:noFill/>
          </a:ln>
        </p:spPr>
        <p:txBody>
          <a:bodyPr rtlCol="0" anchor="ctr"/>
          <a:lstStyle/>
          <a:p>
            <a:pPr algn="ctr"/>
          </a:p>
        </p:txBody>
      </p:sp>
      <p:sp>
        <p:nvSpPr>
          <p:cNvPr id="7" name="Rounded Rectangle 6"/>
          <p:cNvSpPr/>
          <p:nvPr/>
        </p:nvSpPr>
        <p:spPr>
          <a:xfrm>
            <a:off x="883920" y="1463040"/>
            <a:ext cx="54864" cy="298880"/>
          </a:xfrm>
          <a:prstGeom prst="roundRect">
            <a:avLst>
              <a:gd name="adj" fmla="val 16000"/>
            </a:avLst>
          </a:prstGeom>
          <a:solidFill>
            <a:srgbClr val="2574D9"/>
          </a:solidFill>
          <a:ln>
            <a:noFill/>
          </a:ln>
        </p:spPr>
        <p:txBody>
          <a:bodyPr rtlCol="0" anchor="ctr"/>
          <a:lstStyle/>
          <a:p>
            <a:pPr algn="ctr"/>
          </a:p>
        </p:txBody>
      </p:sp>
      <p:sp>
        <p:nvSpPr>
          <p:cNvPr id="8" name="TextBox 7"/>
          <p:cNvSpPr txBox="1"/>
          <p:nvPr/>
        </p:nvSpPr>
        <p:spPr>
          <a:xfrm>
            <a:off x="1030224" y="1453896"/>
            <a:ext cx="10277855"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階層1</a:t>
            </a:r>
          </a:p>
        </p:txBody>
      </p:sp>
      <p:sp>
        <p:nvSpPr>
          <p:cNvPr id="9" name="TextBox 8"/>
          <p:cNvSpPr txBox="1"/>
          <p:nvPr/>
        </p:nvSpPr>
        <p:spPr>
          <a:xfrm>
            <a:off x="883920" y="1853360"/>
            <a:ext cx="10424159" cy="488741"/>
          </a:xfrm>
          <a:prstGeom prst="rect">
            <a:avLst/>
          </a:prstGeom>
          <a:noFill/>
        </p:spPr>
        <p:txBody>
          <a:bodyPr wrap="square" lIns="0" rIns="0" tIns="0" bIns="0" anchor="ctr">
            <a:spAutoFit/>
          </a:bodyPr>
          <a:lstStyle/>
          <a:p>
            <a:pPr algn="l">
              <a:lnSpc>
                <a:spcPct val="108000"/>
              </a:lnSpc>
              <a:spcBef>
                <a:spcPts val="0"/>
              </a:spcBef>
              <a:spcAft>
                <a:spcPts val="300"/>
              </a:spcAft>
            </a:pPr>
            <a:r>
              <a:rPr sz="1200" b="1">
                <a:solidFill>
                  <a:srgbClr val="102C49"/>
                </a:solidFill>
                <a:latin typeface="Hiragino Sans"/>
                <a:ea typeface="Hiragino Sans"/>
              </a:rPr>
              <a:t>layers配列</a:t>
            </a:r>
          </a:p>
          <a:p>
            <a:pPr algn="l">
              <a:lnSpc>
                <a:spcPct val="108000"/>
              </a:lnSpc>
              <a:spcBef>
                <a:spcPts val="0"/>
              </a:spcBef>
              <a:spcAft>
                <a:spcPts val="0"/>
              </a:spcAft>
            </a:pPr>
            <a:r>
              <a:rPr sz="1000" b="0">
                <a:solidFill>
                  <a:srgbClr val="53657A"/>
                </a:solidFill>
                <a:latin typeface="Hiragino Sans"/>
                <a:ea typeface="Hiragino Sans"/>
              </a:rPr>
              <a:t>上から順に責任階層のバンドとして積む</a:t>
            </a:r>
          </a:p>
        </p:txBody>
      </p:sp>
      <p:sp>
        <p:nvSpPr>
          <p:cNvPr id="10" name="Rounded Rectangle 9"/>
          <p:cNvSpPr/>
          <p:nvPr/>
        </p:nvSpPr>
        <p:spPr>
          <a:xfrm>
            <a:off x="883920" y="2744437"/>
            <a:ext cx="54864" cy="298880"/>
          </a:xfrm>
          <a:prstGeom prst="roundRect">
            <a:avLst>
              <a:gd name="adj" fmla="val 16000"/>
            </a:avLst>
          </a:prstGeom>
          <a:solidFill>
            <a:srgbClr val="2574D9"/>
          </a:solidFill>
          <a:ln>
            <a:noFill/>
          </a:ln>
        </p:spPr>
        <p:txBody>
          <a:bodyPr rtlCol="0" anchor="ctr"/>
          <a:lstStyle/>
          <a:p>
            <a:pPr algn="ctr"/>
          </a:p>
        </p:txBody>
      </p:sp>
      <p:sp>
        <p:nvSpPr>
          <p:cNvPr id="11" name="TextBox 10"/>
          <p:cNvSpPr txBox="1"/>
          <p:nvPr/>
        </p:nvSpPr>
        <p:spPr>
          <a:xfrm>
            <a:off x="1030224" y="2735293"/>
            <a:ext cx="10277855"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階層2</a:t>
            </a:r>
          </a:p>
        </p:txBody>
      </p:sp>
      <p:sp>
        <p:nvSpPr>
          <p:cNvPr id="12" name="TextBox 11"/>
          <p:cNvSpPr txBox="1"/>
          <p:nvPr/>
        </p:nvSpPr>
        <p:spPr>
          <a:xfrm>
            <a:off x="883920" y="3134757"/>
            <a:ext cx="10424159" cy="488741"/>
          </a:xfrm>
          <a:prstGeom prst="rect">
            <a:avLst/>
          </a:prstGeom>
          <a:noFill/>
        </p:spPr>
        <p:txBody>
          <a:bodyPr wrap="square" lIns="0" rIns="0" tIns="0" bIns="0" anchor="ctr">
            <a:spAutoFit/>
          </a:bodyPr>
          <a:lstStyle/>
          <a:p>
            <a:pPr algn="l">
              <a:lnSpc>
                <a:spcPct val="108000"/>
              </a:lnSpc>
              <a:spcBef>
                <a:spcPts val="0"/>
              </a:spcBef>
              <a:spcAft>
                <a:spcPts val="300"/>
              </a:spcAft>
            </a:pPr>
            <a:r>
              <a:rPr sz="1200" b="1">
                <a:solidFill>
                  <a:srgbClr val="102C49"/>
                </a:solidFill>
                <a:latin typeface="Hiragino Sans"/>
                <a:ea typeface="Hiragino Sans"/>
              </a:rPr>
              <a:t>2件が上限の目安</a:t>
            </a:r>
          </a:p>
          <a:p>
            <a:pPr algn="l">
              <a:lnSpc>
                <a:spcPct val="108000"/>
              </a:lnSpc>
              <a:spcBef>
                <a:spcPts val="0"/>
              </a:spcBef>
              <a:spcAft>
                <a:spcPts val="0"/>
              </a:spcAft>
            </a:pPr>
            <a:r>
              <a:rPr sz="1000" b="0">
                <a:solidFill>
                  <a:srgbClr val="53657A"/>
                </a:solidFill>
                <a:latin typeface="Hiragino Sans"/>
                <a:ea typeface="Hiragino Sans"/>
              </a:rPr>
              <a:t>3件以上は各層の本文が収まらずpreflightが警告する</a:t>
            </a:r>
          </a:p>
        </p:txBody>
      </p:sp>
      <p:sp>
        <p:nvSpPr>
          <p:cNvPr id="13" name="Rounded Rectangle 12"/>
          <p:cNvSpPr/>
          <p:nvPr/>
        </p:nvSpPr>
        <p:spPr>
          <a:xfrm>
            <a:off x="609600" y="3897818"/>
            <a:ext cx="10972799" cy="1833612"/>
          </a:xfrm>
          <a:prstGeom prst="roundRect">
            <a:avLst>
              <a:gd name="adj" fmla="val 9696"/>
            </a:avLst>
          </a:prstGeom>
          <a:solidFill>
            <a:srgbClr val="E2F2F0"/>
          </a:solidFill>
          <a:ln>
            <a:noFill/>
          </a:ln>
        </p:spPr>
        <p:txBody>
          <a:bodyPr rtlCol="0" anchor="ctr"/>
          <a:lstStyle/>
          <a:p>
            <a:pPr algn="ctr"/>
          </a:p>
        </p:txBody>
      </p:sp>
      <p:sp>
        <p:nvSpPr>
          <p:cNvPr id="14" name="Rounded Rectangle 13"/>
          <p:cNvSpPr/>
          <p:nvPr/>
        </p:nvSpPr>
        <p:spPr>
          <a:xfrm>
            <a:off x="883920" y="4044122"/>
            <a:ext cx="54864" cy="347472"/>
          </a:xfrm>
          <a:prstGeom prst="roundRect">
            <a:avLst>
              <a:gd name="adj" fmla="val 16000"/>
            </a:avLst>
          </a:prstGeom>
          <a:solidFill>
            <a:srgbClr val="148C9A"/>
          </a:solidFill>
          <a:ln>
            <a:noFill/>
          </a:ln>
        </p:spPr>
        <p:txBody>
          <a:bodyPr rtlCol="0" anchor="ctr"/>
          <a:lstStyle/>
          <a:p>
            <a:pPr algn="ctr"/>
          </a:p>
        </p:txBody>
      </p:sp>
      <p:sp>
        <p:nvSpPr>
          <p:cNvPr id="15" name="TextBox 14"/>
          <p:cNvSpPr txBox="1"/>
          <p:nvPr/>
        </p:nvSpPr>
        <p:spPr>
          <a:xfrm>
            <a:off x="1030224" y="4034978"/>
            <a:ext cx="10277855"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実行部門（execution）</a:t>
            </a:r>
          </a:p>
        </p:txBody>
      </p:sp>
      <p:grpSp>
        <p:nvGrpSpPr>
          <p:cNvPr id="18" name="Group 17"/>
          <p:cNvGrpSpPr/>
          <p:nvPr/>
        </p:nvGrpSpPr>
        <p:grpSpPr>
          <a:xfrm>
            <a:off x="883920" y="4483034"/>
            <a:ext cx="5104129" cy="1127492"/>
            <a:chOff x="883920" y="4483034"/>
            <a:chExt cx="5104129" cy="1127492"/>
          </a:xfrm>
        </p:grpSpPr>
        <p:sp>
          <p:nvSpPr>
            <p:cNvPr id="16" name="Rounded Rectangle 15"/>
            <p:cNvSpPr/>
            <p:nvPr/>
          </p:nvSpPr>
          <p:spPr>
            <a:xfrm>
              <a:off x="902970" y="4508434"/>
              <a:ext cx="5085079" cy="1102092"/>
            </a:xfrm>
            <a:prstGeom prst="roundRect">
              <a:avLst>
                <a:gd name="adj" fmla="val 9218"/>
              </a:avLst>
            </a:prstGeom>
            <a:solidFill>
              <a:srgbClr val="E7EBF0"/>
            </a:solidFill>
            <a:ln>
              <a:noFill/>
            </a:ln>
          </p:spPr>
          <p:txBody>
            <a:bodyPr rtlCol="0" anchor="ctr"/>
            <a:lstStyle/>
            <a:p>
              <a:pPr algn="ctr"/>
            </a:p>
          </p:txBody>
        </p:sp>
        <p:sp>
          <p:nvSpPr>
            <p:cNvPr id="17" name="Rounded Rectangle 16"/>
            <p:cNvSpPr/>
            <p:nvPr/>
          </p:nvSpPr>
          <p:spPr>
            <a:xfrm>
              <a:off x="883920" y="4483034"/>
              <a:ext cx="5085079" cy="1102092"/>
            </a:xfrm>
            <a:prstGeom prst="roundRect">
              <a:avLst>
                <a:gd name="adj" fmla="val 9218"/>
              </a:avLst>
            </a:prstGeom>
            <a:solidFill>
              <a:srgbClr val="FFFFFF"/>
            </a:solidFill>
            <a:ln w="8890">
              <a:solidFill>
                <a:srgbClr val="D7DEE6"/>
              </a:solidFill>
            </a:ln>
          </p:spPr>
          <p:txBody>
            <a:bodyPr rtlCol="0" anchor="ctr"/>
            <a:lstStyle/>
            <a:p>
              <a:pPr algn="ctr"/>
            </a:p>
          </p:txBody>
        </p:sp>
      </p:grpSp>
      <p:grpSp>
        <p:nvGrpSpPr>
          <p:cNvPr id="21" name="Group 20"/>
          <p:cNvGrpSpPr/>
          <p:nvPr/>
        </p:nvGrpSpPr>
        <p:grpSpPr>
          <a:xfrm>
            <a:off x="6222999" y="4483034"/>
            <a:ext cx="5104129" cy="1127492"/>
            <a:chOff x="6222999" y="4483034"/>
            <a:chExt cx="5104129" cy="1127492"/>
          </a:xfrm>
        </p:grpSpPr>
        <p:sp>
          <p:nvSpPr>
            <p:cNvPr id="19" name="Rounded Rectangle 18"/>
            <p:cNvSpPr/>
            <p:nvPr/>
          </p:nvSpPr>
          <p:spPr>
            <a:xfrm>
              <a:off x="6242049" y="4508434"/>
              <a:ext cx="5085079" cy="1102092"/>
            </a:xfrm>
            <a:prstGeom prst="roundRect">
              <a:avLst>
                <a:gd name="adj" fmla="val 9218"/>
              </a:avLst>
            </a:prstGeom>
            <a:solidFill>
              <a:srgbClr val="E7EBF0"/>
            </a:solidFill>
            <a:ln>
              <a:noFill/>
            </a:ln>
          </p:spPr>
          <p:txBody>
            <a:bodyPr rtlCol="0" anchor="ctr"/>
            <a:lstStyle/>
            <a:p>
              <a:pPr algn="ctr"/>
            </a:p>
          </p:txBody>
        </p:sp>
        <p:sp>
          <p:nvSpPr>
            <p:cNvPr id="20" name="Rounded Rectangle 19"/>
            <p:cNvSpPr/>
            <p:nvPr/>
          </p:nvSpPr>
          <p:spPr>
            <a:xfrm>
              <a:off x="6222999" y="4483034"/>
              <a:ext cx="5085079" cy="1102092"/>
            </a:xfrm>
            <a:prstGeom prst="roundRect">
              <a:avLst>
                <a:gd name="adj" fmla="val 9218"/>
              </a:avLst>
            </a:prstGeom>
            <a:solidFill>
              <a:srgbClr val="FFFFFF"/>
            </a:solidFill>
            <a:ln w="8890">
              <a:solidFill>
                <a:srgbClr val="D7DEE6"/>
              </a:solidFill>
            </a:ln>
          </p:spPr>
          <p:txBody>
            <a:bodyPr rtlCol="0" anchor="ctr"/>
            <a:lstStyle/>
            <a:p>
              <a:pPr algn="ctr"/>
            </a:p>
          </p:txBody>
        </p:sp>
      </p:grpSp>
      <p:sp>
        <p:nvSpPr>
          <p:cNvPr id="22" name="TextBox 21"/>
          <p:cNvSpPr txBox="1"/>
          <p:nvPr/>
        </p:nvSpPr>
        <p:spPr>
          <a:xfrm>
            <a:off x="1030224" y="4629338"/>
            <a:ext cx="4792471" cy="809484"/>
          </a:xfrm>
          <a:prstGeom prst="rect">
            <a:avLst/>
          </a:prstGeom>
          <a:noFill/>
        </p:spPr>
        <p:txBody>
          <a:bodyPr wrap="square" lIns="0" rIns="0" tIns="0" bIns="0" anchor="ctr">
            <a:spAutoFit/>
          </a:bodyPr>
          <a:lstStyle/>
          <a:p>
            <a:pPr algn="l">
              <a:lnSpc>
                <a:spcPct val="108000"/>
              </a:lnSpc>
              <a:spcBef>
                <a:spcPts val="0"/>
              </a:spcBef>
              <a:spcAft>
                <a:spcPts val="500"/>
              </a:spcAft>
            </a:pPr>
            <a:r>
              <a:rPr sz="1200" b="1">
                <a:solidFill>
                  <a:srgbClr val="102C49"/>
                </a:solidFill>
                <a:latin typeface="Hiragino Sans"/>
                <a:ea typeface="Hiragino Sans"/>
              </a:rPr>
              <a:t>横に並ぶCard</a:t>
            </a:r>
          </a:p>
          <a:p>
            <a:pPr algn="l">
              <a:lnSpc>
                <a:spcPct val="108000"/>
              </a:lnSpc>
              <a:spcBef>
                <a:spcPts val="0"/>
              </a:spcBef>
              <a:spcAft>
                <a:spcPts val="0"/>
              </a:spcAft>
            </a:pPr>
            <a:r>
              <a:rPr sz="1000" b="0">
                <a:solidFill>
                  <a:srgbClr val="53657A"/>
                </a:solidFill>
                <a:latin typeface="Hiragino Sans"/>
                <a:ea typeface="Hiragino Sans"/>
              </a:rPr>
              <a:t>execution配列の各要素が1枚のCardになる</a:t>
            </a:r>
          </a:p>
        </p:txBody>
      </p:sp>
      <p:sp>
        <p:nvSpPr>
          <p:cNvPr id="23" name="TextBox 22"/>
          <p:cNvSpPr txBox="1"/>
          <p:nvPr/>
        </p:nvSpPr>
        <p:spPr>
          <a:xfrm>
            <a:off x="6369303" y="4629338"/>
            <a:ext cx="4792471" cy="809484"/>
          </a:xfrm>
          <a:prstGeom prst="rect">
            <a:avLst/>
          </a:prstGeom>
          <a:noFill/>
        </p:spPr>
        <p:txBody>
          <a:bodyPr wrap="square" lIns="0" rIns="0" tIns="0" bIns="0" anchor="ctr">
            <a:spAutoFit/>
          </a:bodyPr>
          <a:lstStyle/>
          <a:p>
            <a:pPr algn="l">
              <a:lnSpc>
                <a:spcPct val="108000"/>
              </a:lnSpc>
              <a:spcBef>
                <a:spcPts val="0"/>
              </a:spcBef>
              <a:spcAft>
                <a:spcPts val="500"/>
              </a:spcAft>
            </a:pPr>
            <a:r>
              <a:rPr sz="1200" b="1">
                <a:solidFill>
                  <a:srgbClr val="102C49"/>
                </a:solidFill>
                <a:latin typeface="Hiragino Sans"/>
                <a:ea typeface="Hiragino Sans"/>
              </a:rPr>
              <a:t>部門数に応じ自動分割</a:t>
            </a:r>
          </a:p>
          <a:p>
            <a:pPr algn="l">
              <a:lnSpc>
                <a:spcPct val="108000"/>
              </a:lnSpc>
              <a:spcBef>
                <a:spcPts val="0"/>
              </a:spcBef>
              <a:spcAft>
                <a:spcPts val="0"/>
              </a:spcAft>
            </a:pPr>
            <a:r>
              <a:rPr sz="1000" b="0">
                <a:solidFill>
                  <a:srgbClr val="53657A"/>
                </a:solidFill>
                <a:latin typeface="Hiragino Sans"/>
                <a:ea typeface="Hiragino Sans"/>
              </a:rPr>
              <a:t>列数は要素数に合わせて均等割りする</a:t>
            </a:r>
          </a:p>
        </p:txBody>
      </p:sp>
      <p:sp>
        <p:nvSpPr>
          <p:cNvPr id="24" name="Rounded Rectangle 23"/>
          <p:cNvSpPr/>
          <p:nvPr/>
        </p:nvSpPr>
        <p:spPr>
          <a:xfrm>
            <a:off x="609600" y="5877734"/>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layersは2件までを目安にする（本文がはみ出さないように）</a:t>
            </a:r>
          </a:p>
        </p:txBody>
      </p:sp>
      <p:sp>
        <p:nvSpPr>
          <p:cNvPr id="25" name="TextBox 24"/>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“org_layers” — 意思決定・運営など縦の責任階層と、横に並ぶ実行部門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priority_actions: 優先度付きの課題と対応策を並べる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18</a:t>
            </a:r>
          </a:p>
        </p:txBody>
      </p:sp>
      <p:sp>
        <p:nvSpPr>
          <p:cNvPr id="5" name="Rounded Rectangle 4"/>
          <p:cNvSpPr/>
          <p:nvPr/>
        </p:nvSpPr>
        <p:spPr>
          <a:xfrm>
            <a:off x="609600" y="2320568"/>
            <a:ext cx="54864" cy="347472"/>
          </a:xfrm>
          <a:prstGeom prst="roundRect">
            <a:avLst>
              <a:gd name="adj" fmla="val 16000"/>
            </a:avLst>
          </a:prstGeom>
          <a:solidFill>
            <a:srgbClr val="2574D9"/>
          </a:solidFill>
          <a:ln>
            <a:noFill/>
          </a:ln>
        </p:spPr>
        <p:txBody>
          <a:bodyPr rtlCol="0" anchor="ctr"/>
          <a:lstStyle/>
          <a:p>
            <a:pPr algn="ctr"/>
          </a:p>
        </p:txBody>
      </p:sp>
      <p:sp>
        <p:nvSpPr>
          <p:cNvPr id="6" name="TextBox 5"/>
          <p:cNvSpPr txBox="1"/>
          <p:nvPr/>
        </p:nvSpPr>
        <p:spPr>
          <a:xfrm>
            <a:off x="755904" y="2311424"/>
            <a:ext cx="5277202"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想定される課題</a:t>
            </a:r>
          </a:p>
        </p:txBody>
      </p:sp>
      <p:sp>
        <p:nvSpPr>
          <p:cNvPr id="7" name="TextBox 6"/>
          <p:cNvSpPr txBox="1"/>
          <p:nvPr/>
        </p:nvSpPr>
        <p:spPr>
          <a:xfrm>
            <a:off x="609600" y="2887496"/>
            <a:ext cx="5423506" cy="2529864"/>
          </a:xfrm>
          <a:prstGeom prst="rect">
            <a:avLst/>
          </a:prstGeom>
          <a:noFill/>
        </p:spPr>
        <p:txBody>
          <a:bodyPr wrap="square" lIns="0" rIns="0" tIns="0" bIns="0" anchor="t">
            <a:spAutoFit/>
          </a:bodyPr>
          <a:lstStyle/>
          <a:p>
            <a:pPr algn="l">
              <a:lnSpc>
                <a:spcPct val="108000"/>
              </a:lnSpc>
              <a:spcBef>
                <a:spcPts val="0"/>
              </a:spcBef>
              <a:spcAft>
                <a:spcPts val="200"/>
              </a:spcAft>
            </a:pPr>
            <a:r>
              <a:rPr sz="1000" b="1">
                <a:solidFill>
                  <a:srgbClr val="2574D9"/>
                </a:solidFill>
                <a:latin typeface="Hiragino Sans"/>
                <a:ea typeface="Hiragino Sans"/>
              </a:rPr>
              <a:t>最優先  </a:t>
            </a:r>
            <a:r>
              <a:rPr sz="1200" b="1">
                <a:solidFill>
                  <a:srgbClr val="102C49"/>
                </a:solidFill>
                <a:latin typeface="Hiragino Sans"/>
                <a:ea typeface="Hiragino Sans"/>
              </a:rPr>
              <a:t>issues配列</a:t>
            </a:r>
          </a:p>
          <a:p>
            <a:pPr algn="l">
              <a:lnSpc>
                <a:spcPct val="108000"/>
              </a:lnSpc>
              <a:spcBef>
                <a:spcPts val="0"/>
              </a:spcBef>
              <a:spcAft>
                <a:spcPts val="3600"/>
              </a:spcAft>
            </a:pPr>
            <a:r>
              <a:rPr sz="1000" b="0">
                <a:solidFill>
                  <a:srgbClr val="53657A"/>
                </a:solidFill>
                <a:latin typeface="Hiragino Sans"/>
                <a:ea typeface="Hiragino Sans"/>
              </a:rPr>
              <a:t>      priority/title/bodyを持つ課題を優先度順に並べる</a:t>
            </a:r>
          </a:p>
          <a:p>
            <a:pPr algn="l">
              <a:lnSpc>
                <a:spcPct val="108000"/>
              </a:lnSpc>
              <a:spcBef>
                <a:spcPts val="0"/>
              </a:spcBef>
              <a:spcAft>
                <a:spcPts val="200"/>
              </a:spcAft>
            </a:pPr>
            <a:r>
              <a:rPr sz="1000" b="1">
                <a:solidFill>
                  <a:srgbClr val="53657A"/>
                </a:solidFill>
                <a:latin typeface="Hiragino Sans"/>
                <a:ea typeface="Hiragino Sans"/>
              </a:rPr>
              <a:t>中  </a:t>
            </a:r>
            <a:r>
              <a:rPr sz="1200" b="1">
                <a:solidFill>
                  <a:srgbClr val="102C49"/>
                </a:solidFill>
                <a:latin typeface="Hiragino Sans"/>
                <a:ea typeface="Hiragino Sans"/>
              </a:rPr>
              <a:t>優先度ラベル</a:t>
            </a:r>
          </a:p>
          <a:p>
            <a:pPr algn="l">
              <a:lnSpc>
                <a:spcPct val="108000"/>
              </a:lnSpc>
              <a:spcBef>
                <a:spcPts val="0"/>
              </a:spcBef>
              <a:spcAft>
                <a:spcPts val="3600"/>
              </a:spcAft>
            </a:pPr>
            <a:r>
              <a:rPr sz="1000" b="0">
                <a:solidFill>
                  <a:srgbClr val="53657A"/>
                </a:solidFill>
                <a:latin typeface="Hiragino Sans"/>
                <a:ea typeface="Hiragino Sans"/>
              </a:rPr>
              <a:t>      最優先・高・中など任意の文字列を指定できる</a:t>
            </a:r>
          </a:p>
        </p:txBody>
      </p:sp>
      <p:sp>
        <p:nvSpPr>
          <p:cNvPr id="8" name="Rounded Rectangle 7"/>
          <p:cNvSpPr/>
          <p:nvPr/>
        </p:nvSpPr>
        <p:spPr>
          <a:xfrm>
            <a:off x="6252562" y="1261872"/>
            <a:ext cx="5494428" cy="4283504"/>
          </a:xfrm>
          <a:prstGeom prst="roundRect">
            <a:avLst>
              <a:gd name="adj" fmla="val 4150"/>
            </a:avLst>
          </a:prstGeom>
          <a:solidFill>
            <a:srgbClr val="E7EBF0"/>
          </a:solidFill>
          <a:ln>
            <a:noFill/>
          </a:ln>
        </p:spPr>
        <p:txBody>
          <a:bodyPr rtlCol="0" anchor="ctr"/>
          <a:lstStyle/>
          <a:p>
            <a:pPr algn="ctr"/>
          </a:p>
        </p:txBody>
      </p:sp>
      <p:sp>
        <p:nvSpPr>
          <p:cNvPr id="9" name="Rounded Rectangle 8"/>
          <p:cNvSpPr/>
          <p:nvPr/>
        </p:nvSpPr>
        <p:spPr>
          <a:xfrm>
            <a:off x="6417154" y="2320568"/>
            <a:ext cx="54864" cy="347472"/>
          </a:xfrm>
          <a:prstGeom prst="roundRect">
            <a:avLst>
              <a:gd name="adj" fmla="val 16000"/>
            </a:avLst>
          </a:prstGeom>
          <a:solidFill>
            <a:srgbClr val="148C9A"/>
          </a:solidFill>
          <a:ln>
            <a:noFill/>
          </a:ln>
        </p:spPr>
        <p:txBody>
          <a:bodyPr rtlCol="0" anchor="ctr"/>
          <a:lstStyle/>
          <a:p>
            <a:pPr algn="ctr"/>
          </a:p>
        </p:txBody>
      </p:sp>
      <p:sp>
        <p:nvSpPr>
          <p:cNvPr id="10" name="TextBox 9"/>
          <p:cNvSpPr txBox="1"/>
          <p:nvPr/>
        </p:nvSpPr>
        <p:spPr>
          <a:xfrm>
            <a:off x="6563458" y="2311424"/>
            <a:ext cx="5018940"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対応方針</a:t>
            </a:r>
          </a:p>
        </p:txBody>
      </p:sp>
      <p:sp>
        <p:nvSpPr>
          <p:cNvPr id="11" name="TextBox 10"/>
          <p:cNvSpPr txBox="1"/>
          <p:nvPr/>
        </p:nvSpPr>
        <p:spPr>
          <a:xfrm>
            <a:off x="6417154" y="2887496"/>
            <a:ext cx="5165244" cy="1252931"/>
          </a:xfrm>
          <a:prstGeom prst="rect">
            <a:avLst/>
          </a:prstGeom>
          <a:noFill/>
        </p:spPr>
        <p:txBody>
          <a:bodyPr wrap="square" lIns="0" rIns="0" tIns="0" bIns="0" anchor="t">
            <a:spAutoFit/>
          </a:bodyPr>
          <a:lstStyle/>
          <a:p>
            <a:pPr algn="l" marL="251460" indent="-251460">
              <a:lnSpc>
                <a:spcPct val="108000"/>
              </a:lnSpc>
              <a:spcBef>
                <a:spcPts val="0"/>
              </a:spcBef>
              <a:spcAft>
                <a:spcPts val="2600"/>
              </a:spcAft>
            </a:pPr>
            <a:r>
              <a:rPr sz="1200" b="1">
                <a:solidFill>
                  <a:srgbClr val="102C49"/>
                </a:solidFill>
                <a:latin typeface="Hiragino Sans"/>
                <a:ea typeface="Hiragino Sans"/>
              </a:rPr>
              <a:t>—  actionsは対応方針の一括リスト</a:t>
            </a:r>
          </a:p>
          <a:p>
            <a:pPr algn="l" marL="251460" indent="-251460">
              <a:lnSpc>
                <a:spcPct val="108000"/>
              </a:lnSpc>
              <a:spcBef>
                <a:spcPts val="0"/>
              </a:spcBef>
              <a:spcAft>
                <a:spcPts val="2600"/>
              </a:spcAft>
            </a:pPr>
            <a:r>
              <a:rPr sz="1200" b="1">
                <a:solidFill>
                  <a:srgbClr val="102C49"/>
                </a:solidFill>
                <a:latin typeface="Hiragino Sans"/>
                <a:ea typeface="Hiragino Sans"/>
              </a:rPr>
              <a:t>—  淡色パネルの中に箇条書きで表示する</a:t>
            </a:r>
          </a:p>
          <a:p>
            <a:pPr algn="l" marL="251460" indent="-251460">
              <a:lnSpc>
                <a:spcPct val="108000"/>
              </a:lnSpc>
              <a:spcBef>
                <a:spcPts val="0"/>
              </a:spcBef>
              <a:spcAft>
                <a:spcPts val="0"/>
              </a:spcAft>
            </a:pPr>
            <a:r>
              <a:rPr sz="1200" b="1">
                <a:solidFill>
                  <a:srgbClr val="102C49"/>
                </a:solidFill>
                <a:latin typeface="Hiragino Sans"/>
                <a:ea typeface="Hiragino Sans"/>
              </a:rPr>
              <a:t>—  issuesとは別領域で独立して読める</a:t>
            </a:r>
          </a:p>
        </p:txBody>
      </p:sp>
      <p:sp>
        <p:nvSpPr>
          <p:cNvPr id="12" name="Rounded Rectangle 11"/>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issuesは優先度ラベル付き、actionsは対応方針の一括リスト</a:t>
            </a:r>
          </a:p>
        </p:txBody>
      </p:sp>
      <p:sp>
        <p:nvSpPr>
          <p:cNvPr id="13" name="TextBox 12"/>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“priority_actions” — 優先度付きの課題と、対応する方針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stage_track: 段階的な進行を同格のCardで示す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19</a:t>
            </a:r>
          </a:p>
        </p:txBody>
      </p:sp>
      <p:sp>
        <p:nvSpPr>
          <p:cNvPr id="5" name="Rounded Rectangle 4"/>
          <p:cNvSpPr/>
          <p:nvPr/>
        </p:nvSpPr>
        <p:spPr>
          <a:xfrm>
            <a:off x="609600" y="1335024"/>
            <a:ext cx="3401567" cy="3844995"/>
          </a:xfrm>
          <a:prstGeom prst="roundRect">
            <a:avLst>
              <a:gd name="adj" fmla="val 5227"/>
            </a:avLst>
          </a:prstGeom>
          <a:solidFill>
            <a:srgbClr val="E7EBF0"/>
          </a:solidFill>
          <a:ln>
            <a:noFill/>
          </a:ln>
        </p:spPr>
        <p:txBody>
          <a:bodyPr rtlCol="0" anchor="ctr"/>
          <a:lstStyle/>
          <a:p>
            <a:pPr algn="ctr"/>
          </a:p>
        </p:txBody>
      </p:sp>
      <p:sp>
        <p:nvSpPr>
          <p:cNvPr id="6" name="Rounded Rectangle 5"/>
          <p:cNvSpPr/>
          <p:nvPr/>
        </p:nvSpPr>
        <p:spPr>
          <a:xfrm>
            <a:off x="4395215" y="1335024"/>
            <a:ext cx="3401567" cy="3844995"/>
          </a:xfrm>
          <a:prstGeom prst="roundRect">
            <a:avLst>
              <a:gd name="adj" fmla="val 5227"/>
            </a:avLst>
          </a:prstGeom>
          <a:solidFill>
            <a:srgbClr val="E1EDFC"/>
          </a:solidFill>
          <a:ln>
            <a:noFill/>
          </a:ln>
        </p:spPr>
        <p:txBody>
          <a:bodyPr rtlCol="0" anchor="ctr"/>
          <a:lstStyle/>
          <a:p>
            <a:pPr algn="ctr"/>
          </a:p>
        </p:txBody>
      </p:sp>
      <p:sp>
        <p:nvSpPr>
          <p:cNvPr id="7" name="Rounded Rectangle 6"/>
          <p:cNvSpPr/>
          <p:nvPr/>
        </p:nvSpPr>
        <p:spPr>
          <a:xfrm>
            <a:off x="8180830" y="1335024"/>
            <a:ext cx="3401567" cy="3844995"/>
          </a:xfrm>
          <a:prstGeom prst="roundRect">
            <a:avLst>
              <a:gd name="adj" fmla="val 5227"/>
            </a:avLst>
          </a:prstGeom>
          <a:solidFill>
            <a:srgbClr val="E2F2F0"/>
          </a:solidFill>
          <a:ln>
            <a:noFill/>
          </a:ln>
        </p:spPr>
        <p:txBody>
          <a:bodyPr rtlCol="0" anchor="ctr"/>
          <a:lstStyle/>
          <a:p>
            <a:pPr algn="ctr"/>
          </a:p>
        </p:txBody>
      </p:sp>
      <p:sp>
        <p:nvSpPr>
          <p:cNvPr id="8" name="TextBox 7"/>
          <p:cNvSpPr txBox="1"/>
          <p:nvPr/>
        </p:nvSpPr>
        <p:spPr>
          <a:xfrm>
            <a:off x="865632" y="2755211"/>
            <a:ext cx="2889503" cy="81026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STEP1</a:t>
            </a:r>
          </a:p>
          <a:p>
            <a:pPr algn="l">
              <a:lnSpc>
                <a:spcPct val="108000"/>
              </a:lnSpc>
              <a:spcBef>
                <a:spcPts val="0"/>
              </a:spcBef>
              <a:spcAft>
                <a:spcPts val="800"/>
              </a:spcAft>
            </a:pPr>
            <a:r>
              <a:rPr sz="1500" b="1">
                <a:solidFill>
                  <a:srgbClr val="102C49"/>
                </a:solidFill>
                <a:latin typeface="Hiragino Sans"/>
                <a:ea typeface="Hiragino Sans"/>
              </a:rPr>
              <a:t>stages配列</a:t>
            </a:r>
          </a:p>
          <a:p>
            <a:pPr algn="l">
              <a:lnSpc>
                <a:spcPct val="115000"/>
              </a:lnSpc>
              <a:spcBef>
                <a:spcPts val="0"/>
              </a:spcBef>
              <a:spcAft>
                <a:spcPts val="0"/>
              </a:spcAft>
            </a:pPr>
            <a:r>
              <a:rPr sz="1000" b="0">
                <a:solidFill>
                  <a:srgbClr val="53657A"/>
                </a:solidFill>
                <a:latin typeface="Hiragino Sans"/>
                <a:ea typeface="Hiragino Sans"/>
              </a:rPr>
              <a:t>label/title/bodyを持つ段階を順に並べる</a:t>
            </a:r>
          </a:p>
        </p:txBody>
      </p:sp>
      <p:sp>
        <p:nvSpPr>
          <p:cNvPr id="9" name="TextBox 8"/>
          <p:cNvSpPr txBox="1"/>
          <p:nvPr/>
        </p:nvSpPr>
        <p:spPr>
          <a:xfrm>
            <a:off x="4651247" y="2755211"/>
            <a:ext cx="2889503" cy="81026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STEP2</a:t>
            </a:r>
          </a:p>
          <a:p>
            <a:pPr algn="l">
              <a:lnSpc>
                <a:spcPct val="108000"/>
              </a:lnSpc>
              <a:spcBef>
                <a:spcPts val="0"/>
              </a:spcBef>
              <a:spcAft>
                <a:spcPts val="800"/>
              </a:spcAft>
            </a:pPr>
            <a:r>
              <a:rPr sz="1500" b="1">
                <a:solidFill>
                  <a:srgbClr val="102C49"/>
                </a:solidFill>
                <a:latin typeface="Hiragino Sans"/>
                <a:ea typeface="Hiragino Sans"/>
              </a:rPr>
              <a:t>同格のCard</a:t>
            </a:r>
          </a:p>
          <a:p>
            <a:pPr algn="l">
              <a:lnSpc>
                <a:spcPct val="115000"/>
              </a:lnSpc>
              <a:spcBef>
                <a:spcPts val="0"/>
              </a:spcBef>
              <a:spcAft>
                <a:spcPts val="0"/>
              </a:spcAft>
            </a:pPr>
            <a:r>
              <a:rPr sz="1000" b="0">
                <a:solidFill>
                  <a:srgbClr val="53657A"/>
                </a:solidFill>
                <a:latin typeface="Hiragino Sans"/>
                <a:ea typeface="Hiragino Sans"/>
              </a:rPr>
              <a:t>各段階は優劣なく並列に見せる</a:t>
            </a:r>
          </a:p>
        </p:txBody>
      </p:sp>
      <p:sp>
        <p:nvSpPr>
          <p:cNvPr id="10" name="TextBox 9"/>
          <p:cNvSpPr txBox="1"/>
          <p:nvPr/>
        </p:nvSpPr>
        <p:spPr>
          <a:xfrm>
            <a:off x="8436862" y="2755211"/>
            <a:ext cx="2889503" cy="55880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STEP3</a:t>
            </a:r>
          </a:p>
          <a:p>
            <a:pPr algn="l">
              <a:lnSpc>
                <a:spcPct val="108000"/>
              </a:lnSpc>
              <a:spcBef>
                <a:spcPts val="0"/>
              </a:spcBef>
              <a:spcAft>
                <a:spcPts val="800"/>
              </a:spcAft>
            </a:pPr>
            <a:r>
              <a:rPr sz="1500" b="1">
                <a:solidFill>
                  <a:srgbClr val="102C49"/>
                </a:solidFill>
                <a:latin typeface="Hiragino Sans"/>
                <a:ea typeface="Hiragino Sans"/>
              </a:rPr>
              <a:t>itemsで箇条書き</a:t>
            </a:r>
          </a:p>
        </p:txBody>
      </p:sp>
      <p:sp>
        <p:nvSpPr>
          <p:cNvPr id="11" name="TextBox 10"/>
          <p:cNvSpPr txBox="1"/>
          <p:nvPr/>
        </p:nvSpPr>
        <p:spPr>
          <a:xfrm>
            <a:off x="8436862" y="3314011"/>
            <a:ext cx="2889503" cy="445820"/>
          </a:xfrm>
          <a:prstGeom prst="rect">
            <a:avLst/>
          </a:prstGeom>
          <a:noFill/>
        </p:spPr>
        <p:txBody>
          <a:bodyPr wrap="square" lIns="0" rIns="0" tIns="0" bIns="0" anchor="t">
            <a:spAutoFit/>
          </a:bodyPr>
          <a:lstStyle/>
          <a:p>
            <a:pPr algn="l" marL="320040" indent="-320040">
              <a:lnSpc>
                <a:spcPct val="108000"/>
              </a:lnSpc>
              <a:spcBef>
                <a:spcPts val="0"/>
              </a:spcBef>
              <a:spcAft>
                <a:spcPts val="400"/>
              </a:spcAft>
            </a:pPr>
            <a:r>
              <a:rPr sz="1200" b="1">
                <a:solidFill>
                  <a:srgbClr val="102C49"/>
                </a:solidFill>
                <a:latin typeface="Hiragino Sans"/>
                <a:ea typeface="Hiragino Sans"/>
              </a:rPr>
              <a:t>・  段ごとにやることを並べる</a:t>
            </a:r>
          </a:p>
          <a:p>
            <a:pPr algn="l" marL="320040" indent="-320040">
              <a:lnSpc>
                <a:spcPct val="108000"/>
              </a:lnSpc>
              <a:spcBef>
                <a:spcPts val="0"/>
              </a:spcBef>
              <a:spcAft>
                <a:spcPts val="0"/>
              </a:spcAft>
            </a:pPr>
            <a:r>
              <a:rPr sz="1200" b="1">
                <a:solidFill>
                  <a:srgbClr val="102C49"/>
                </a:solidFill>
                <a:latin typeface="Hiragino Sans"/>
                <a:ea typeface="Hiragino Sans"/>
              </a:rPr>
              <a:t>・  bodyと併用もできる</a:t>
            </a:r>
          </a:p>
        </p:txBody>
      </p:sp>
      <p:sp>
        <p:nvSpPr>
          <p:cNvPr id="12" name="Rounded Rectangle 11"/>
          <p:cNvSpPr/>
          <p:nvPr/>
        </p:nvSpPr>
        <p:spPr>
          <a:xfrm>
            <a:off x="609600" y="5807831"/>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stagesは配列の順に横並びの同格Cardになる。中身はbody（文章）とitems（箇条書き）のどちらでも書ける</a:t>
            </a:r>
          </a:p>
        </p:txBody>
      </p:sp>
      <p:sp>
        <p:nvSpPr>
          <p:cNvPr id="13" name="TextBox 12"/>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“stage_track” — 段階的な進行を同格のCardで示す。各段はbody（文章）でもitems（箇条書き）でも書ける（期間の幅を示すならtimeline）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stage_track (connectors: true): 矢印で順序を明示する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20</a:t>
            </a:r>
          </a:p>
        </p:txBody>
      </p:sp>
      <p:sp>
        <p:nvSpPr>
          <p:cNvPr id="5" name="Rounded Rectangle 4"/>
          <p:cNvSpPr/>
          <p:nvPr/>
        </p:nvSpPr>
        <p:spPr>
          <a:xfrm>
            <a:off x="609600" y="1335024"/>
            <a:ext cx="3401567" cy="3844995"/>
          </a:xfrm>
          <a:prstGeom prst="roundRect">
            <a:avLst>
              <a:gd name="adj" fmla="val 5227"/>
            </a:avLst>
          </a:prstGeom>
          <a:solidFill>
            <a:srgbClr val="E7EBF0"/>
          </a:solidFill>
          <a:ln>
            <a:noFill/>
          </a:ln>
        </p:spPr>
        <p:txBody>
          <a:bodyPr rtlCol="0" anchor="ctr"/>
          <a:lstStyle/>
          <a:p>
            <a:pPr algn="ctr"/>
          </a:p>
        </p:txBody>
      </p:sp>
      <p:sp>
        <p:nvSpPr>
          <p:cNvPr id="6" name="Rounded Rectangle 5"/>
          <p:cNvSpPr/>
          <p:nvPr/>
        </p:nvSpPr>
        <p:spPr>
          <a:xfrm>
            <a:off x="4395215" y="1335024"/>
            <a:ext cx="3401567" cy="3844995"/>
          </a:xfrm>
          <a:prstGeom prst="roundRect">
            <a:avLst>
              <a:gd name="adj" fmla="val 5227"/>
            </a:avLst>
          </a:prstGeom>
          <a:solidFill>
            <a:srgbClr val="E1EDFC"/>
          </a:solidFill>
          <a:ln>
            <a:noFill/>
          </a:ln>
        </p:spPr>
        <p:txBody>
          <a:bodyPr rtlCol="0" anchor="ctr"/>
          <a:lstStyle/>
          <a:p>
            <a:pPr algn="ctr"/>
          </a:p>
        </p:txBody>
      </p:sp>
      <p:sp>
        <p:nvSpPr>
          <p:cNvPr id="7" name="Rounded Rectangle 6"/>
          <p:cNvSpPr/>
          <p:nvPr/>
        </p:nvSpPr>
        <p:spPr>
          <a:xfrm>
            <a:off x="8180830" y="1335024"/>
            <a:ext cx="3401567" cy="3844995"/>
          </a:xfrm>
          <a:prstGeom prst="roundRect">
            <a:avLst>
              <a:gd name="adj" fmla="val 5227"/>
            </a:avLst>
          </a:prstGeom>
          <a:solidFill>
            <a:srgbClr val="E2F2F0"/>
          </a:solidFill>
          <a:ln>
            <a:noFill/>
          </a:ln>
        </p:spPr>
        <p:txBody>
          <a:bodyPr rtlCol="0" anchor="ctr"/>
          <a:lstStyle/>
          <a:p>
            <a:pPr algn="ctr"/>
          </a:p>
        </p:txBody>
      </p:sp>
      <p:cxnSp>
        <p:nvCxnSpPr>
          <p:cNvPr id="8" name="Connector 7"/>
          <p:cNvCxnSpPr/>
          <p:nvPr/>
        </p:nvCxnSpPr>
        <p:spPr>
          <a:xfrm>
            <a:off x="4011167" y="3257521"/>
            <a:ext cx="384048" cy="0"/>
          </a:xfrm>
          <a:prstGeom prst="line">
            <a:avLst/>
          </a:prstGeom>
          <a:ln w="22225">
            <a:solidFill>
              <a:srgbClr val="738296"/>
            </a:solidFill>
            <a:tailEnd type="triangle" w="lg" len="lg"/>
          </a:ln>
        </p:spPr>
      </p:cxnSp>
      <p:cxnSp>
        <p:nvCxnSpPr>
          <p:cNvPr id="9" name="Connector 8"/>
          <p:cNvCxnSpPr/>
          <p:nvPr/>
        </p:nvCxnSpPr>
        <p:spPr>
          <a:xfrm>
            <a:off x="7796782" y="3257521"/>
            <a:ext cx="384048" cy="0"/>
          </a:xfrm>
          <a:prstGeom prst="line">
            <a:avLst/>
          </a:prstGeom>
          <a:ln w="22225">
            <a:solidFill>
              <a:srgbClr val="738296"/>
            </a:solidFill>
            <a:tailEnd type="triangle" w="lg" len="lg"/>
          </a:ln>
        </p:spPr>
      </p:cxnSp>
      <p:sp>
        <p:nvSpPr>
          <p:cNvPr id="10" name="TextBox 9"/>
          <p:cNvSpPr txBox="1"/>
          <p:nvPr/>
        </p:nvSpPr>
        <p:spPr>
          <a:xfrm>
            <a:off x="865632" y="2764761"/>
            <a:ext cx="2889503" cy="81026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STEP1</a:t>
            </a:r>
          </a:p>
          <a:p>
            <a:pPr algn="l">
              <a:lnSpc>
                <a:spcPct val="108000"/>
              </a:lnSpc>
              <a:spcBef>
                <a:spcPts val="0"/>
              </a:spcBef>
              <a:spcAft>
                <a:spcPts val="800"/>
              </a:spcAft>
            </a:pPr>
            <a:r>
              <a:rPr sz="1500" b="1">
                <a:solidFill>
                  <a:srgbClr val="102C49"/>
                </a:solidFill>
                <a:latin typeface="Hiragino Sans"/>
                <a:ea typeface="Hiragino Sans"/>
              </a:rPr>
              <a:t>既定はconnectors: false</a:t>
            </a:r>
          </a:p>
          <a:p>
            <a:pPr algn="l">
              <a:lnSpc>
                <a:spcPct val="115000"/>
              </a:lnSpc>
              <a:spcBef>
                <a:spcPts val="0"/>
              </a:spcBef>
              <a:spcAft>
                <a:spcPts val="0"/>
              </a:spcAft>
            </a:pPr>
            <a:r>
              <a:rPr sz="1000" b="0">
                <a:solidFill>
                  <a:srgbClr val="53657A"/>
                </a:solidFill>
                <a:latin typeface="Hiragino Sans"/>
                <a:ea typeface="Hiragino Sans"/>
              </a:rPr>
              <a:t>他の型の基本例と同じ矢印なしの見た目</a:t>
            </a:r>
          </a:p>
        </p:txBody>
      </p:sp>
      <p:sp>
        <p:nvSpPr>
          <p:cNvPr id="11" name="TextBox 10"/>
          <p:cNvSpPr txBox="1"/>
          <p:nvPr/>
        </p:nvSpPr>
        <p:spPr>
          <a:xfrm>
            <a:off x="4651247" y="2764761"/>
            <a:ext cx="2889503" cy="98552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STEP2</a:t>
            </a:r>
          </a:p>
          <a:p>
            <a:pPr algn="l">
              <a:lnSpc>
                <a:spcPct val="108000"/>
              </a:lnSpc>
              <a:spcBef>
                <a:spcPts val="0"/>
              </a:spcBef>
              <a:spcAft>
                <a:spcPts val="800"/>
              </a:spcAft>
            </a:pPr>
            <a:r>
              <a:rPr sz="1500" b="1">
                <a:solidFill>
                  <a:srgbClr val="102C49"/>
                </a:solidFill>
                <a:latin typeface="Hiragino Sans"/>
                <a:ea typeface="Hiragino Sans"/>
              </a:rPr>
              <a:t>矢印はここでだけ使う</a:t>
            </a:r>
          </a:p>
          <a:p>
            <a:pPr algn="l">
              <a:lnSpc>
                <a:spcPct val="115000"/>
              </a:lnSpc>
              <a:spcBef>
                <a:spcPts val="0"/>
              </a:spcBef>
              <a:spcAft>
                <a:spcPts val="0"/>
              </a:spcAft>
            </a:pPr>
            <a:r>
              <a:rPr sz="1000" b="0">
                <a:solidFill>
                  <a:srgbClr val="53657A"/>
                </a:solidFill>
                <a:latin typeface="Hiragino Sans"/>
                <a:ea typeface="Hiragino Sans"/>
              </a:rPr>
              <a:t>この構造図に限り、順序性を強めたいときに選べるオプション</a:t>
            </a:r>
          </a:p>
        </p:txBody>
      </p:sp>
      <p:sp>
        <p:nvSpPr>
          <p:cNvPr id="12" name="TextBox 11"/>
          <p:cNvSpPr txBox="1"/>
          <p:nvPr/>
        </p:nvSpPr>
        <p:spPr>
          <a:xfrm>
            <a:off x="8436862" y="2764761"/>
            <a:ext cx="2889503" cy="810260"/>
          </a:xfrm>
          <a:prstGeom prst="rect">
            <a:avLst/>
          </a:prstGeom>
          <a:noFill/>
        </p:spPr>
        <p:txBody>
          <a:bodyPr wrap="square" lIns="0" rIns="0" tIns="0" bIns="0" anchor="t">
            <a:spAutoFit/>
          </a:bodyPr>
          <a:lstStyle/>
          <a:p>
            <a:pPr algn="l">
              <a:lnSpc>
                <a:spcPct val="108000"/>
              </a:lnSpc>
              <a:spcBef>
                <a:spcPts val="0"/>
              </a:spcBef>
              <a:spcAft>
                <a:spcPts val="600"/>
              </a:spcAft>
            </a:pPr>
            <a:r>
              <a:rPr sz="1000" b="1">
                <a:solidFill>
                  <a:srgbClr val="2574D9"/>
                </a:solidFill>
                <a:latin typeface="Hiragino Sans"/>
                <a:ea typeface="Hiragino Sans"/>
              </a:rPr>
              <a:t>STEP3</a:t>
            </a:r>
          </a:p>
          <a:p>
            <a:pPr algn="l">
              <a:lnSpc>
                <a:spcPct val="108000"/>
              </a:lnSpc>
              <a:spcBef>
                <a:spcPts val="0"/>
              </a:spcBef>
              <a:spcAft>
                <a:spcPts val="800"/>
              </a:spcAft>
            </a:pPr>
            <a:r>
              <a:rPr sz="1500" b="1">
                <a:solidFill>
                  <a:srgbClr val="102C49"/>
                </a:solidFill>
                <a:latin typeface="Hiragino Sans"/>
                <a:ea typeface="Hiragino Sans"/>
              </a:rPr>
              <a:t>太さ・矢じりは固定</a:t>
            </a:r>
          </a:p>
          <a:p>
            <a:pPr algn="l">
              <a:lnSpc>
                <a:spcPct val="115000"/>
              </a:lnSpc>
              <a:spcBef>
                <a:spcPts val="0"/>
              </a:spcBef>
              <a:spcAft>
                <a:spcPts val="0"/>
              </a:spcAft>
            </a:pPr>
            <a:r>
              <a:rPr sz="1000" b="0">
                <a:solidFill>
                  <a:srgbClr val="53657A"/>
                </a:solidFill>
                <a:latin typeface="Hiragino Sans"/>
                <a:ea typeface="Hiragino Sans"/>
              </a:rPr>
              <a:t>Atom層のConnectorが一貫した太さで描く</a:t>
            </a:r>
          </a:p>
        </p:txBody>
      </p:sp>
      <p:sp>
        <p:nvSpPr>
          <p:cNvPr id="13" name="Rounded Rectangle 12"/>
          <p:cNvSpPr/>
          <p:nvPr/>
        </p:nvSpPr>
        <p:spPr>
          <a:xfrm>
            <a:off x="609600" y="5807831"/>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段階の間に順序・因果があることを強調したい場合だけconnectors:trueにする</a:t>
            </a:r>
          </a:p>
        </p:txBody>
      </p:sp>
      <p:sp>
        <p:nvSpPr>
          <p:cNvPr id="14" name="TextBox 13"/>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“stage_track (connectors: true)” — 矢印表現はここだけの限定的なオプション。cycleの円周矢印は構造上必須のため別枠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timeline: 期間ぶんの幅を持つ帯を共通の時間軸へ並べる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21</a:t>
            </a:r>
          </a:p>
        </p:txBody>
      </p:sp>
      <p:sp>
        <p:nvSpPr>
          <p:cNvPr id="5" name="Rounded Rectangle 4"/>
          <p:cNvSpPr/>
          <p:nvPr/>
        </p:nvSpPr>
        <p:spPr>
          <a:xfrm>
            <a:off x="2906572" y="1335024"/>
            <a:ext cx="8675826" cy="384048"/>
          </a:xfrm>
          <a:prstGeom prst="roundRect">
            <a:avLst>
              <a:gd name="adj" fmla="val 46296"/>
            </a:avLst>
          </a:prstGeom>
          <a:solidFill>
            <a:srgbClr val="E7EBF0"/>
          </a:solidFill>
          <a:ln>
            <a:noFill/>
          </a:ln>
        </p:spPr>
        <p:txBody>
          <a:bodyPr rtlCol="0" anchor="ctr"/>
          <a:lstStyle/>
          <a:p>
            <a:pPr algn="ctr"/>
          </a:p>
        </p:txBody>
      </p:sp>
      <p:sp>
        <p:nvSpPr>
          <p:cNvPr id="6" name="TextBox 5"/>
          <p:cNvSpPr txBox="1"/>
          <p:nvPr/>
        </p:nvSpPr>
        <p:spPr>
          <a:xfrm>
            <a:off x="2906572" y="1389888"/>
            <a:ext cx="2168956" cy="384048"/>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Q1</a:t>
            </a:r>
          </a:p>
        </p:txBody>
      </p:sp>
      <p:sp>
        <p:nvSpPr>
          <p:cNvPr id="7" name="TextBox 6"/>
          <p:cNvSpPr txBox="1"/>
          <p:nvPr/>
        </p:nvSpPr>
        <p:spPr>
          <a:xfrm>
            <a:off x="5075528" y="1389888"/>
            <a:ext cx="2168956" cy="384048"/>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Q2</a:t>
            </a:r>
          </a:p>
        </p:txBody>
      </p:sp>
      <p:sp>
        <p:nvSpPr>
          <p:cNvPr id="8" name="Rectangle 7"/>
          <p:cNvSpPr/>
          <p:nvPr/>
        </p:nvSpPr>
        <p:spPr>
          <a:xfrm>
            <a:off x="5075528" y="1865376"/>
            <a:ext cx="9525" cy="3840480"/>
          </a:xfrm>
          <a:prstGeom prst="rect">
            <a:avLst/>
          </a:prstGeom>
          <a:solidFill>
            <a:srgbClr val="D7DEE6"/>
          </a:solidFill>
          <a:ln>
            <a:noFill/>
          </a:ln>
        </p:spPr>
        <p:txBody>
          <a:bodyPr rtlCol="0" anchor="ctr"/>
          <a:lstStyle/>
          <a:p>
            <a:pPr algn="ctr"/>
          </a:p>
        </p:txBody>
      </p:sp>
      <p:sp>
        <p:nvSpPr>
          <p:cNvPr id="9" name="TextBox 8"/>
          <p:cNvSpPr txBox="1"/>
          <p:nvPr/>
        </p:nvSpPr>
        <p:spPr>
          <a:xfrm>
            <a:off x="7244485" y="1389888"/>
            <a:ext cx="2168956" cy="384048"/>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Q3</a:t>
            </a:r>
          </a:p>
        </p:txBody>
      </p:sp>
      <p:sp>
        <p:nvSpPr>
          <p:cNvPr id="10" name="Rectangle 9"/>
          <p:cNvSpPr/>
          <p:nvPr/>
        </p:nvSpPr>
        <p:spPr>
          <a:xfrm>
            <a:off x="7244485" y="1865376"/>
            <a:ext cx="9525" cy="3840480"/>
          </a:xfrm>
          <a:prstGeom prst="rect">
            <a:avLst/>
          </a:prstGeom>
          <a:solidFill>
            <a:srgbClr val="D7DEE6"/>
          </a:solidFill>
          <a:ln>
            <a:noFill/>
          </a:ln>
        </p:spPr>
        <p:txBody>
          <a:bodyPr rtlCol="0" anchor="ctr"/>
          <a:lstStyle/>
          <a:p>
            <a:pPr algn="ctr"/>
          </a:p>
        </p:txBody>
      </p:sp>
      <p:sp>
        <p:nvSpPr>
          <p:cNvPr id="11" name="TextBox 10"/>
          <p:cNvSpPr txBox="1"/>
          <p:nvPr/>
        </p:nvSpPr>
        <p:spPr>
          <a:xfrm>
            <a:off x="9413441" y="1389888"/>
            <a:ext cx="2168956" cy="384048"/>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Q4</a:t>
            </a:r>
          </a:p>
        </p:txBody>
      </p:sp>
      <p:sp>
        <p:nvSpPr>
          <p:cNvPr id="12" name="Rectangle 11"/>
          <p:cNvSpPr/>
          <p:nvPr/>
        </p:nvSpPr>
        <p:spPr>
          <a:xfrm>
            <a:off x="9413441" y="1865376"/>
            <a:ext cx="9525" cy="3840480"/>
          </a:xfrm>
          <a:prstGeom prst="rect">
            <a:avLst/>
          </a:prstGeom>
          <a:solidFill>
            <a:srgbClr val="D7DEE6"/>
          </a:solidFill>
          <a:ln>
            <a:noFill/>
          </a:ln>
        </p:spPr>
        <p:txBody>
          <a:bodyPr rtlCol="0" anchor="ctr"/>
          <a:lstStyle/>
          <a:p>
            <a:pPr algn="ctr"/>
          </a:p>
        </p:txBody>
      </p:sp>
      <p:sp>
        <p:nvSpPr>
          <p:cNvPr id="13" name="TextBox 12"/>
          <p:cNvSpPr txBox="1"/>
          <p:nvPr/>
        </p:nvSpPr>
        <p:spPr>
          <a:xfrm>
            <a:off x="609600" y="1865376"/>
            <a:ext cx="2168956" cy="864108"/>
          </a:xfrm>
          <a:prstGeom prst="rect">
            <a:avLst/>
          </a:prstGeom>
          <a:noFill/>
        </p:spPr>
        <p:txBody>
          <a:bodyPr wrap="square" lIns="0" rIns="0" tIns="0" bIns="0" anchor="ctr">
            <a:spAutoFit/>
          </a:bodyPr>
          <a:lstStyle/>
          <a:p>
            <a:pPr algn="l">
              <a:lnSpc>
                <a:spcPct val="108000"/>
              </a:lnSpc>
              <a:spcBef>
                <a:spcPts val="0"/>
              </a:spcBef>
              <a:spcAft>
                <a:spcPts val="0"/>
              </a:spcAft>
            </a:pPr>
            <a:r>
              <a:rPr sz="1200" b="1">
                <a:solidFill>
                  <a:srgbClr val="102C49"/>
                </a:solidFill>
                <a:latin typeface="Hiragino Sans"/>
                <a:ea typeface="Hiragino Sans"/>
              </a:rPr>
              <a:t>rows配列</a:t>
            </a:r>
          </a:p>
        </p:txBody>
      </p:sp>
      <p:sp>
        <p:nvSpPr>
          <p:cNvPr id="14" name="Rounded Rectangle 13"/>
          <p:cNvSpPr/>
          <p:nvPr/>
        </p:nvSpPr>
        <p:spPr>
          <a:xfrm>
            <a:off x="2952292" y="2013966"/>
            <a:ext cx="4246473" cy="566928"/>
          </a:xfrm>
          <a:prstGeom prst="roundRect">
            <a:avLst>
              <a:gd name="adj" fmla="val 31362"/>
            </a:avLst>
          </a:prstGeom>
          <a:solidFill>
            <a:srgbClr val="E1EDFC"/>
          </a:solidFill>
          <a:ln>
            <a:noFill/>
          </a:ln>
        </p:spPr>
        <p:txBody>
          <a:bodyPr rtlCol="0" anchor="ctr"/>
          <a:lstStyle/>
          <a:p>
            <a:pPr algn="ctr"/>
          </a:p>
        </p:txBody>
      </p:sp>
      <p:sp>
        <p:nvSpPr>
          <p:cNvPr id="15" name="TextBox 14"/>
          <p:cNvSpPr txBox="1"/>
          <p:nvPr/>
        </p:nvSpPr>
        <p:spPr>
          <a:xfrm>
            <a:off x="3080308" y="2013966"/>
            <a:ext cx="3990441" cy="566928"/>
          </a:xfrm>
          <a:prstGeom prst="rect">
            <a:avLst/>
          </a:prstGeom>
          <a:noFill/>
        </p:spPr>
        <p:txBody>
          <a:bodyPr wrap="square" lIns="0" rIns="0" tIns="0" bIns="0" anchor="ctr">
            <a:spAutoFit/>
          </a:bodyPr>
          <a:lstStyle/>
          <a:p>
            <a:pPr algn="l">
              <a:lnSpc>
                <a:spcPct val="105000"/>
              </a:lnSpc>
              <a:spcBef>
                <a:spcPts val="0"/>
              </a:spcBef>
              <a:spcAft>
                <a:spcPts val="0"/>
              </a:spcAft>
            </a:pPr>
            <a:r>
              <a:rPr sz="1200" b="1">
                <a:solidFill>
                  <a:srgbClr val="102C49"/>
                </a:solidFill>
                <a:latin typeface="Hiragino Sans"/>
                <a:ea typeface="Hiragino Sans"/>
              </a:rPr>
              <a:t>1行が1つの取り組みになる</a:t>
            </a:r>
          </a:p>
        </p:txBody>
      </p:sp>
      <p:sp>
        <p:nvSpPr>
          <p:cNvPr id="16" name="TextBox 15"/>
          <p:cNvSpPr txBox="1"/>
          <p:nvPr/>
        </p:nvSpPr>
        <p:spPr>
          <a:xfrm>
            <a:off x="609600" y="2857500"/>
            <a:ext cx="2168956" cy="864108"/>
          </a:xfrm>
          <a:prstGeom prst="rect">
            <a:avLst/>
          </a:prstGeom>
          <a:noFill/>
        </p:spPr>
        <p:txBody>
          <a:bodyPr wrap="square" lIns="0" rIns="0" tIns="0" bIns="0" anchor="ctr">
            <a:spAutoFit/>
          </a:bodyPr>
          <a:lstStyle/>
          <a:p>
            <a:pPr algn="l">
              <a:lnSpc>
                <a:spcPct val="108000"/>
              </a:lnSpc>
              <a:spcBef>
                <a:spcPts val="0"/>
              </a:spcBef>
              <a:spcAft>
                <a:spcPts val="0"/>
              </a:spcAft>
            </a:pPr>
            <a:r>
              <a:rPr sz="1200" b="1">
                <a:solidFill>
                  <a:srgbClr val="102C49"/>
                </a:solidFill>
                <a:latin typeface="Hiragino Sans"/>
                <a:ea typeface="Hiragino Sans"/>
              </a:rPr>
              <a:t>start / end</a:t>
            </a:r>
          </a:p>
        </p:txBody>
      </p:sp>
      <p:sp>
        <p:nvSpPr>
          <p:cNvPr id="17" name="Rounded Rectangle 16"/>
          <p:cNvSpPr/>
          <p:nvPr/>
        </p:nvSpPr>
        <p:spPr>
          <a:xfrm>
            <a:off x="5121248" y="3006090"/>
            <a:ext cx="4246473" cy="566928"/>
          </a:xfrm>
          <a:prstGeom prst="roundRect">
            <a:avLst>
              <a:gd name="adj" fmla="val 31362"/>
            </a:avLst>
          </a:prstGeom>
          <a:solidFill>
            <a:srgbClr val="E2F2F0"/>
          </a:solidFill>
          <a:ln>
            <a:noFill/>
          </a:ln>
        </p:spPr>
        <p:txBody>
          <a:bodyPr rtlCol="0" anchor="ctr"/>
          <a:lstStyle/>
          <a:p>
            <a:pPr algn="ctr"/>
          </a:p>
        </p:txBody>
      </p:sp>
      <p:sp>
        <p:nvSpPr>
          <p:cNvPr id="18" name="TextBox 17"/>
          <p:cNvSpPr txBox="1"/>
          <p:nvPr/>
        </p:nvSpPr>
        <p:spPr>
          <a:xfrm>
            <a:off x="5249264" y="3006090"/>
            <a:ext cx="3990441" cy="566928"/>
          </a:xfrm>
          <a:prstGeom prst="rect">
            <a:avLst/>
          </a:prstGeom>
          <a:noFill/>
        </p:spPr>
        <p:txBody>
          <a:bodyPr wrap="square" lIns="0" rIns="0" tIns="0" bIns="0" anchor="ctr">
            <a:spAutoFit/>
          </a:bodyPr>
          <a:lstStyle/>
          <a:p>
            <a:pPr algn="l">
              <a:lnSpc>
                <a:spcPct val="105000"/>
              </a:lnSpc>
              <a:spcBef>
                <a:spcPts val="0"/>
              </a:spcBef>
              <a:spcAft>
                <a:spcPts val="0"/>
              </a:spcAft>
            </a:pPr>
            <a:r>
              <a:rPr sz="1200" b="1">
                <a:solidFill>
                  <a:srgbClr val="102C49"/>
                </a:solidFill>
                <a:latin typeface="Hiragino Sans"/>
                <a:ea typeface="Hiragino Sans"/>
              </a:rPr>
              <a:t>占める区間を期間番号で指定する</a:t>
            </a:r>
          </a:p>
        </p:txBody>
      </p:sp>
      <p:sp>
        <p:nvSpPr>
          <p:cNvPr id="19" name="TextBox 18"/>
          <p:cNvSpPr txBox="1"/>
          <p:nvPr/>
        </p:nvSpPr>
        <p:spPr>
          <a:xfrm>
            <a:off x="609600" y="3849624"/>
            <a:ext cx="2168956" cy="864108"/>
          </a:xfrm>
          <a:prstGeom prst="rect">
            <a:avLst/>
          </a:prstGeom>
          <a:noFill/>
        </p:spPr>
        <p:txBody>
          <a:bodyPr wrap="square" lIns="0" rIns="0" tIns="0" bIns="0" anchor="ctr">
            <a:spAutoFit/>
          </a:bodyPr>
          <a:lstStyle/>
          <a:p>
            <a:pPr algn="l">
              <a:lnSpc>
                <a:spcPct val="108000"/>
              </a:lnSpc>
              <a:spcBef>
                <a:spcPts val="0"/>
              </a:spcBef>
              <a:spcAft>
                <a:spcPts val="0"/>
              </a:spcAft>
            </a:pPr>
            <a:r>
              <a:rPr sz="1200" b="1">
                <a:solidFill>
                  <a:srgbClr val="102C49"/>
                </a:solidFill>
                <a:latin typeface="Hiragino Sans"/>
                <a:ea typeface="Hiragino Sans"/>
              </a:rPr>
              <a:t>tone</a:t>
            </a:r>
          </a:p>
        </p:txBody>
      </p:sp>
      <p:sp>
        <p:nvSpPr>
          <p:cNvPr id="20" name="Rounded Rectangle 19"/>
          <p:cNvSpPr/>
          <p:nvPr/>
        </p:nvSpPr>
        <p:spPr>
          <a:xfrm>
            <a:off x="7290205" y="3998214"/>
            <a:ext cx="4246473" cy="566928"/>
          </a:xfrm>
          <a:prstGeom prst="roundRect">
            <a:avLst>
              <a:gd name="adj" fmla="val 31362"/>
            </a:avLst>
          </a:prstGeom>
          <a:solidFill>
            <a:srgbClr val="FCEADA"/>
          </a:solidFill>
          <a:ln>
            <a:noFill/>
          </a:ln>
        </p:spPr>
        <p:txBody>
          <a:bodyPr rtlCol="0" anchor="ctr"/>
          <a:lstStyle/>
          <a:p>
            <a:pPr algn="ctr"/>
          </a:p>
        </p:txBody>
      </p:sp>
      <p:sp>
        <p:nvSpPr>
          <p:cNvPr id="21" name="TextBox 20"/>
          <p:cNvSpPr txBox="1"/>
          <p:nvPr/>
        </p:nvSpPr>
        <p:spPr>
          <a:xfrm>
            <a:off x="7418221" y="3998214"/>
            <a:ext cx="3990441" cy="566928"/>
          </a:xfrm>
          <a:prstGeom prst="rect">
            <a:avLst/>
          </a:prstGeom>
          <a:noFill/>
        </p:spPr>
        <p:txBody>
          <a:bodyPr wrap="square" lIns="0" rIns="0" tIns="0" bIns="0" anchor="ctr">
            <a:spAutoFit/>
          </a:bodyPr>
          <a:lstStyle/>
          <a:p>
            <a:pPr algn="l">
              <a:lnSpc>
                <a:spcPct val="105000"/>
              </a:lnSpc>
              <a:spcBef>
                <a:spcPts val="0"/>
              </a:spcBef>
              <a:spcAft>
                <a:spcPts val="0"/>
              </a:spcAft>
            </a:pPr>
            <a:r>
              <a:rPr sz="1200" b="1">
                <a:solidFill>
                  <a:srgbClr val="102C49"/>
                </a:solidFill>
                <a:latin typeface="Hiragino Sans"/>
                <a:ea typeface="Hiragino Sans"/>
              </a:rPr>
              <a:t>帯の色は意味で選ぶ</a:t>
            </a:r>
          </a:p>
        </p:txBody>
      </p:sp>
      <p:sp>
        <p:nvSpPr>
          <p:cNvPr id="22" name="TextBox 21"/>
          <p:cNvSpPr txBox="1"/>
          <p:nvPr/>
        </p:nvSpPr>
        <p:spPr>
          <a:xfrm>
            <a:off x="609600" y="4841748"/>
            <a:ext cx="2168956" cy="864108"/>
          </a:xfrm>
          <a:prstGeom prst="rect">
            <a:avLst/>
          </a:prstGeom>
          <a:noFill/>
        </p:spPr>
        <p:txBody>
          <a:bodyPr wrap="square" lIns="0" rIns="0" tIns="0" bIns="0" anchor="ctr">
            <a:spAutoFit/>
          </a:bodyPr>
          <a:lstStyle/>
          <a:p>
            <a:pPr algn="l">
              <a:lnSpc>
                <a:spcPct val="108000"/>
              </a:lnSpc>
              <a:spcBef>
                <a:spcPts val="0"/>
              </a:spcBef>
              <a:spcAft>
                <a:spcPts val="0"/>
              </a:spcAft>
            </a:pPr>
            <a:r>
              <a:rPr sz="1200" b="1">
                <a:solidFill>
                  <a:srgbClr val="102C49"/>
                </a:solidFill>
                <a:latin typeface="Hiragino Sans"/>
                <a:ea typeface="Hiragino Sans"/>
              </a:rPr>
              <a:t>自動回り込み</a:t>
            </a:r>
          </a:p>
        </p:txBody>
      </p:sp>
      <p:sp>
        <p:nvSpPr>
          <p:cNvPr id="23" name="Rounded Rectangle 22"/>
          <p:cNvSpPr/>
          <p:nvPr/>
        </p:nvSpPr>
        <p:spPr>
          <a:xfrm>
            <a:off x="2952292" y="4990338"/>
            <a:ext cx="2077516" cy="566928"/>
          </a:xfrm>
          <a:prstGeom prst="roundRect">
            <a:avLst>
              <a:gd name="adj" fmla="val 31362"/>
            </a:avLst>
          </a:prstGeom>
          <a:solidFill>
            <a:srgbClr val="E7EBF0"/>
          </a:solidFill>
          <a:ln>
            <a:noFill/>
          </a:ln>
        </p:spPr>
        <p:txBody>
          <a:bodyPr rtlCol="0" anchor="ctr"/>
          <a:lstStyle/>
          <a:p>
            <a:pPr algn="ctr"/>
          </a:p>
        </p:txBody>
      </p:sp>
      <p:sp>
        <p:nvSpPr>
          <p:cNvPr id="24" name="TextBox 23"/>
          <p:cNvSpPr txBox="1"/>
          <p:nvPr/>
        </p:nvSpPr>
        <p:spPr>
          <a:xfrm>
            <a:off x="5139536" y="4990338"/>
            <a:ext cx="6442862" cy="566928"/>
          </a:xfrm>
          <a:prstGeom prst="rect">
            <a:avLst/>
          </a:prstGeom>
          <a:noFill/>
        </p:spPr>
        <p:txBody>
          <a:bodyPr wrap="square" lIns="0" rIns="0" tIns="0" bIns="0" anchor="ctr">
            <a:spAutoFit/>
          </a:bodyPr>
          <a:lstStyle/>
          <a:p>
            <a:pPr algn="l">
              <a:lnSpc>
                <a:spcPct val="105000"/>
              </a:lnSpc>
              <a:spcBef>
                <a:spcPts val="0"/>
              </a:spcBef>
              <a:spcAft>
                <a:spcPts val="0"/>
              </a:spcAft>
            </a:pPr>
            <a:r>
              <a:rPr sz="1200" b="1">
                <a:solidFill>
                  <a:srgbClr val="102C49"/>
                </a:solidFill>
                <a:latin typeface="Hiragino Sans"/>
                <a:ea typeface="Hiragino Sans"/>
              </a:rPr>
              <a:t>帯の中に収まらない長さのtitleは、文字が潰れないよう自動的に帯の右側へ回る</a:t>
            </a:r>
          </a:p>
        </p:txBody>
      </p:sp>
      <p:sp>
        <p:nvSpPr>
          <p:cNvPr id="25" name="Rounded Rectangle 24"/>
          <p:cNvSpPr/>
          <p:nvPr/>
        </p:nvSpPr>
        <p:spPr>
          <a:xfrm>
            <a:off x="609600" y="5852160"/>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periodsが時間軸の目盛り、rowsのstart/endが占める区間（1始まり・endを含む）。範囲外の値は軸の端へ丸める</a:t>
            </a:r>
          </a:p>
        </p:txBody>
      </p:sp>
      <p:sp>
        <p:nvSpPr>
          <p:cNvPr id="26" name="TextBox 25"/>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“timeline” — 開始と終了が異なる取り組みが並走する計画（ロードマップ、ガント）。帯の幅が期間を表す（stage_trackは順序、process_with_gatesは判断時点）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numbered_list: 番号付きの単列項目を並べる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22</a:t>
            </a:r>
          </a:p>
        </p:txBody>
      </p:sp>
      <p:sp>
        <p:nvSpPr>
          <p:cNvPr id="5" name="TextBox 4"/>
          <p:cNvSpPr txBox="1"/>
          <p:nvPr/>
        </p:nvSpPr>
        <p:spPr>
          <a:xfrm>
            <a:off x="609600" y="2139696"/>
            <a:ext cx="10972799" cy="694944"/>
          </a:xfrm>
          <a:prstGeom prst="rect">
            <a:avLst/>
          </a:prstGeom>
          <a:noFill/>
        </p:spPr>
        <p:txBody>
          <a:bodyPr wrap="square" lIns="0" rIns="0" tIns="0" bIns="0" anchor="t">
            <a:spAutoFit/>
          </a:bodyPr>
          <a:lstStyle/>
          <a:p>
            <a:pPr algn="l" marL="349250" indent="-349250">
              <a:lnSpc>
                <a:spcPct val="108000"/>
              </a:lnSpc>
              <a:spcBef>
                <a:spcPts val="0"/>
              </a:spcBef>
              <a:spcAft>
                <a:spcPts val="0"/>
              </a:spcAft>
            </a:pPr>
            <a:r>
              <a:rPr sz="1000" b="1">
                <a:solidFill>
                  <a:srgbClr val="2574D9"/>
                </a:solidFill>
                <a:latin typeface="Hiragino Sans"/>
                <a:ea typeface="Hiragino Sans"/>
              </a:rPr>
              <a:t>01   </a:t>
            </a:r>
            <a:r>
              <a:rPr sz="1200" b="1">
                <a:solidFill>
                  <a:srgbClr val="102C49"/>
                </a:solidFill>
                <a:latin typeface="Hiragino Sans"/>
                <a:ea typeface="Hiragino Sans"/>
              </a:rPr>
              <a:t>items配列</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番号は自動で振られ、titleとbodyを持てる</a:t>
            </a:r>
          </a:p>
        </p:txBody>
      </p:sp>
      <p:sp>
        <p:nvSpPr>
          <p:cNvPr id="6" name="Rectangle 5"/>
          <p:cNvSpPr/>
          <p:nvPr/>
        </p:nvSpPr>
        <p:spPr>
          <a:xfrm>
            <a:off x="609600" y="2629814"/>
            <a:ext cx="10972799" cy="9525"/>
          </a:xfrm>
          <a:prstGeom prst="rect">
            <a:avLst/>
          </a:prstGeom>
          <a:solidFill>
            <a:srgbClr val="D7DEE6"/>
          </a:solidFill>
          <a:ln>
            <a:noFill/>
          </a:ln>
        </p:spPr>
        <p:txBody>
          <a:bodyPr rtlCol="0" anchor="ctr"/>
          <a:lstStyle/>
          <a:p>
            <a:pPr algn="ctr"/>
          </a:p>
        </p:txBody>
      </p:sp>
      <p:sp>
        <p:nvSpPr>
          <p:cNvPr id="7" name="TextBox 6"/>
          <p:cNvSpPr txBox="1"/>
          <p:nvPr/>
        </p:nvSpPr>
        <p:spPr>
          <a:xfrm>
            <a:off x="609600" y="2962656"/>
            <a:ext cx="10972799" cy="694944"/>
          </a:xfrm>
          <a:prstGeom prst="rect">
            <a:avLst/>
          </a:prstGeom>
          <a:noFill/>
        </p:spPr>
        <p:txBody>
          <a:bodyPr wrap="square" lIns="0" rIns="0" tIns="0" bIns="0" anchor="t">
            <a:spAutoFit/>
          </a:bodyPr>
          <a:lstStyle/>
          <a:p>
            <a:pPr algn="l" marL="349250" indent="-349250">
              <a:lnSpc>
                <a:spcPct val="108000"/>
              </a:lnSpc>
              <a:spcBef>
                <a:spcPts val="0"/>
              </a:spcBef>
              <a:spcAft>
                <a:spcPts val="0"/>
              </a:spcAft>
            </a:pPr>
            <a:r>
              <a:rPr sz="1000" b="1">
                <a:solidFill>
                  <a:srgbClr val="2574D9"/>
                </a:solidFill>
                <a:latin typeface="Hiragino Sans"/>
                <a:ea typeface="Hiragino Sans"/>
              </a:rPr>
              <a:t>02   </a:t>
            </a:r>
            <a:r>
              <a:rPr sz="1200" b="1">
                <a:solidFill>
                  <a:srgbClr val="102C49"/>
                </a:solidFill>
                <a:latin typeface="Hiragino Sans"/>
                <a:ea typeface="Hiragino Sans"/>
              </a:rPr>
              <a:t>アジェンダやNext Stepに最適</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単列の番号付き項目だけで構成されるページに使う</a:t>
            </a:r>
          </a:p>
        </p:txBody>
      </p:sp>
      <p:sp>
        <p:nvSpPr>
          <p:cNvPr id="8" name="Rectangle 7"/>
          <p:cNvSpPr/>
          <p:nvPr/>
        </p:nvSpPr>
        <p:spPr>
          <a:xfrm>
            <a:off x="609600" y="3452774"/>
            <a:ext cx="10972799" cy="9525"/>
          </a:xfrm>
          <a:prstGeom prst="rect">
            <a:avLst/>
          </a:prstGeom>
          <a:solidFill>
            <a:srgbClr val="D7DEE6"/>
          </a:solidFill>
          <a:ln>
            <a:noFill/>
          </a:ln>
        </p:spPr>
        <p:txBody>
          <a:bodyPr rtlCol="0" anchor="ctr"/>
          <a:lstStyle/>
          <a:p>
            <a:pPr algn="ctr"/>
          </a:p>
        </p:txBody>
      </p:sp>
      <p:sp>
        <p:nvSpPr>
          <p:cNvPr id="9" name="TextBox 8"/>
          <p:cNvSpPr txBox="1"/>
          <p:nvPr/>
        </p:nvSpPr>
        <p:spPr>
          <a:xfrm>
            <a:off x="609600" y="3785616"/>
            <a:ext cx="10972799" cy="694944"/>
          </a:xfrm>
          <a:prstGeom prst="rect">
            <a:avLst/>
          </a:prstGeom>
          <a:noFill/>
        </p:spPr>
        <p:txBody>
          <a:bodyPr wrap="square" lIns="0" rIns="0" tIns="0" bIns="0" anchor="t">
            <a:spAutoFit/>
          </a:bodyPr>
          <a:lstStyle/>
          <a:p>
            <a:pPr algn="l" marL="349250" indent="-349250">
              <a:lnSpc>
                <a:spcPct val="108000"/>
              </a:lnSpc>
              <a:spcBef>
                <a:spcPts val="0"/>
              </a:spcBef>
              <a:spcAft>
                <a:spcPts val="0"/>
              </a:spcAft>
            </a:pPr>
            <a:r>
              <a:rPr sz="1000" b="1">
                <a:solidFill>
                  <a:srgbClr val="2574D9"/>
                </a:solidFill>
                <a:latin typeface="Hiragino Sans"/>
                <a:ea typeface="Hiragino Sans"/>
              </a:rPr>
              <a:t>03   </a:t>
            </a:r>
            <a:r>
              <a:rPr sz="1200" b="1">
                <a:solidFill>
                  <a:srgbClr val="102C49"/>
                </a:solidFill>
                <a:latin typeface="Hiragino Sans"/>
                <a:ea typeface="Hiragino Sans"/>
              </a:rPr>
              <a:t>row_hは項目数で自動調整</a:t>
            </a:r>
            <a:r>
              <a:rPr sz="1000" b="0">
                <a:solidFill>
                  <a:srgbClr val="53657A"/>
                </a:solidFill>
                <a:latin typeface="Hiragino Sans"/>
                <a:ea typeface="Hiragino Sans"/>
              </a:rPr>
              <a:t/>
            </a:r>
            <a:br>
              <a:rPr sz="1000" b="0">
                <a:solidFill>
                  <a:srgbClr val="53657A"/>
                </a:solidFill>
                <a:latin typeface="Hiragino Sans"/>
                <a:ea typeface="Hiragino Sans"/>
              </a:rPr>
            </a:br>
            <a:r>
              <a:rPr sz="1000" b="0">
                <a:solidFill>
                  <a:srgbClr val="53657A"/>
                </a:solidFill>
                <a:latin typeface="Hiragino Sans"/>
                <a:ea typeface="Hiragino Sans"/>
              </a:rPr>
              <a:t>      項目が少ないほど各行の余白が広がる</a:t>
            </a:r>
          </a:p>
        </p:txBody>
      </p:sp>
      <p:sp>
        <p:nvSpPr>
          <p:cNvPr id="10" name="Rectangle 9"/>
          <p:cNvSpPr/>
          <p:nvPr/>
        </p:nvSpPr>
        <p:spPr>
          <a:xfrm>
            <a:off x="609600" y="4275734"/>
            <a:ext cx="10972799" cy="9525"/>
          </a:xfrm>
          <a:prstGeom prst="rect">
            <a:avLst/>
          </a:prstGeom>
          <a:solidFill>
            <a:srgbClr val="D7DEE6"/>
          </a:solidFill>
          <a:ln>
            <a:noFill/>
          </a:ln>
        </p:spPr>
        <p:txBody>
          <a:bodyPr rtlCol="0" anchor="ctr"/>
          <a:lstStyle/>
          <a:p>
            <a:pPr algn="ctr"/>
          </a:p>
        </p:txBody>
      </p:sp>
      <p:sp>
        <p:nvSpPr>
          <p:cNvPr id="11" name="Rounded Rectangle 10"/>
          <p:cNvSpPr/>
          <p:nvPr/>
        </p:nvSpPr>
        <p:spPr>
          <a:xfrm>
            <a:off x="609600" y="5641848"/>
            <a:ext cx="10972799" cy="713232"/>
          </a:xfrm>
          <a:prstGeom prst="roundRect">
            <a:avLst>
              <a:gd name="adj" fmla="val 14245"/>
            </a:avLst>
          </a:prstGeom>
          <a:solidFill>
            <a:srgbClr val="102C49"/>
          </a:solidFill>
          <a:ln>
            <a:noFill/>
          </a:ln>
        </p:spPr>
        <p:txBody>
          <a:bodyPr rtlCol="0" anchor="ctr" lIns="164592" rIns="164592" tIns="109728" bIns="109728" wrap="square"/>
          <a:lstStyle/>
          <a:p>
            <a:pPr algn="ctr"/>
            <a:r>
              <a:rPr sz="1200" b="1">
                <a:solidFill>
                  <a:srgbClr val="FFFFFF"/>
                </a:solidFill>
                <a:latin typeface="Hiragino Sans"/>
                <a:ea typeface="Hiragino Sans"/>
              </a:rPr>
              <a:t>message_positionでtop/bottomの導入文・結論の位置を選べる</a:t>
            </a:r>
          </a:p>
        </p:txBody>
      </p:sp>
      <p:sp>
        <p:nvSpPr>
          <p:cNvPr id="12" name="TextBox 11"/>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“numbered_list” — アジェンダ、依頼事項など番号付きの単列項目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matrix: 2軸で4象限に整理する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23</a:t>
            </a:r>
          </a:p>
        </p:txBody>
      </p:sp>
      <p:sp>
        <p:nvSpPr>
          <p:cNvPr id="5" name="TextBox 4"/>
          <p:cNvSpPr txBox="1"/>
          <p:nvPr/>
        </p:nvSpPr>
        <p:spPr>
          <a:xfrm>
            <a:off x="609600" y="1335024"/>
            <a:ext cx="1331815" cy="365760"/>
          </a:xfrm>
          <a:prstGeom prst="rect">
            <a:avLst/>
          </a:prstGeom>
          <a:noFill/>
        </p:spPr>
        <p:txBody>
          <a:bodyPr wrap="square" lIns="0" rIns="0" tIns="0" bIns="0" anchor="t">
            <a:spAutoFit/>
          </a:bodyPr>
          <a:lstStyle/>
          <a:p>
            <a:pPr algn="l">
              <a:lnSpc>
                <a:spcPct val="108000"/>
              </a:lnSpc>
              <a:spcAft>
                <a:spcPts val="0"/>
              </a:spcAft>
            </a:pPr>
            <a:r>
              <a:rPr sz="1000" b="1">
                <a:solidFill>
                  <a:srgbClr val="53657A"/>
                </a:solidFill>
                <a:latin typeface="Yu Gothic"/>
                <a:ea typeface="Yu Gothic"/>
              </a:rPr>
              <a:t>y_axis.high</a:t>
            </a:r>
          </a:p>
        </p:txBody>
      </p:sp>
      <p:sp>
        <p:nvSpPr>
          <p:cNvPr id="6" name="TextBox 5"/>
          <p:cNvSpPr txBox="1"/>
          <p:nvPr/>
        </p:nvSpPr>
        <p:spPr>
          <a:xfrm>
            <a:off x="609600" y="4918266"/>
            <a:ext cx="1331815" cy="365760"/>
          </a:xfrm>
          <a:prstGeom prst="rect">
            <a:avLst/>
          </a:prstGeom>
          <a:noFill/>
        </p:spPr>
        <p:txBody>
          <a:bodyPr wrap="square" lIns="0" rIns="0" tIns="0" bIns="0" anchor="t">
            <a:spAutoFit/>
          </a:bodyPr>
          <a:lstStyle/>
          <a:p>
            <a:pPr algn="l">
              <a:lnSpc>
                <a:spcPct val="108000"/>
              </a:lnSpc>
              <a:spcAft>
                <a:spcPts val="0"/>
              </a:spcAft>
            </a:pPr>
            <a:r>
              <a:rPr sz="1000" b="1">
                <a:solidFill>
                  <a:srgbClr val="53657A"/>
                </a:solidFill>
                <a:latin typeface="Yu Gothic"/>
                <a:ea typeface="Yu Gothic"/>
              </a:rPr>
              <a:t>y_axis.low</a:t>
            </a:r>
          </a:p>
        </p:txBody>
      </p:sp>
      <p:sp>
        <p:nvSpPr>
          <p:cNvPr id="7" name="Rounded Rectangle 6"/>
          <p:cNvSpPr/>
          <p:nvPr/>
        </p:nvSpPr>
        <p:spPr>
          <a:xfrm>
            <a:off x="2069431" y="1335024"/>
            <a:ext cx="4710763" cy="1928781"/>
          </a:xfrm>
          <a:prstGeom prst="roundRect">
            <a:avLst>
              <a:gd name="adj" fmla="val 9218"/>
            </a:avLst>
          </a:prstGeom>
          <a:solidFill>
            <a:srgbClr val="E1EDFC"/>
          </a:solidFill>
          <a:ln>
            <a:noFill/>
          </a:ln>
        </p:spPr>
        <p:txBody>
          <a:bodyPr rtlCol="0" anchor="ctr"/>
          <a:lstStyle/>
          <a:p>
            <a:pPr algn="ctr"/>
          </a:p>
        </p:txBody>
      </p:sp>
      <p:sp>
        <p:nvSpPr>
          <p:cNvPr id="8" name="Rounded Rectangle 7"/>
          <p:cNvSpPr/>
          <p:nvPr/>
        </p:nvSpPr>
        <p:spPr>
          <a:xfrm>
            <a:off x="6871634" y="1335024"/>
            <a:ext cx="4710763" cy="1928781"/>
          </a:xfrm>
          <a:prstGeom prst="roundRect">
            <a:avLst>
              <a:gd name="adj" fmla="val 9218"/>
            </a:avLst>
          </a:prstGeom>
          <a:solidFill>
            <a:srgbClr val="E7EBF0"/>
          </a:solidFill>
          <a:ln>
            <a:noFill/>
          </a:ln>
        </p:spPr>
        <p:txBody>
          <a:bodyPr rtlCol="0" anchor="ctr"/>
          <a:lstStyle/>
          <a:p>
            <a:pPr algn="ctr"/>
          </a:p>
        </p:txBody>
      </p:sp>
      <p:sp>
        <p:nvSpPr>
          <p:cNvPr id="9" name="Rounded Rectangle 8"/>
          <p:cNvSpPr/>
          <p:nvPr/>
        </p:nvSpPr>
        <p:spPr>
          <a:xfrm>
            <a:off x="2069431" y="3355245"/>
            <a:ext cx="4710763" cy="1928781"/>
          </a:xfrm>
          <a:prstGeom prst="roundRect">
            <a:avLst>
              <a:gd name="adj" fmla="val 9218"/>
            </a:avLst>
          </a:prstGeom>
          <a:solidFill>
            <a:srgbClr val="E7EBF0"/>
          </a:solidFill>
          <a:ln>
            <a:noFill/>
          </a:ln>
        </p:spPr>
        <p:txBody>
          <a:bodyPr rtlCol="0" anchor="ctr"/>
          <a:lstStyle/>
          <a:p>
            <a:pPr algn="ctr"/>
          </a:p>
        </p:txBody>
      </p:sp>
      <p:sp>
        <p:nvSpPr>
          <p:cNvPr id="10" name="Rounded Rectangle 9"/>
          <p:cNvSpPr/>
          <p:nvPr/>
        </p:nvSpPr>
        <p:spPr>
          <a:xfrm>
            <a:off x="6871634" y="3355245"/>
            <a:ext cx="4710763" cy="1928781"/>
          </a:xfrm>
          <a:prstGeom prst="roundRect">
            <a:avLst>
              <a:gd name="adj" fmla="val 9218"/>
            </a:avLst>
          </a:prstGeom>
          <a:solidFill>
            <a:srgbClr val="E7EBF0"/>
          </a:solidFill>
          <a:ln>
            <a:noFill/>
          </a:ln>
        </p:spPr>
        <p:txBody>
          <a:bodyPr rtlCol="0" anchor="ctr"/>
          <a:lstStyle/>
          <a:p>
            <a:pPr algn="ctr"/>
          </a:p>
        </p:txBody>
      </p:sp>
      <p:sp>
        <p:nvSpPr>
          <p:cNvPr id="11" name="TextBox 10"/>
          <p:cNvSpPr txBox="1"/>
          <p:nvPr/>
        </p:nvSpPr>
        <p:spPr>
          <a:xfrm>
            <a:off x="2288887" y="1517904"/>
            <a:ext cx="4271851" cy="1563021"/>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強調</a:t>
            </a:r>
          </a:p>
          <a:p>
            <a:pPr algn="l">
              <a:lnSpc>
                <a:spcPct val="108000"/>
              </a:lnSpc>
              <a:spcBef>
                <a:spcPts val="0"/>
              </a:spcBef>
              <a:spcAft>
                <a:spcPts val="300"/>
              </a:spcAft>
            </a:pPr>
            <a:r>
              <a:rPr sz="1200" b="1">
                <a:solidFill>
                  <a:srgbClr val="102C49"/>
                </a:solidFill>
                <a:latin typeface="Hiragino Sans"/>
                <a:ea typeface="Hiragino Sans"/>
              </a:rPr>
              <a:t>cells配列</a:t>
            </a:r>
          </a:p>
          <a:p>
            <a:pPr algn="l">
              <a:lnSpc>
                <a:spcPct val="108000"/>
              </a:lnSpc>
              <a:spcBef>
                <a:spcPts val="0"/>
              </a:spcBef>
              <a:spcAft>
                <a:spcPts val="0"/>
              </a:spcAft>
            </a:pPr>
            <a:r>
              <a:rPr sz="1000" b="0">
                <a:solidFill>
                  <a:srgbClr val="53657A"/>
                </a:solidFill>
                <a:latin typeface="Hiragino Sans"/>
                <a:ea typeface="Hiragino Sans"/>
              </a:rPr>
              <a:t>rows×cols件ちょうど必要。各マスは独立編集可能</a:t>
            </a:r>
          </a:p>
        </p:txBody>
      </p:sp>
      <p:sp>
        <p:nvSpPr>
          <p:cNvPr id="12" name="TextBox 11"/>
          <p:cNvSpPr txBox="1"/>
          <p:nvPr/>
        </p:nvSpPr>
        <p:spPr>
          <a:xfrm>
            <a:off x="7091090" y="1517904"/>
            <a:ext cx="4271851" cy="1563021"/>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補足</a:t>
            </a:r>
          </a:p>
          <a:p>
            <a:pPr algn="l">
              <a:lnSpc>
                <a:spcPct val="108000"/>
              </a:lnSpc>
              <a:spcBef>
                <a:spcPts val="0"/>
              </a:spcBef>
              <a:spcAft>
                <a:spcPts val="300"/>
              </a:spcAft>
            </a:pPr>
            <a:r>
              <a:rPr sz="1200" b="1">
                <a:solidFill>
                  <a:srgbClr val="102C49"/>
                </a:solidFill>
                <a:latin typeface="Hiragino Sans"/>
                <a:ea typeface="Hiragino Sans"/>
              </a:rPr>
              <a:t>emphasis:Trueで強調</a:t>
            </a:r>
          </a:p>
          <a:p>
            <a:pPr algn="l">
              <a:lnSpc>
                <a:spcPct val="108000"/>
              </a:lnSpc>
              <a:spcBef>
                <a:spcPts val="0"/>
              </a:spcBef>
              <a:spcAft>
                <a:spcPts val="0"/>
              </a:spcAft>
            </a:pPr>
            <a:r>
              <a:rPr sz="1000" b="0">
                <a:solidFill>
                  <a:srgbClr val="53657A"/>
                </a:solidFill>
                <a:latin typeface="Hiragino Sans"/>
                <a:ea typeface="Hiragino Sans"/>
              </a:rPr>
              <a:t>1マスだけ強調したい場合に使う</a:t>
            </a:r>
          </a:p>
        </p:txBody>
      </p:sp>
      <p:sp>
        <p:nvSpPr>
          <p:cNvPr id="13" name="TextBox 12"/>
          <p:cNvSpPr txBox="1"/>
          <p:nvPr/>
        </p:nvSpPr>
        <p:spPr>
          <a:xfrm>
            <a:off x="2288887" y="3538125"/>
            <a:ext cx="4271851" cy="1563021"/>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補足</a:t>
            </a:r>
          </a:p>
          <a:p>
            <a:pPr algn="l">
              <a:lnSpc>
                <a:spcPct val="108000"/>
              </a:lnSpc>
              <a:spcBef>
                <a:spcPts val="0"/>
              </a:spcBef>
              <a:spcAft>
                <a:spcPts val="300"/>
              </a:spcAft>
            </a:pPr>
            <a:r>
              <a:rPr sz="1200" b="1">
                <a:solidFill>
                  <a:srgbClr val="102C49"/>
                </a:solidFill>
                <a:latin typeface="Hiragino Sans"/>
                <a:ea typeface="Hiragino Sans"/>
              </a:rPr>
              <a:t>正確な座標が要点なら</a:t>
            </a:r>
          </a:p>
          <a:p>
            <a:pPr algn="l">
              <a:lnSpc>
                <a:spcPct val="108000"/>
              </a:lnSpc>
              <a:spcBef>
                <a:spcPts val="0"/>
              </a:spcBef>
              <a:spcAft>
                <a:spcPts val="0"/>
              </a:spcAft>
            </a:pPr>
            <a:r>
              <a:rPr sz="1000" b="0">
                <a:solidFill>
                  <a:srgbClr val="53657A"/>
                </a:solidFill>
                <a:latin typeface="Hiragino Sans"/>
                <a:ea typeface="Hiragino Sans"/>
              </a:rPr>
              <a:t>chart_with_insightのscatterを使う</a:t>
            </a:r>
          </a:p>
        </p:txBody>
      </p:sp>
      <p:sp>
        <p:nvSpPr>
          <p:cNvPr id="14" name="TextBox 13"/>
          <p:cNvSpPr txBox="1"/>
          <p:nvPr/>
        </p:nvSpPr>
        <p:spPr>
          <a:xfrm>
            <a:off x="7091090" y="3538125"/>
            <a:ext cx="4271851" cy="1563021"/>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補足</a:t>
            </a:r>
          </a:p>
          <a:p>
            <a:pPr algn="l">
              <a:lnSpc>
                <a:spcPct val="108000"/>
              </a:lnSpc>
              <a:spcBef>
                <a:spcPts val="0"/>
              </a:spcBef>
              <a:spcAft>
                <a:spcPts val="300"/>
              </a:spcAft>
            </a:pPr>
            <a:r>
              <a:rPr sz="1200" b="1">
                <a:solidFill>
                  <a:srgbClr val="102C49"/>
                </a:solidFill>
                <a:latin typeface="Hiragino Sans"/>
                <a:ea typeface="Hiragino Sans"/>
              </a:rPr>
              <a:t>背景はBackground Zone</a:t>
            </a:r>
          </a:p>
          <a:p>
            <a:pPr algn="l">
              <a:lnSpc>
                <a:spcPct val="108000"/>
              </a:lnSpc>
              <a:spcBef>
                <a:spcPts val="0"/>
              </a:spcBef>
              <a:spcAft>
                <a:spcPts val="0"/>
              </a:spcAft>
            </a:pPr>
            <a:r>
              <a:rPr sz="1000" b="0">
                <a:solidFill>
                  <a:srgbClr val="53657A"/>
                </a:solidFill>
                <a:latin typeface="Hiragino Sans"/>
                <a:ea typeface="Hiragino Sans"/>
              </a:rPr>
              <a:t>マスごとに独立した面として描く</a:t>
            </a:r>
          </a:p>
        </p:txBody>
      </p:sp>
      <p:sp>
        <p:nvSpPr>
          <p:cNvPr id="15" name="TextBox 14"/>
          <p:cNvSpPr txBox="1"/>
          <p:nvPr/>
        </p:nvSpPr>
        <p:spPr>
          <a:xfrm>
            <a:off x="2069431" y="5430330"/>
            <a:ext cx="4756483" cy="298369"/>
          </a:xfrm>
          <a:prstGeom prst="rect">
            <a:avLst/>
          </a:prstGeom>
          <a:noFill/>
        </p:spPr>
        <p:txBody>
          <a:bodyPr wrap="square" lIns="0" rIns="0" tIns="0" bIns="0" anchor="t">
            <a:spAutoFit/>
          </a:bodyPr>
          <a:lstStyle/>
          <a:p>
            <a:pPr algn="l">
              <a:lnSpc>
                <a:spcPct val="108000"/>
              </a:lnSpc>
              <a:spcAft>
                <a:spcPts val="0"/>
              </a:spcAft>
            </a:pPr>
            <a:r>
              <a:rPr sz="1000" b="1">
                <a:solidFill>
                  <a:srgbClr val="53657A"/>
                </a:solidFill>
                <a:latin typeface="Yu Gothic"/>
                <a:ea typeface="Yu Gothic"/>
              </a:rPr>
              <a:t>x_axis.low</a:t>
            </a:r>
          </a:p>
        </p:txBody>
      </p:sp>
      <p:sp>
        <p:nvSpPr>
          <p:cNvPr id="16" name="TextBox 15"/>
          <p:cNvSpPr txBox="1"/>
          <p:nvPr/>
        </p:nvSpPr>
        <p:spPr>
          <a:xfrm>
            <a:off x="6825914" y="5430330"/>
            <a:ext cx="4756483" cy="298369"/>
          </a:xfrm>
          <a:prstGeom prst="rect">
            <a:avLst/>
          </a:prstGeom>
          <a:noFill/>
        </p:spPr>
        <p:txBody>
          <a:bodyPr wrap="square" lIns="0" rIns="0" tIns="0" bIns="0" anchor="t">
            <a:spAutoFit/>
          </a:bodyPr>
          <a:lstStyle/>
          <a:p>
            <a:pPr algn="r">
              <a:lnSpc>
                <a:spcPct val="108000"/>
              </a:lnSpc>
              <a:spcAft>
                <a:spcPts val="0"/>
              </a:spcAft>
            </a:pPr>
            <a:r>
              <a:rPr sz="1000" b="1">
                <a:solidFill>
                  <a:srgbClr val="53657A"/>
                </a:solidFill>
                <a:latin typeface="Yu Gothic"/>
                <a:ea typeface="Yu Gothic"/>
              </a:rPr>
              <a:t>x_axis.high</a:t>
            </a:r>
          </a:p>
        </p:txBody>
      </p:sp>
      <p:sp>
        <p:nvSpPr>
          <p:cNvPr id="17" name="Rounded Rectangle 16"/>
          <p:cNvSpPr/>
          <p:nvPr/>
        </p:nvSpPr>
        <p:spPr>
          <a:xfrm>
            <a:off x="609600" y="5875003"/>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軸上の正確な数値でなく、象限のどれに属するかが要点のときに使う</a:t>
            </a:r>
          </a:p>
        </p:txBody>
      </p:sp>
      <p:sp>
        <p:nvSpPr>
          <p:cNvPr id="18" name="TextBox 17"/>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“matrix” — 2軸で選択肢を4象限に整理する（ポートフォリオ分析等）</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matrix (x_axis/y_axis省略): 軸のない4カテゴリで示す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24</a:t>
            </a:r>
          </a:p>
        </p:txBody>
      </p:sp>
      <p:sp>
        <p:nvSpPr>
          <p:cNvPr id="5" name="Rounded Rectangle 4"/>
          <p:cNvSpPr/>
          <p:nvPr/>
        </p:nvSpPr>
        <p:spPr>
          <a:xfrm>
            <a:off x="609600" y="1335024"/>
            <a:ext cx="5440679" cy="2142810"/>
          </a:xfrm>
          <a:prstGeom prst="roundRect">
            <a:avLst>
              <a:gd name="adj" fmla="val 8297"/>
            </a:avLst>
          </a:prstGeom>
          <a:solidFill>
            <a:srgbClr val="E7EBF0"/>
          </a:solidFill>
          <a:ln>
            <a:noFill/>
          </a:ln>
        </p:spPr>
        <p:txBody>
          <a:bodyPr rtlCol="0" anchor="ctr"/>
          <a:lstStyle/>
          <a:p>
            <a:pPr algn="ctr"/>
          </a:p>
        </p:txBody>
      </p:sp>
      <p:sp>
        <p:nvSpPr>
          <p:cNvPr id="6" name="Rounded Rectangle 5"/>
          <p:cNvSpPr/>
          <p:nvPr/>
        </p:nvSpPr>
        <p:spPr>
          <a:xfrm>
            <a:off x="6141719" y="1335024"/>
            <a:ext cx="5440679" cy="2142810"/>
          </a:xfrm>
          <a:prstGeom prst="roundRect">
            <a:avLst>
              <a:gd name="adj" fmla="val 8297"/>
            </a:avLst>
          </a:prstGeom>
          <a:solidFill>
            <a:srgbClr val="E7EBF0"/>
          </a:solidFill>
          <a:ln>
            <a:noFill/>
          </a:ln>
        </p:spPr>
        <p:txBody>
          <a:bodyPr rtlCol="0" anchor="ctr"/>
          <a:lstStyle/>
          <a:p>
            <a:pPr algn="ctr"/>
          </a:p>
        </p:txBody>
      </p:sp>
      <p:sp>
        <p:nvSpPr>
          <p:cNvPr id="7" name="Rounded Rectangle 6"/>
          <p:cNvSpPr/>
          <p:nvPr/>
        </p:nvSpPr>
        <p:spPr>
          <a:xfrm>
            <a:off x="609600" y="3569274"/>
            <a:ext cx="5440679" cy="2142810"/>
          </a:xfrm>
          <a:prstGeom prst="roundRect">
            <a:avLst>
              <a:gd name="adj" fmla="val 8297"/>
            </a:avLst>
          </a:prstGeom>
          <a:solidFill>
            <a:srgbClr val="E7EBF0"/>
          </a:solidFill>
          <a:ln>
            <a:noFill/>
          </a:ln>
        </p:spPr>
        <p:txBody>
          <a:bodyPr rtlCol="0" anchor="ctr"/>
          <a:lstStyle/>
          <a:p>
            <a:pPr algn="ctr"/>
          </a:p>
        </p:txBody>
      </p:sp>
      <p:sp>
        <p:nvSpPr>
          <p:cNvPr id="8" name="Rounded Rectangle 7"/>
          <p:cNvSpPr/>
          <p:nvPr/>
        </p:nvSpPr>
        <p:spPr>
          <a:xfrm>
            <a:off x="6141719" y="3569274"/>
            <a:ext cx="5440679" cy="2142810"/>
          </a:xfrm>
          <a:prstGeom prst="roundRect">
            <a:avLst>
              <a:gd name="adj" fmla="val 8297"/>
            </a:avLst>
          </a:prstGeom>
          <a:solidFill>
            <a:srgbClr val="E7EBF0"/>
          </a:solidFill>
          <a:ln>
            <a:noFill/>
          </a:ln>
        </p:spPr>
        <p:txBody>
          <a:bodyPr rtlCol="0" anchor="ctr"/>
          <a:lstStyle/>
          <a:p>
            <a:pPr algn="ctr"/>
          </a:p>
        </p:txBody>
      </p:sp>
      <p:sp>
        <p:nvSpPr>
          <p:cNvPr id="9" name="TextBox 8"/>
          <p:cNvSpPr txBox="1"/>
          <p:nvPr/>
        </p:nvSpPr>
        <p:spPr>
          <a:xfrm>
            <a:off x="829056" y="1517904"/>
            <a:ext cx="5001767" cy="1777050"/>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S</a:t>
            </a:r>
          </a:p>
          <a:p>
            <a:pPr algn="l">
              <a:lnSpc>
                <a:spcPct val="108000"/>
              </a:lnSpc>
              <a:spcBef>
                <a:spcPts val="0"/>
              </a:spcBef>
              <a:spcAft>
                <a:spcPts val="300"/>
              </a:spcAft>
            </a:pPr>
            <a:r>
              <a:rPr sz="1200" b="1">
                <a:solidFill>
                  <a:srgbClr val="102C49"/>
                </a:solidFill>
                <a:latin typeface="Hiragino Sans"/>
                <a:ea typeface="Hiragino Sans"/>
              </a:rPr>
              <a:t>強み</a:t>
            </a:r>
          </a:p>
          <a:p>
            <a:pPr algn="l">
              <a:lnSpc>
                <a:spcPct val="108000"/>
              </a:lnSpc>
              <a:spcBef>
                <a:spcPts val="0"/>
              </a:spcBef>
              <a:spcAft>
                <a:spcPts val="0"/>
              </a:spcAft>
            </a:pPr>
            <a:r>
              <a:rPr sz="1000" b="0">
                <a:solidFill>
                  <a:srgbClr val="53657A"/>
                </a:solidFill>
                <a:latin typeface="Hiragino Sans"/>
                <a:ea typeface="Hiragino Sans"/>
              </a:rPr>
              <a:t>x_axis/y_axisを省くと軸キャプション行を省く</a:t>
            </a:r>
          </a:p>
        </p:txBody>
      </p:sp>
      <p:sp>
        <p:nvSpPr>
          <p:cNvPr id="10" name="TextBox 9"/>
          <p:cNvSpPr txBox="1"/>
          <p:nvPr/>
        </p:nvSpPr>
        <p:spPr>
          <a:xfrm>
            <a:off x="6361175" y="1517904"/>
            <a:ext cx="5001767" cy="1777050"/>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W</a:t>
            </a:r>
          </a:p>
          <a:p>
            <a:pPr algn="l">
              <a:lnSpc>
                <a:spcPct val="108000"/>
              </a:lnSpc>
              <a:spcBef>
                <a:spcPts val="0"/>
              </a:spcBef>
              <a:spcAft>
                <a:spcPts val="300"/>
              </a:spcAft>
            </a:pPr>
            <a:r>
              <a:rPr sz="1200" b="1">
                <a:solidFill>
                  <a:srgbClr val="102C49"/>
                </a:solidFill>
                <a:latin typeface="Hiragino Sans"/>
                <a:ea typeface="Hiragino Sans"/>
              </a:rPr>
              <a:t>弱み</a:t>
            </a:r>
          </a:p>
          <a:p>
            <a:pPr algn="l">
              <a:lnSpc>
                <a:spcPct val="108000"/>
              </a:lnSpc>
              <a:spcBef>
                <a:spcPts val="0"/>
              </a:spcBef>
              <a:spcAft>
                <a:spcPts val="0"/>
              </a:spcAft>
            </a:pPr>
            <a:r>
              <a:rPr sz="1000" b="0">
                <a:solidFill>
                  <a:srgbClr val="53657A"/>
                </a:solidFill>
                <a:latin typeface="Hiragino Sans"/>
                <a:ea typeface="Hiragino Sans"/>
              </a:rPr>
              <a:t>cellsの構造は軸ありと同じ</a:t>
            </a:r>
          </a:p>
        </p:txBody>
      </p:sp>
      <p:sp>
        <p:nvSpPr>
          <p:cNvPr id="11" name="TextBox 10"/>
          <p:cNvSpPr txBox="1"/>
          <p:nvPr/>
        </p:nvSpPr>
        <p:spPr>
          <a:xfrm>
            <a:off x="829056" y="3752154"/>
            <a:ext cx="5001767" cy="1777050"/>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O</a:t>
            </a:r>
          </a:p>
          <a:p>
            <a:pPr algn="l">
              <a:lnSpc>
                <a:spcPct val="108000"/>
              </a:lnSpc>
              <a:spcBef>
                <a:spcPts val="0"/>
              </a:spcBef>
              <a:spcAft>
                <a:spcPts val="300"/>
              </a:spcAft>
            </a:pPr>
            <a:r>
              <a:rPr sz="1200" b="1">
                <a:solidFill>
                  <a:srgbClr val="102C49"/>
                </a:solidFill>
                <a:latin typeface="Hiragino Sans"/>
                <a:ea typeface="Hiragino Sans"/>
              </a:rPr>
              <a:t>機会</a:t>
            </a:r>
          </a:p>
          <a:p>
            <a:pPr algn="l">
              <a:lnSpc>
                <a:spcPct val="108000"/>
              </a:lnSpc>
              <a:spcBef>
                <a:spcPts val="0"/>
              </a:spcBef>
              <a:spcAft>
                <a:spcPts val="0"/>
              </a:spcAft>
            </a:pPr>
            <a:r>
              <a:rPr sz="1000" b="0">
                <a:solidFill>
                  <a:srgbClr val="53657A"/>
                </a:solidFill>
                <a:latin typeface="Hiragino Sans"/>
                <a:ea typeface="Hiragino Sans"/>
              </a:rPr>
              <a:t>SWOT等、固定4カテゴリの整理に使う</a:t>
            </a:r>
          </a:p>
        </p:txBody>
      </p:sp>
      <p:sp>
        <p:nvSpPr>
          <p:cNvPr id="12" name="TextBox 11"/>
          <p:cNvSpPr txBox="1"/>
          <p:nvPr/>
        </p:nvSpPr>
        <p:spPr>
          <a:xfrm>
            <a:off x="6361175" y="3752154"/>
            <a:ext cx="5001767" cy="1777050"/>
          </a:xfrm>
          <a:prstGeom prst="rect">
            <a:avLst/>
          </a:prstGeom>
          <a:noFill/>
        </p:spPr>
        <p:txBody>
          <a:bodyPr wrap="square" lIns="0" rIns="0" tIns="0" bIns="0" anchor="ctr">
            <a:spAutoFit/>
          </a:bodyPr>
          <a:lstStyle/>
          <a:p>
            <a:pPr algn="l">
              <a:lnSpc>
                <a:spcPct val="108000"/>
              </a:lnSpc>
              <a:spcBef>
                <a:spcPts val="0"/>
              </a:spcBef>
              <a:spcAft>
                <a:spcPts val="400"/>
              </a:spcAft>
            </a:pPr>
            <a:r>
              <a:rPr sz="1000" b="1">
                <a:solidFill>
                  <a:srgbClr val="2574D9"/>
                </a:solidFill>
                <a:latin typeface="Hiragino Sans"/>
                <a:ea typeface="Hiragino Sans"/>
              </a:rPr>
              <a:t>T</a:t>
            </a:r>
          </a:p>
          <a:p>
            <a:pPr algn="l">
              <a:lnSpc>
                <a:spcPct val="108000"/>
              </a:lnSpc>
              <a:spcBef>
                <a:spcPts val="0"/>
              </a:spcBef>
              <a:spcAft>
                <a:spcPts val="300"/>
              </a:spcAft>
            </a:pPr>
            <a:r>
              <a:rPr sz="1200" b="1">
                <a:solidFill>
                  <a:srgbClr val="102C49"/>
                </a:solidFill>
                <a:latin typeface="Hiragino Sans"/>
                <a:ea typeface="Hiragino Sans"/>
              </a:rPr>
              <a:t>脅威</a:t>
            </a:r>
          </a:p>
          <a:p>
            <a:pPr algn="l">
              <a:lnSpc>
                <a:spcPct val="108000"/>
              </a:lnSpc>
              <a:spcBef>
                <a:spcPts val="0"/>
              </a:spcBef>
              <a:spcAft>
                <a:spcPts val="0"/>
              </a:spcAft>
            </a:pPr>
            <a:r>
              <a:rPr sz="1000" b="0">
                <a:solidFill>
                  <a:srgbClr val="53657A"/>
                </a:solidFill>
                <a:latin typeface="Hiragino Sans"/>
                <a:ea typeface="Hiragino Sans"/>
              </a:rPr>
              <a:t>連続軸上の位置づけが要点ならx_axis/y_axisを指定</a:t>
            </a:r>
          </a:p>
        </p:txBody>
      </p:sp>
      <p:sp>
        <p:nvSpPr>
          <p:cNvPr id="13" name="Rounded Rectangle 12"/>
          <p:cNvSpPr/>
          <p:nvPr/>
        </p:nvSpPr>
        <p:spPr>
          <a:xfrm>
            <a:off x="609600" y="5858389"/>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SWOT等、連続軸を持たない固定4カテゴリはx_axis/y_axisを省略すると軸ラベル分の余白を返す</a:t>
            </a:r>
          </a:p>
        </p:txBody>
      </p:sp>
      <p:sp>
        <p:nvSpPr>
          <p:cNvPr id="14" name="TextBox 13"/>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“matrix (x_axis/y_axis省略)” — SWOT等、軸のない固定カテゴリの整理。rows/colsを指定すれば2x2を超えるマトリクスも同じ構造で作れる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issue_tree: 論点を3階層に分解して示す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25</a:t>
            </a:r>
          </a:p>
        </p:txBody>
      </p:sp>
      <p:sp>
        <p:nvSpPr>
          <p:cNvPr id="5" name="Rounded Rectangle 4"/>
          <p:cNvSpPr/>
          <p:nvPr/>
        </p:nvSpPr>
        <p:spPr>
          <a:xfrm>
            <a:off x="609600" y="2592324"/>
            <a:ext cx="2933852" cy="1783080"/>
          </a:xfrm>
          <a:prstGeom prst="roundRect">
            <a:avLst>
              <a:gd name="adj" fmla="val 9971"/>
            </a:avLst>
          </a:prstGeom>
          <a:solidFill>
            <a:srgbClr val="E1EDFC"/>
          </a:solidFill>
          <a:ln>
            <a:noFill/>
          </a:ln>
        </p:spPr>
        <p:txBody>
          <a:bodyPr rtlCol="0" anchor="ctr"/>
          <a:lstStyle/>
          <a:p>
            <a:pPr algn="ctr"/>
          </a:p>
        </p:txBody>
      </p:sp>
      <p:sp>
        <p:nvSpPr>
          <p:cNvPr id="6" name="TextBox 5"/>
          <p:cNvSpPr txBox="1"/>
          <p:nvPr/>
        </p:nvSpPr>
        <p:spPr>
          <a:xfrm>
            <a:off x="829056" y="2775204"/>
            <a:ext cx="2494940" cy="1417320"/>
          </a:xfrm>
          <a:prstGeom prst="rect">
            <a:avLst/>
          </a:prstGeom>
          <a:noFill/>
        </p:spPr>
        <p:txBody>
          <a:bodyPr wrap="square" lIns="0" rIns="0" tIns="0" bIns="0" anchor="ctr">
            <a:spAutoFit/>
          </a:bodyPr>
          <a:lstStyle/>
          <a:p>
            <a:pPr algn="l">
              <a:lnSpc>
                <a:spcPct val="108000"/>
              </a:lnSpc>
              <a:spcBef>
                <a:spcPts val="0"/>
              </a:spcBef>
              <a:spcAft>
                <a:spcPts val="500"/>
              </a:spcAft>
            </a:pPr>
            <a:r>
              <a:rPr sz="1000" b="1">
                <a:solidFill>
                  <a:srgbClr val="2574D9"/>
                </a:solidFill>
                <a:latin typeface="Hiragino Sans"/>
                <a:ea typeface="Hiragino Sans"/>
              </a:rPr>
              <a:t>root</a:t>
            </a:r>
          </a:p>
          <a:p>
            <a:pPr algn="l">
              <a:lnSpc>
                <a:spcPct val="110000"/>
              </a:lnSpc>
              <a:spcBef>
                <a:spcPts val="0"/>
              </a:spcBef>
              <a:spcAft>
                <a:spcPts val="600"/>
              </a:spcAft>
            </a:pPr>
            <a:r>
              <a:rPr sz="1500" b="1">
                <a:solidFill>
                  <a:srgbClr val="102C49"/>
                </a:solidFill>
                <a:latin typeface="Hiragino Sans"/>
                <a:ea typeface="Hiragino Sans"/>
              </a:rPr>
              <a:t>分解する問いを置く</a:t>
            </a:r>
          </a:p>
          <a:p>
            <a:pPr algn="l">
              <a:lnSpc>
                <a:spcPct val="115000"/>
              </a:lnSpc>
              <a:spcBef>
                <a:spcPts val="0"/>
              </a:spcBef>
              <a:spcAft>
                <a:spcPts val="0"/>
              </a:spcAft>
            </a:pPr>
            <a:r>
              <a:rPr sz="1000" b="0">
                <a:solidFill>
                  <a:srgbClr val="53657A"/>
                </a:solidFill>
                <a:latin typeface="Hiragino Sans"/>
                <a:ea typeface="Hiragino Sans"/>
              </a:rPr>
              <a:t>label / title / bodyの3項目</a:t>
            </a:r>
          </a:p>
        </p:txBody>
      </p:sp>
      <p:grpSp>
        <p:nvGrpSpPr>
          <p:cNvPr id="9" name="Group 8"/>
          <p:cNvGrpSpPr/>
          <p:nvPr/>
        </p:nvGrpSpPr>
        <p:grpSpPr>
          <a:xfrm>
            <a:off x="3927500" y="1335024"/>
            <a:ext cx="3335578" cy="1360424"/>
            <a:chOff x="3927500" y="1335024"/>
            <a:chExt cx="3335578" cy="1360424"/>
          </a:xfrm>
        </p:grpSpPr>
        <p:sp>
          <p:nvSpPr>
            <p:cNvPr id="7" name="Rounded Rectangle 6"/>
            <p:cNvSpPr/>
            <p:nvPr/>
          </p:nvSpPr>
          <p:spPr>
            <a:xfrm>
              <a:off x="3946550" y="1360424"/>
              <a:ext cx="3316528" cy="1335024"/>
            </a:xfrm>
            <a:prstGeom prst="roundRect">
              <a:avLst>
                <a:gd name="adj" fmla="val 7610"/>
              </a:avLst>
            </a:prstGeom>
            <a:solidFill>
              <a:srgbClr val="E7EBF0"/>
            </a:solidFill>
            <a:ln>
              <a:noFill/>
            </a:ln>
          </p:spPr>
          <p:txBody>
            <a:bodyPr rtlCol="0" anchor="ctr"/>
            <a:lstStyle/>
            <a:p>
              <a:pPr algn="ctr"/>
            </a:p>
          </p:txBody>
        </p:sp>
        <p:sp>
          <p:nvSpPr>
            <p:cNvPr id="8" name="Rounded Rectangle 7"/>
            <p:cNvSpPr/>
            <p:nvPr/>
          </p:nvSpPr>
          <p:spPr>
            <a:xfrm>
              <a:off x="3927500" y="1335024"/>
              <a:ext cx="3316528" cy="1335024"/>
            </a:xfrm>
            <a:prstGeom prst="roundRect">
              <a:avLst>
                <a:gd name="adj" fmla="val 7610"/>
              </a:avLst>
            </a:prstGeom>
            <a:solidFill>
              <a:srgbClr val="FFFFFF"/>
            </a:solidFill>
            <a:ln w="8890">
              <a:solidFill>
                <a:srgbClr val="D7DEE6"/>
              </a:solidFill>
            </a:ln>
          </p:spPr>
          <p:txBody>
            <a:bodyPr rtlCol="0" anchor="ctr"/>
            <a:lstStyle/>
            <a:p>
              <a:pPr algn="ctr"/>
            </a:p>
          </p:txBody>
        </p:sp>
      </p:grpSp>
      <p:grpSp>
        <p:nvGrpSpPr>
          <p:cNvPr id="12" name="Group 11"/>
          <p:cNvGrpSpPr/>
          <p:nvPr/>
        </p:nvGrpSpPr>
        <p:grpSpPr>
          <a:xfrm>
            <a:off x="3927500" y="2816352"/>
            <a:ext cx="3335578" cy="1360424"/>
            <a:chOff x="3927500" y="2816352"/>
            <a:chExt cx="3335578" cy="1360424"/>
          </a:xfrm>
        </p:grpSpPr>
        <p:sp>
          <p:nvSpPr>
            <p:cNvPr id="10" name="Rounded Rectangle 9"/>
            <p:cNvSpPr/>
            <p:nvPr/>
          </p:nvSpPr>
          <p:spPr>
            <a:xfrm>
              <a:off x="3946550" y="2841752"/>
              <a:ext cx="3316528" cy="1335024"/>
            </a:xfrm>
            <a:prstGeom prst="roundRect">
              <a:avLst>
                <a:gd name="adj" fmla="val 7610"/>
              </a:avLst>
            </a:prstGeom>
            <a:solidFill>
              <a:srgbClr val="E7EBF0"/>
            </a:solidFill>
            <a:ln>
              <a:noFill/>
            </a:ln>
          </p:spPr>
          <p:txBody>
            <a:bodyPr rtlCol="0" anchor="ctr"/>
            <a:lstStyle/>
            <a:p>
              <a:pPr algn="ctr"/>
            </a:p>
          </p:txBody>
        </p:sp>
        <p:sp>
          <p:nvSpPr>
            <p:cNvPr id="11" name="Rounded Rectangle 10"/>
            <p:cNvSpPr/>
            <p:nvPr/>
          </p:nvSpPr>
          <p:spPr>
            <a:xfrm>
              <a:off x="3927500" y="2816352"/>
              <a:ext cx="3316528" cy="1335024"/>
            </a:xfrm>
            <a:prstGeom prst="roundRect">
              <a:avLst>
                <a:gd name="adj" fmla="val 7610"/>
              </a:avLst>
            </a:prstGeom>
            <a:solidFill>
              <a:srgbClr val="FFFFFF"/>
            </a:solidFill>
            <a:ln w="8890">
              <a:solidFill>
                <a:srgbClr val="D7DEE6"/>
              </a:solidFill>
            </a:ln>
          </p:spPr>
          <p:txBody>
            <a:bodyPr rtlCol="0" anchor="ctr"/>
            <a:lstStyle/>
            <a:p>
              <a:pPr algn="ctr"/>
            </a:p>
          </p:txBody>
        </p:sp>
      </p:grpSp>
      <p:grpSp>
        <p:nvGrpSpPr>
          <p:cNvPr id="15" name="Group 14"/>
          <p:cNvGrpSpPr/>
          <p:nvPr/>
        </p:nvGrpSpPr>
        <p:grpSpPr>
          <a:xfrm>
            <a:off x="3927500" y="4297680"/>
            <a:ext cx="3335578" cy="1360424"/>
            <a:chOff x="3927500" y="4297680"/>
            <a:chExt cx="3335578" cy="1360424"/>
          </a:xfrm>
        </p:grpSpPr>
        <p:sp>
          <p:nvSpPr>
            <p:cNvPr id="13" name="Rounded Rectangle 12"/>
            <p:cNvSpPr/>
            <p:nvPr/>
          </p:nvSpPr>
          <p:spPr>
            <a:xfrm>
              <a:off x="3946550" y="4323080"/>
              <a:ext cx="3316528" cy="1335024"/>
            </a:xfrm>
            <a:prstGeom prst="roundRect">
              <a:avLst>
                <a:gd name="adj" fmla="val 7610"/>
              </a:avLst>
            </a:prstGeom>
            <a:solidFill>
              <a:srgbClr val="E7EBF0"/>
            </a:solidFill>
            <a:ln>
              <a:noFill/>
            </a:ln>
          </p:spPr>
          <p:txBody>
            <a:bodyPr rtlCol="0" anchor="ctr"/>
            <a:lstStyle/>
            <a:p>
              <a:pPr algn="ctr"/>
            </a:p>
          </p:txBody>
        </p:sp>
        <p:sp>
          <p:nvSpPr>
            <p:cNvPr id="14" name="Rounded Rectangle 13"/>
            <p:cNvSpPr/>
            <p:nvPr/>
          </p:nvSpPr>
          <p:spPr>
            <a:xfrm>
              <a:off x="3927500" y="4297680"/>
              <a:ext cx="3316528" cy="1335024"/>
            </a:xfrm>
            <a:prstGeom prst="roundRect">
              <a:avLst>
                <a:gd name="adj" fmla="val 7610"/>
              </a:avLst>
            </a:prstGeom>
            <a:solidFill>
              <a:srgbClr val="FFFFFF"/>
            </a:solidFill>
            <a:ln w="8890">
              <a:solidFill>
                <a:srgbClr val="D7DEE6"/>
              </a:solidFill>
            </a:ln>
          </p:spPr>
          <p:txBody>
            <a:bodyPr rtlCol="0" anchor="ctr"/>
            <a:lstStyle/>
            <a:p>
              <a:pPr algn="ctr"/>
            </a:p>
          </p:txBody>
        </p:sp>
      </p:grpSp>
      <p:cxnSp>
        <p:nvCxnSpPr>
          <p:cNvPr id="16" name="Connector 15"/>
          <p:cNvCxnSpPr/>
          <p:nvPr/>
        </p:nvCxnSpPr>
        <p:spPr>
          <a:xfrm>
            <a:off x="3543452" y="3483864"/>
            <a:ext cx="192024" cy="0"/>
          </a:xfrm>
          <a:prstGeom prst="line">
            <a:avLst/>
          </a:prstGeom>
          <a:ln w="15875">
            <a:solidFill>
              <a:srgbClr val="738296"/>
            </a:solidFill>
          </a:ln>
        </p:spPr>
      </p:cxnSp>
      <p:cxnSp>
        <p:nvCxnSpPr>
          <p:cNvPr id="17" name="Connector 16"/>
          <p:cNvCxnSpPr/>
          <p:nvPr/>
        </p:nvCxnSpPr>
        <p:spPr>
          <a:xfrm>
            <a:off x="3735476" y="2002536"/>
            <a:ext cx="0" cy="2962656"/>
          </a:xfrm>
          <a:prstGeom prst="line">
            <a:avLst/>
          </a:prstGeom>
          <a:ln w="15875">
            <a:solidFill>
              <a:srgbClr val="738296"/>
            </a:solidFill>
          </a:ln>
        </p:spPr>
      </p:cxnSp>
      <p:cxnSp>
        <p:nvCxnSpPr>
          <p:cNvPr id="18" name="Connector 17"/>
          <p:cNvCxnSpPr/>
          <p:nvPr/>
        </p:nvCxnSpPr>
        <p:spPr>
          <a:xfrm>
            <a:off x="3735476" y="2002536"/>
            <a:ext cx="192024" cy="0"/>
          </a:xfrm>
          <a:prstGeom prst="line">
            <a:avLst/>
          </a:prstGeom>
          <a:ln w="15875">
            <a:solidFill>
              <a:srgbClr val="738296"/>
            </a:solidFill>
          </a:ln>
        </p:spPr>
      </p:cxnSp>
      <p:cxnSp>
        <p:nvCxnSpPr>
          <p:cNvPr id="19" name="Connector 18"/>
          <p:cNvCxnSpPr/>
          <p:nvPr/>
        </p:nvCxnSpPr>
        <p:spPr>
          <a:xfrm>
            <a:off x="3735476" y="3483864"/>
            <a:ext cx="192024" cy="0"/>
          </a:xfrm>
          <a:prstGeom prst="line">
            <a:avLst/>
          </a:prstGeom>
          <a:ln w="15875">
            <a:solidFill>
              <a:srgbClr val="738296"/>
            </a:solidFill>
          </a:ln>
        </p:spPr>
      </p:cxnSp>
      <p:cxnSp>
        <p:nvCxnSpPr>
          <p:cNvPr id="20" name="Connector 19"/>
          <p:cNvCxnSpPr/>
          <p:nvPr/>
        </p:nvCxnSpPr>
        <p:spPr>
          <a:xfrm>
            <a:off x="3735476" y="4965192"/>
            <a:ext cx="192024" cy="0"/>
          </a:xfrm>
          <a:prstGeom prst="line">
            <a:avLst/>
          </a:prstGeom>
          <a:ln w="15875">
            <a:solidFill>
              <a:srgbClr val="738296"/>
            </a:solidFill>
          </a:ln>
        </p:spPr>
      </p:cxnSp>
      <p:sp>
        <p:nvSpPr>
          <p:cNvPr id="21" name="TextBox 20"/>
          <p:cNvSpPr txBox="1"/>
          <p:nvPr/>
        </p:nvSpPr>
        <p:spPr>
          <a:xfrm>
            <a:off x="4128668" y="1481328"/>
            <a:ext cx="2914192" cy="1042416"/>
          </a:xfrm>
          <a:prstGeom prst="rect">
            <a:avLst/>
          </a:prstGeom>
          <a:noFill/>
        </p:spPr>
        <p:txBody>
          <a:bodyPr wrap="square" lIns="0" rIns="0" tIns="0" bIns="0" anchor="ctr">
            <a:spAutoFit/>
          </a:bodyPr>
          <a:lstStyle/>
          <a:p>
            <a:pPr algn="l">
              <a:lnSpc>
                <a:spcPct val="110000"/>
              </a:lnSpc>
              <a:spcBef>
                <a:spcPts val="0"/>
              </a:spcBef>
              <a:spcAft>
                <a:spcPts val="400"/>
              </a:spcAft>
            </a:pPr>
            <a:r>
              <a:rPr sz="1200" b="1">
                <a:solidFill>
                  <a:srgbClr val="102C49"/>
                </a:solidFill>
                <a:latin typeface="Hiragino Sans"/>
                <a:ea typeface="Hiragino Sans"/>
              </a:rPr>
              <a:t>branches配列</a:t>
            </a:r>
          </a:p>
          <a:p>
            <a:pPr algn="l">
              <a:lnSpc>
                <a:spcPct val="115000"/>
              </a:lnSpc>
              <a:spcBef>
                <a:spcPts val="0"/>
              </a:spcBef>
              <a:spcAft>
                <a:spcPts val="0"/>
              </a:spcAft>
            </a:pPr>
            <a:r>
              <a:rPr sz="1000" b="0">
                <a:solidFill>
                  <a:srgbClr val="53657A"/>
                </a:solidFill>
                <a:latin typeface="Hiragino Sans"/>
                <a:ea typeface="Hiragino Sans"/>
              </a:rPr>
              <a:t>第1階層の分解軸。5件までが目安</a:t>
            </a:r>
          </a:p>
        </p:txBody>
      </p:sp>
      <p:cxnSp>
        <p:nvCxnSpPr>
          <p:cNvPr id="22" name="Connector 21"/>
          <p:cNvCxnSpPr/>
          <p:nvPr/>
        </p:nvCxnSpPr>
        <p:spPr>
          <a:xfrm>
            <a:off x="7244028" y="2002536"/>
            <a:ext cx="192024" cy="0"/>
          </a:xfrm>
          <a:prstGeom prst="line">
            <a:avLst/>
          </a:prstGeom>
          <a:ln w="12700">
            <a:solidFill>
              <a:srgbClr val="D7DEE6"/>
            </a:solidFill>
          </a:ln>
        </p:spPr>
      </p:cxnSp>
      <p:cxnSp>
        <p:nvCxnSpPr>
          <p:cNvPr id="23" name="Connector 22"/>
          <p:cNvCxnSpPr/>
          <p:nvPr/>
        </p:nvCxnSpPr>
        <p:spPr>
          <a:xfrm>
            <a:off x="7436052" y="1812798"/>
            <a:ext cx="0" cy="1028700"/>
          </a:xfrm>
          <a:prstGeom prst="line">
            <a:avLst/>
          </a:prstGeom>
          <a:ln w="12700">
            <a:solidFill>
              <a:srgbClr val="D7DEE6"/>
            </a:solidFill>
          </a:ln>
        </p:spPr>
      </p:cxnSp>
      <p:cxnSp>
        <p:nvCxnSpPr>
          <p:cNvPr id="24" name="Connector 23"/>
          <p:cNvCxnSpPr/>
          <p:nvPr/>
        </p:nvCxnSpPr>
        <p:spPr>
          <a:xfrm>
            <a:off x="7436052" y="1812798"/>
            <a:ext cx="192024" cy="0"/>
          </a:xfrm>
          <a:prstGeom prst="line">
            <a:avLst/>
          </a:prstGeom>
          <a:ln w="12700">
            <a:solidFill>
              <a:srgbClr val="D7DEE6"/>
            </a:solidFill>
          </a:ln>
        </p:spPr>
      </p:cxnSp>
      <p:cxnSp>
        <p:nvCxnSpPr>
          <p:cNvPr id="25" name="Connector 24"/>
          <p:cNvCxnSpPr/>
          <p:nvPr/>
        </p:nvCxnSpPr>
        <p:spPr>
          <a:xfrm>
            <a:off x="7436052" y="2841498"/>
            <a:ext cx="192024" cy="0"/>
          </a:xfrm>
          <a:prstGeom prst="line">
            <a:avLst/>
          </a:prstGeom>
          <a:ln w="12700">
            <a:solidFill>
              <a:srgbClr val="D7DEE6"/>
            </a:solidFill>
          </a:ln>
        </p:spPr>
      </p:cxnSp>
      <p:sp>
        <p:nvSpPr>
          <p:cNvPr id="26" name="Rounded Rectangle 25"/>
          <p:cNvSpPr/>
          <p:nvPr/>
        </p:nvSpPr>
        <p:spPr>
          <a:xfrm>
            <a:off x="7628076" y="1335024"/>
            <a:ext cx="3954322" cy="955548"/>
          </a:xfrm>
          <a:prstGeom prst="roundRect">
            <a:avLst>
              <a:gd name="adj" fmla="val 18607"/>
            </a:avLst>
          </a:prstGeom>
          <a:solidFill>
            <a:srgbClr val="E7EBF0"/>
          </a:solidFill>
          <a:ln>
            <a:noFill/>
          </a:ln>
        </p:spPr>
        <p:txBody>
          <a:bodyPr rtlCol="0" anchor="ctr"/>
          <a:lstStyle/>
          <a:p>
            <a:pPr algn="ctr"/>
          </a:p>
        </p:txBody>
      </p:sp>
      <p:sp>
        <p:nvSpPr>
          <p:cNvPr id="27" name="TextBox 26"/>
          <p:cNvSpPr txBox="1"/>
          <p:nvPr/>
        </p:nvSpPr>
        <p:spPr>
          <a:xfrm>
            <a:off x="7792668" y="1335024"/>
            <a:ext cx="3661714" cy="955548"/>
          </a:xfrm>
          <a:prstGeom prst="rect">
            <a:avLst/>
          </a:prstGeom>
          <a:noFill/>
        </p:spPr>
        <p:txBody>
          <a:bodyPr wrap="square" lIns="0" rIns="0" tIns="0" bIns="0" anchor="ctr">
            <a:spAutoFit/>
          </a:bodyPr>
          <a:lstStyle/>
          <a:p>
            <a:pPr algn="l">
              <a:lnSpc>
                <a:spcPct val="105000"/>
              </a:lnSpc>
              <a:spcBef>
                <a:spcPts val="0"/>
              </a:spcBef>
              <a:spcAft>
                <a:spcPts val="0"/>
              </a:spcAft>
            </a:pPr>
            <a:r>
              <a:rPr sz="1000" b="0">
                <a:solidFill>
                  <a:srgbClr val="102C49"/>
                </a:solidFill>
                <a:latin typeface="Hiragino Sans"/>
                <a:ea typeface="Hiragino Sans"/>
              </a:rPr>
              <a:t>itemsが内訳になる</a:t>
            </a:r>
          </a:p>
        </p:txBody>
      </p:sp>
      <p:sp>
        <p:nvSpPr>
          <p:cNvPr id="28" name="Rounded Rectangle 27"/>
          <p:cNvSpPr/>
          <p:nvPr/>
        </p:nvSpPr>
        <p:spPr>
          <a:xfrm>
            <a:off x="7628076" y="2363724"/>
            <a:ext cx="3954322" cy="955548"/>
          </a:xfrm>
          <a:prstGeom prst="roundRect">
            <a:avLst>
              <a:gd name="adj" fmla="val 18607"/>
            </a:avLst>
          </a:prstGeom>
          <a:solidFill>
            <a:srgbClr val="E7EBF0"/>
          </a:solidFill>
          <a:ln>
            <a:noFill/>
          </a:ln>
        </p:spPr>
        <p:txBody>
          <a:bodyPr rtlCol="0" anchor="ctr"/>
          <a:lstStyle/>
          <a:p>
            <a:pPr algn="ctr"/>
          </a:p>
        </p:txBody>
      </p:sp>
      <p:sp>
        <p:nvSpPr>
          <p:cNvPr id="29" name="TextBox 28"/>
          <p:cNvSpPr txBox="1"/>
          <p:nvPr/>
        </p:nvSpPr>
        <p:spPr>
          <a:xfrm>
            <a:off x="7792668" y="2363724"/>
            <a:ext cx="3661714" cy="955548"/>
          </a:xfrm>
          <a:prstGeom prst="rect">
            <a:avLst/>
          </a:prstGeom>
          <a:noFill/>
        </p:spPr>
        <p:txBody>
          <a:bodyPr wrap="square" lIns="0" rIns="0" tIns="0" bIns="0" anchor="ctr">
            <a:spAutoFit/>
          </a:bodyPr>
          <a:lstStyle/>
          <a:p>
            <a:pPr algn="l">
              <a:lnSpc>
                <a:spcPct val="105000"/>
              </a:lnSpc>
              <a:spcBef>
                <a:spcPts val="0"/>
              </a:spcBef>
              <a:spcAft>
                <a:spcPts val="0"/>
              </a:spcAft>
            </a:pPr>
            <a:r>
              <a:rPr sz="1000" b="0">
                <a:solidFill>
                  <a:srgbClr val="102C49"/>
                </a:solidFill>
                <a:latin typeface="Hiragino Sans"/>
                <a:ea typeface="Hiragino Sans"/>
              </a:rPr>
              <a:t>1件が1行</a:t>
            </a:r>
          </a:p>
        </p:txBody>
      </p:sp>
      <p:sp>
        <p:nvSpPr>
          <p:cNvPr id="30" name="TextBox 29"/>
          <p:cNvSpPr txBox="1"/>
          <p:nvPr/>
        </p:nvSpPr>
        <p:spPr>
          <a:xfrm>
            <a:off x="4128668" y="2962656"/>
            <a:ext cx="2914192" cy="1042416"/>
          </a:xfrm>
          <a:prstGeom prst="rect">
            <a:avLst/>
          </a:prstGeom>
          <a:noFill/>
        </p:spPr>
        <p:txBody>
          <a:bodyPr wrap="square" lIns="0" rIns="0" tIns="0" bIns="0" anchor="ctr">
            <a:spAutoFit/>
          </a:bodyPr>
          <a:lstStyle/>
          <a:p>
            <a:pPr algn="l">
              <a:lnSpc>
                <a:spcPct val="110000"/>
              </a:lnSpc>
              <a:spcBef>
                <a:spcPts val="0"/>
              </a:spcBef>
              <a:spcAft>
                <a:spcPts val="400"/>
              </a:spcAft>
            </a:pPr>
            <a:r>
              <a:rPr sz="1200" b="1">
                <a:solidFill>
                  <a:srgbClr val="102C49"/>
                </a:solidFill>
                <a:latin typeface="Hiragino Sans"/>
                <a:ea typeface="Hiragino Sans"/>
              </a:rPr>
              <a:t>itemsは合計12件まで</a:t>
            </a:r>
          </a:p>
          <a:p>
            <a:pPr algn="l">
              <a:lnSpc>
                <a:spcPct val="115000"/>
              </a:lnSpc>
              <a:spcBef>
                <a:spcPts val="0"/>
              </a:spcBef>
              <a:spcAft>
                <a:spcPts val="0"/>
              </a:spcAft>
            </a:pPr>
            <a:r>
              <a:rPr sz="1000" b="0">
                <a:solidFill>
                  <a:srgbClr val="53657A"/>
                </a:solidFill>
                <a:latin typeface="Hiragino Sans"/>
                <a:ea typeface="Hiragino Sans"/>
              </a:rPr>
              <a:t>超えると1行の高さが狭くなり警告する</a:t>
            </a:r>
          </a:p>
        </p:txBody>
      </p:sp>
      <p:cxnSp>
        <p:nvCxnSpPr>
          <p:cNvPr id="31" name="Connector 30"/>
          <p:cNvCxnSpPr/>
          <p:nvPr/>
        </p:nvCxnSpPr>
        <p:spPr>
          <a:xfrm>
            <a:off x="7244028" y="3483864"/>
            <a:ext cx="192024" cy="0"/>
          </a:xfrm>
          <a:prstGeom prst="line">
            <a:avLst/>
          </a:prstGeom>
          <a:ln w="12700">
            <a:solidFill>
              <a:srgbClr val="D7DEE6"/>
            </a:solidFill>
          </a:ln>
        </p:spPr>
      </p:cxnSp>
      <p:cxnSp>
        <p:nvCxnSpPr>
          <p:cNvPr id="32" name="Connector 31"/>
          <p:cNvCxnSpPr/>
          <p:nvPr/>
        </p:nvCxnSpPr>
        <p:spPr>
          <a:xfrm>
            <a:off x="7436052" y="3483864"/>
            <a:ext cx="0" cy="496062"/>
          </a:xfrm>
          <a:prstGeom prst="line">
            <a:avLst/>
          </a:prstGeom>
          <a:ln w="12700">
            <a:solidFill>
              <a:srgbClr val="D7DEE6"/>
            </a:solidFill>
          </a:ln>
        </p:spPr>
      </p:cxnSp>
      <p:cxnSp>
        <p:nvCxnSpPr>
          <p:cNvPr id="33" name="Connector 32"/>
          <p:cNvCxnSpPr/>
          <p:nvPr/>
        </p:nvCxnSpPr>
        <p:spPr>
          <a:xfrm>
            <a:off x="7436052" y="3979926"/>
            <a:ext cx="192024" cy="0"/>
          </a:xfrm>
          <a:prstGeom prst="line">
            <a:avLst/>
          </a:prstGeom>
          <a:ln w="12700">
            <a:solidFill>
              <a:srgbClr val="D7DEE6"/>
            </a:solidFill>
          </a:ln>
        </p:spPr>
      </p:cxnSp>
      <p:sp>
        <p:nvSpPr>
          <p:cNvPr id="34" name="Rounded Rectangle 33"/>
          <p:cNvSpPr/>
          <p:nvPr/>
        </p:nvSpPr>
        <p:spPr>
          <a:xfrm>
            <a:off x="7628076" y="3483864"/>
            <a:ext cx="3954322" cy="992124"/>
          </a:xfrm>
          <a:prstGeom prst="roundRect">
            <a:avLst>
              <a:gd name="adj" fmla="val 17921"/>
            </a:avLst>
          </a:prstGeom>
          <a:solidFill>
            <a:srgbClr val="E7EBF0"/>
          </a:solidFill>
          <a:ln>
            <a:noFill/>
          </a:ln>
        </p:spPr>
        <p:txBody>
          <a:bodyPr rtlCol="0" anchor="ctr"/>
          <a:lstStyle/>
          <a:p>
            <a:pPr algn="ctr"/>
          </a:p>
        </p:txBody>
      </p:sp>
      <p:sp>
        <p:nvSpPr>
          <p:cNvPr id="35" name="TextBox 34"/>
          <p:cNvSpPr txBox="1"/>
          <p:nvPr/>
        </p:nvSpPr>
        <p:spPr>
          <a:xfrm>
            <a:off x="7792668" y="3483864"/>
            <a:ext cx="3661714" cy="992124"/>
          </a:xfrm>
          <a:prstGeom prst="rect">
            <a:avLst/>
          </a:prstGeom>
          <a:noFill/>
        </p:spPr>
        <p:txBody>
          <a:bodyPr wrap="square" lIns="0" rIns="0" tIns="0" bIns="0" anchor="ctr">
            <a:spAutoFit/>
          </a:bodyPr>
          <a:lstStyle/>
          <a:p>
            <a:pPr algn="l">
              <a:lnSpc>
                <a:spcPct val="105000"/>
              </a:lnSpc>
              <a:spcBef>
                <a:spcPts val="0"/>
              </a:spcBef>
              <a:spcAft>
                <a:spcPts val="0"/>
              </a:spcAft>
            </a:pPr>
            <a:r>
              <a:rPr sz="1000" b="0">
                <a:solidFill>
                  <a:srgbClr val="102C49"/>
                </a:solidFill>
                <a:latin typeface="Hiragino Sans"/>
                <a:ea typeface="Hiragino Sans"/>
              </a:rPr>
              <a:t>枝ごとに件数が違ってよい</a:t>
            </a:r>
          </a:p>
        </p:txBody>
      </p:sp>
      <p:sp>
        <p:nvSpPr>
          <p:cNvPr id="36" name="TextBox 35"/>
          <p:cNvSpPr txBox="1"/>
          <p:nvPr/>
        </p:nvSpPr>
        <p:spPr>
          <a:xfrm>
            <a:off x="4128668" y="4443984"/>
            <a:ext cx="2914192" cy="1042416"/>
          </a:xfrm>
          <a:prstGeom prst="rect">
            <a:avLst/>
          </a:prstGeom>
          <a:noFill/>
        </p:spPr>
        <p:txBody>
          <a:bodyPr wrap="square" lIns="0" rIns="0" tIns="0" bIns="0" anchor="ctr">
            <a:spAutoFit/>
          </a:bodyPr>
          <a:lstStyle/>
          <a:p>
            <a:pPr algn="l">
              <a:lnSpc>
                <a:spcPct val="110000"/>
              </a:lnSpc>
              <a:spcBef>
                <a:spcPts val="0"/>
              </a:spcBef>
              <a:spcAft>
                <a:spcPts val="400"/>
              </a:spcAft>
            </a:pPr>
            <a:r>
              <a:rPr sz="1200" b="1">
                <a:solidFill>
                  <a:srgbClr val="102C49"/>
                </a:solidFill>
                <a:latin typeface="Hiragino Sans"/>
                <a:ea typeface="Hiragino Sans"/>
              </a:rPr>
              <a:t>items省略時</a:t>
            </a:r>
          </a:p>
          <a:p>
            <a:pPr algn="l">
              <a:lnSpc>
                <a:spcPct val="115000"/>
              </a:lnSpc>
              <a:spcBef>
                <a:spcPts val="0"/>
              </a:spcBef>
              <a:spcAft>
                <a:spcPts val="0"/>
              </a:spcAft>
            </a:pPr>
            <a:r>
              <a:rPr sz="1000" b="0">
                <a:solidFill>
                  <a:srgbClr val="53657A"/>
                </a:solidFill>
                <a:latin typeface="Hiragino Sans"/>
                <a:ea typeface="Hiragino Sans"/>
              </a:rPr>
              <a:t>どの枝もitemsを持たない場合は2段のツリーになり、枝が広くなる</a:t>
            </a:r>
          </a:p>
        </p:txBody>
      </p:sp>
      <p:cxnSp>
        <p:nvCxnSpPr>
          <p:cNvPr id="37" name="Connector 36"/>
          <p:cNvCxnSpPr/>
          <p:nvPr/>
        </p:nvCxnSpPr>
        <p:spPr>
          <a:xfrm>
            <a:off x="7244028" y="4965192"/>
            <a:ext cx="192024" cy="0"/>
          </a:xfrm>
          <a:prstGeom prst="line">
            <a:avLst/>
          </a:prstGeom>
          <a:ln w="12700">
            <a:solidFill>
              <a:srgbClr val="D7DEE6"/>
            </a:solidFill>
          </a:ln>
        </p:spPr>
      </p:cxnSp>
      <p:cxnSp>
        <p:nvCxnSpPr>
          <p:cNvPr id="38" name="Connector 37"/>
          <p:cNvCxnSpPr/>
          <p:nvPr/>
        </p:nvCxnSpPr>
        <p:spPr>
          <a:xfrm>
            <a:off x="7436052" y="4965192"/>
            <a:ext cx="0" cy="171450"/>
          </a:xfrm>
          <a:prstGeom prst="line">
            <a:avLst/>
          </a:prstGeom>
          <a:ln w="12700">
            <a:solidFill>
              <a:srgbClr val="D7DEE6"/>
            </a:solidFill>
          </a:ln>
        </p:spPr>
      </p:cxnSp>
      <p:cxnSp>
        <p:nvCxnSpPr>
          <p:cNvPr id="39" name="Connector 38"/>
          <p:cNvCxnSpPr/>
          <p:nvPr/>
        </p:nvCxnSpPr>
        <p:spPr>
          <a:xfrm>
            <a:off x="7436052" y="5136642"/>
            <a:ext cx="192024" cy="0"/>
          </a:xfrm>
          <a:prstGeom prst="line">
            <a:avLst/>
          </a:prstGeom>
          <a:ln w="12700">
            <a:solidFill>
              <a:srgbClr val="D7DEE6"/>
            </a:solidFill>
          </a:ln>
        </p:spPr>
      </p:cxnSp>
      <p:sp>
        <p:nvSpPr>
          <p:cNvPr id="40" name="Rounded Rectangle 39"/>
          <p:cNvSpPr/>
          <p:nvPr/>
        </p:nvSpPr>
        <p:spPr>
          <a:xfrm>
            <a:off x="7628076" y="4640580"/>
            <a:ext cx="3954322" cy="992124"/>
          </a:xfrm>
          <a:prstGeom prst="roundRect">
            <a:avLst>
              <a:gd name="adj" fmla="val 17921"/>
            </a:avLst>
          </a:prstGeom>
          <a:solidFill>
            <a:srgbClr val="E7EBF0"/>
          </a:solidFill>
          <a:ln>
            <a:noFill/>
          </a:ln>
        </p:spPr>
        <p:txBody>
          <a:bodyPr rtlCol="0" anchor="ctr"/>
          <a:lstStyle/>
          <a:p>
            <a:pPr algn="ctr"/>
          </a:p>
        </p:txBody>
      </p:sp>
      <p:sp>
        <p:nvSpPr>
          <p:cNvPr id="41" name="TextBox 40"/>
          <p:cNvSpPr txBox="1"/>
          <p:nvPr/>
        </p:nvSpPr>
        <p:spPr>
          <a:xfrm>
            <a:off x="7792668" y="4640580"/>
            <a:ext cx="3661714" cy="992124"/>
          </a:xfrm>
          <a:prstGeom prst="rect">
            <a:avLst/>
          </a:prstGeom>
          <a:noFill/>
        </p:spPr>
        <p:txBody>
          <a:bodyPr wrap="square" lIns="0" rIns="0" tIns="0" bIns="0" anchor="ctr">
            <a:spAutoFit/>
          </a:bodyPr>
          <a:lstStyle/>
          <a:p>
            <a:pPr algn="l">
              <a:lnSpc>
                <a:spcPct val="105000"/>
              </a:lnSpc>
              <a:spcBef>
                <a:spcPts val="0"/>
              </a:spcBef>
              <a:spcAft>
                <a:spcPts val="0"/>
              </a:spcAft>
            </a:pPr>
            <a:r>
              <a:rPr sz="1000" b="0">
                <a:solidFill>
                  <a:srgbClr val="102C49"/>
                </a:solidFill>
                <a:latin typeface="Hiragino Sans"/>
                <a:ea typeface="Hiragino Sans"/>
              </a:rPr>
              <a:t>この例では3段</a:t>
            </a:r>
          </a:p>
        </p:txBody>
      </p:sp>
      <p:sp>
        <p:nvSpPr>
          <p:cNvPr id="42" name="Rounded Rectangle 41"/>
          <p:cNvSpPr/>
          <p:nvPr/>
        </p:nvSpPr>
        <p:spPr>
          <a:xfrm>
            <a:off x="609600" y="5852160"/>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rootが分解する問い、branchesが第1階層、各branchのitemsが内訳。階層は3段固定で、深い分解はページを分ける</a:t>
            </a:r>
          </a:p>
        </p:txBody>
      </p:sp>
      <p:sp>
        <p:nvSpPr>
          <p:cNvPr id="43" name="TextBox 42"/>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“issue_tree” — 論点をMECEに分解する（イシューツリー、ロジックツリー）。線に矢印は付けない（流れではなく包含関係のため）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stat_highlight: 単一の実績数値を主役にする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26</a:t>
            </a:r>
          </a:p>
        </p:txBody>
      </p:sp>
      <p:sp>
        <p:nvSpPr>
          <p:cNvPr id="5" name="Rounded Rectangle 4"/>
          <p:cNvSpPr/>
          <p:nvPr/>
        </p:nvSpPr>
        <p:spPr>
          <a:xfrm>
            <a:off x="609600" y="1335024"/>
            <a:ext cx="10972799" cy="2281578"/>
          </a:xfrm>
          <a:prstGeom prst="roundRect">
            <a:avLst>
              <a:gd name="adj" fmla="val 7792"/>
            </a:avLst>
          </a:prstGeom>
          <a:solidFill>
            <a:srgbClr val="E1EDFC"/>
          </a:solidFill>
          <a:ln>
            <a:noFill/>
          </a:ln>
        </p:spPr>
        <p:txBody>
          <a:bodyPr rtlCol="0" anchor="ctr"/>
          <a:lstStyle/>
          <a:p>
            <a:pPr algn="ctr"/>
          </a:p>
        </p:txBody>
      </p:sp>
      <p:sp>
        <p:nvSpPr>
          <p:cNvPr id="6" name="TextBox 5"/>
          <p:cNvSpPr txBox="1"/>
          <p:nvPr/>
        </p:nvSpPr>
        <p:spPr>
          <a:xfrm>
            <a:off x="1066800" y="1609344"/>
            <a:ext cx="10058399" cy="1732938"/>
          </a:xfrm>
          <a:prstGeom prst="rect">
            <a:avLst/>
          </a:prstGeom>
          <a:noFill/>
        </p:spPr>
        <p:txBody>
          <a:bodyPr wrap="square" lIns="0" rIns="0" tIns="0" bIns="0" anchor="ctr">
            <a:spAutoFit/>
          </a:bodyPr>
          <a:lstStyle/>
          <a:p>
            <a:pPr algn="l">
              <a:lnSpc>
                <a:spcPct val="108000"/>
              </a:lnSpc>
              <a:spcBef>
                <a:spcPts val="0"/>
              </a:spcBef>
              <a:spcAft>
                <a:spcPts val="400"/>
              </a:spcAft>
            </a:pPr>
            <a:r>
              <a:rPr sz="5600" b="1">
                <a:solidFill>
                  <a:srgbClr val="102C49"/>
                </a:solidFill>
                <a:latin typeface="Hiragino Sans"/>
                <a:ea typeface="Hiragino Sans"/>
              </a:rPr>
              <a:t>1</a:t>
            </a:r>
          </a:p>
          <a:p>
            <a:pPr algn="l">
              <a:lnSpc>
                <a:spcPct val="108000"/>
              </a:lnSpc>
              <a:spcBef>
                <a:spcPts val="0"/>
              </a:spcBef>
              <a:spcAft>
                <a:spcPts val="400"/>
              </a:spcAft>
            </a:pPr>
            <a:r>
              <a:rPr sz="1500" b="1">
                <a:solidFill>
                  <a:srgbClr val="102C49"/>
                </a:solidFill>
                <a:latin typeface="Hiragino Sans"/>
                <a:ea typeface="Hiragino Sans"/>
              </a:rPr>
              <a:t>主役にする数値は1つだけ</a:t>
            </a:r>
          </a:p>
          <a:p>
            <a:pPr algn="l">
              <a:lnSpc>
                <a:spcPct val="108000"/>
              </a:lnSpc>
              <a:spcBef>
                <a:spcPts val="0"/>
              </a:spcBef>
              <a:spcAft>
                <a:spcPts val="0"/>
              </a:spcAft>
            </a:pPr>
            <a:r>
              <a:rPr sz="1000" b="0">
                <a:solidFill>
                  <a:srgbClr val="53657A"/>
                </a:solidFill>
                <a:latin typeface="Hiragino Sans"/>
                <a:ea typeface="Hiragino Sans"/>
              </a:rPr>
              <a:t>stat.value / label / detailの3項目で構成する</a:t>
            </a:r>
          </a:p>
        </p:txBody>
      </p:sp>
      <p:grpSp>
        <p:nvGrpSpPr>
          <p:cNvPr id="9" name="Group 8"/>
          <p:cNvGrpSpPr/>
          <p:nvPr/>
        </p:nvGrpSpPr>
        <p:grpSpPr>
          <a:xfrm>
            <a:off x="609600" y="3799482"/>
            <a:ext cx="5378449" cy="1896294"/>
            <a:chOff x="609600" y="3799482"/>
            <a:chExt cx="5378449" cy="1896294"/>
          </a:xfrm>
        </p:grpSpPr>
        <p:sp>
          <p:nvSpPr>
            <p:cNvPr id="7" name="Rounded Rectangle 6"/>
            <p:cNvSpPr/>
            <p:nvPr/>
          </p:nvSpPr>
          <p:spPr>
            <a:xfrm>
              <a:off x="628650" y="3824882"/>
              <a:ext cx="5359399" cy="1870894"/>
            </a:xfrm>
            <a:prstGeom prst="roundRect">
              <a:avLst>
                <a:gd name="adj" fmla="val 5430"/>
              </a:avLst>
            </a:prstGeom>
            <a:solidFill>
              <a:srgbClr val="E7EBF0"/>
            </a:solidFill>
            <a:ln>
              <a:noFill/>
            </a:ln>
          </p:spPr>
          <p:txBody>
            <a:bodyPr rtlCol="0" anchor="ctr"/>
            <a:lstStyle/>
            <a:p>
              <a:pPr algn="ctr"/>
            </a:p>
          </p:txBody>
        </p:sp>
        <p:sp>
          <p:nvSpPr>
            <p:cNvPr id="8" name="Rounded Rectangle 7"/>
            <p:cNvSpPr/>
            <p:nvPr/>
          </p:nvSpPr>
          <p:spPr>
            <a:xfrm>
              <a:off x="609600" y="3799482"/>
              <a:ext cx="5359399" cy="1870894"/>
            </a:xfrm>
            <a:prstGeom prst="roundRect">
              <a:avLst>
                <a:gd name="adj" fmla="val 5430"/>
              </a:avLst>
            </a:prstGeom>
            <a:solidFill>
              <a:srgbClr val="FFFFFF"/>
            </a:solidFill>
            <a:ln w="8890">
              <a:solidFill>
                <a:srgbClr val="D7DEE6"/>
              </a:solidFill>
            </a:ln>
          </p:spPr>
          <p:txBody>
            <a:bodyPr rtlCol="0" anchor="ctr"/>
            <a:lstStyle/>
            <a:p>
              <a:pPr algn="ctr"/>
            </a:p>
          </p:txBody>
        </p:sp>
      </p:grpSp>
      <p:grpSp>
        <p:nvGrpSpPr>
          <p:cNvPr id="12" name="Group 11"/>
          <p:cNvGrpSpPr/>
          <p:nvPr/>
        </p:nvGrpSpPr>
        <p:grpSpPr>
          <a:xfrm>
            <a:off x="6222999" y="3799482"/>
            <a:ext cx="5378449" cy="1896294"/>
            <a:chOff x="6222999" y="3799482"/>
            <a:chExt cx="5378449" cy="1896294"/>
          </a:xfrm>
        </p:grpSpPr>
        <p:sp>
          <p:nvSpPr>
            <p:cNvPr id="10" name="Rounded Rectangle 9"/>
            <p:cNvSpPr/>
            <p:nvPr/>
          </p:nvSpPr>
          <p:spPr>
            <a:xfrm>
              <a:off x="6242049" y="3824882"/>
              <a:ext cx="5359399" cy="1870894"/>
            </a:xfrm>
            <a:prstGeom prst="roundRect">
              <a:avLst>
                <a:gd name="adj" fmla="val 5430"/>
              </a:avLst>
            </a:prstGeom>
            <a:solidFill>
              <a:srgbClr val="E7EBF0"/>
            </a:solidFill>
            <a:ln>
              <a:noFill/>
            </a:ln>
          </p:spPr>
          <p:txBody>
            <a:bodyPr rtlCol="0" anchor="ctr"/>
            <a:lstStyle/>
            <a:p>
              <a:pPr algn="ctr"/>
            </a:p>
          </p:txBody>
        </p:sp>
        <p:sp>
          <p:nvSpPr>
            <p:cNvPr id="11" name="Rounded Rectangle 10"/>
            <p:cNvSpPr/>
            <p:nvPr/>
          </p:nvSpPr>
          <p:spPr>
            <a:xfrm>
              <a:off x="6222999" y="3799482"/>
              <a:ext cx="5359399" cy="1870894"/>
            </a:xfrm>
            <a:prstGeom prst="roundRect">
              <a:avLst>
                <a:gd name="adj" fmla="val 5430"/>
              </a:avLst>
            </a:prstGeom>
            <a:solidFill>
              <a:srgbClr val="FFFFFF"/>
            </a:solidFill>
            <a:ln w="8890">
              <a:solidFill>
                <a:srgbClr val="D7DEE6"/>
              </a:solidFill>
            </a:ln>
          </p:spPr>
          <p:txBody>
            <a:bodyPr rtlCol="0" anchor="ctr"/>
            <a:lstStyle/>
            <a:p>
              <a:pPr algn="ctr"/>
            </a:p>
          </p:txBody>
        </p:sp>
      </p:grpSp>
      <p:sp>
        <p:nvSpPr>
          <p:cNvPr id="13" name="TextBox 12"/>
          <p:cNvSpPr txBox="1"/>
          <p:nvPr/>
        </p:nvSpPr>
        <p:spPr>
          <a:xfrm>
            <a:off x="792480" y="3982362"/>
            <a:ext cx="4993639" cy="1505134"/>
          </a:xfrm>
          <a:prstGeom prst="rect">
            <a:avLst/>
          </a:prstGeom>
          <a:noFill/>
        </p:spPr>
        <p:txBody>
          <a:bodyPr wrap="square" lIns="0" rIns="0" tIns="0" bIns="0" anchor="ctr">
            <a:spAutoFit/>
          </a:bodyPr>
          <a:lstStyle/>
          <a:p>
            <a:pPr algn="l">
              <a:lnSpc>
                <a:spcPct val="108000"/>
              </a:lnSpc>
              <a:spcBef>
                <a:spcPts val="0"/>
              </a:spcBef>
              <a:spcAft>
                <a:spcPts val="400"/>
              </a:spcAft>
            </a:pPr>
            <a:r>
              <a:rPr sz="2000" b="1">
                <a:solidFill>
                  <a:srgbClr val="2574D9"/>
                </a:solidFill>
                <a:latin typeface="Hiragino Sans"/>
                <a:ea typeface="Hiragino Sans"/>
              </a:rPr>
              <a:t>N件</a:t>
            </a:r>
          </a:p>
          <a:p>
            <a:pPr algn="l">
              <a:lnSpc>
                <a:spcPct val="108000"/>
              </a:lnSpc>
              <a:spcBef>
                <a:spcPts val="0"/>
              </a:spcBef>
              <a:spcAft>
                <a:spcPts val="0"/>
              </a:spcAft>
            </a:pPr>
            <a:r>
              <a:rPr sz="1000" b="0">
                <a:solidFill>
                  <a:srgbClr val="53657A"/>
                </a:solidFill>
                <a:latin typeface="Hiragino Sans"/>
                <a:ea typeface="Hiragino Sans"/>
              </a:rPr>
              <a:t>supportingは補足指標</a:t>
            </a:r>
          </a:p>
        </p:txBody>
      </p:sp>
      <p:sp>
        <p:nvSpPr>
          <p:cNvPr id="14" name="TextBox 13"/>
          <p:cNvSpPr txBox="1"/>
          <p:nvPr/>
        </p:nvSpPr>
        <p:spPr>
          <a:xfrm>
            <a:off x="6405879" y="3982362"/>
            <a:ext cx="4993639" cy="1505134"/>
          </a:xfrm>
          <a:prstGeom prst="rect">
            <a:avLst/>
          </a:prstGeom>
          <a:noFill/>
        </p:spPr>
        <p:txBody>
          <a:bodyPr wrap="square" lIns="0" rIns="0" tIns="0" bIns="0" anchor="ctr">
            <a:spAutoFit/>
          </a:bodyPr>
          <a:lstStyle/>
          <a:p>
            <a:pPr algn="l">
              <a:lnSpc>
                <a:spcPct val="108000"/>
              </a:lnSpc>
              <a:spcBef>
                <a:spcPts val="0"/>
              </a:spcBef>
              <a:spcAft>
                <a:spcPts val="400"/>
              </a:spcAft>
            </a:pPr>
            <a:r>
              <a:rPr sz="2000" b="1">
                <a:solidFill>
                  <a:srgbClr val="2574D9"/>
                </a:solidFill>
                <a:latin typeface="Hiragino Sans"/>
                <a:ea typeface="Hiragino Sans"/>
              </a:rPr>
              <a:t>任意</a:t>
            </a:r>
          </a:p>
          <a:p>
            <a:pPr algn="l">
              <a:lnSpc>
                <a:spcPct val="108000"/>
              </a:lnSpc>
              <a:spcBef>
                <a:spcPts val="0"/>
              </a:spcBef>
              <a:spcAft>
                <a:spcPts val="0"/>
              </a:spcAft>
            </a:pPr>
            <a:r>
              <a:rPr sz="1000" b="0">
                <a:solidFill>
                  <a:srgbClr val="53657A"/>
                </a:solidFill>
                <a:latin typeface="Hiragino Sans"/>
                <a:ea typeface="Hiragino Sans"/>
              </a:rPr>
              <a:t>複数観点の対等比較はtable_with_conclusionを優先</a:t>
            </a:r>
          </a:p>
        </p:txBody>
      </p:sp>
      <p:sp>
        <p:nvSpPr>
          <p:cNvPr id="15" name="Rounded Rectangle 14"/>
          <p:cNvSpPr/>
          <p:nvPr/>
        </p:nvSpPr>
        <p:spPr>
          <a:xfrm>
            <a:off x="609600" y="5853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stat.valueが主指標、supportingは補足指標のCard群</a:t>
            </a:r>
          </a:p>
        </p:txBody>
      </p:sp>
      <p:sp>
        <p:nvSpPr>
          <p:cNvPr id="16" name="TextBox 15"/>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“stat_highlight” — 単一の実績数値を主役に、補足指標と結論を示す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stat_highlight (stat省略): KPIダッシュボードとして一覧する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27</a:t>
            </a:r>
          </a:p>
        </p:txBody>
      </p:sp>
      <p:grpSp>
        <p:nvGrpSpPr>
          <p:cNvPr id="7" name="Group 6"/>
          <p:cNvGrpSpPr/>
          <p:nvPr/>
        </p:nvGrpSpPr>
        <p:grpSpPr>
          <a:xfrm>
            <a:off x="609600" y="1335024"/>
            <a:ext cx="2571749" cy="4323080"/>
            <a:chOff x="609600" y="1335024"/>
            <a:chExt cx="2571749" cy="4323080"/>
          </a:xfrm>
        </p:grpSpPr>
        <p:sp>
          <p:nvSpPr>
            <p:cNvPr id="5" name="Rounded Rectangle 4"/>
            <p:cNvSpPr/>
            <p:nvPr/>
          </p:nvSpPr>
          <p:spPr>
            <a:xfrm>
              <a:off x="628650" y="1360424"/>
              <a:ext cx="2552699" cy="4297680"/>
            </a:xfrm>
            <a:prstGeom prst="roundRect">
              <a:avLst>
                <a:gd name="adj" fmla="val 3980"/>
              </a:avLst>
            </a:prstGeom>
            <a:solidFill>
              <a:srgbClr val="E7EBF0"/>
            </a:solidFill>
            <a:ln>
              <a:noFill/>
            </a:ln>
          </p:spPr>
          <p:txBody>
            <a:bodyPr rtlCol="0" anchor="ctr"/>
            <a:lstStyle/>
            <a:p>
              <a:pPr algn="ctr"/>
            </a:p>
          </p:txBody>
        </p:sp>
        <p:sp>
          <p:nvSpPr>
            <p:cNvPr id="6" name="Rounded Rectangle 5"/>
            <p:cNvSpPr/>
            <p:nvPr/>
          </p:nvSpPr>
          <p:spPr>
            <a:xfrm>
              <a:off x="609600" y="1335024"/>
              <a:ext cx="2552699" cy="4297680"/>
            </a:xfrm>
            <a:prstGeom prst="roundRect">
              <a:avLst>
                <a:gd name="adj" fmla="val 3980"/>
              </a:avLst>
            </a:prstGeom>
            <a:solidFill>
              <a:srgbClr val="FFFFFF"/>
            </a:solidFill>
            <a:ln w="8890">
              <a:solidFill>
                <a:srgbClr val="D7DEE6"/>
              </a:solidFill>
            </a:ln>
          </p:spPr>
          <p:txBody>
            <a:bodyPr rtlCol="0" anchor="ctr"/>
            <a:lstStyle/>
            <a:p>
              <a:pPr algn="ctr"/>
            </a:p>
          </p:txBody>
        </p:sp>
      </p:grpSp>
      <p:grpSp>
        <p:nvGrpSpPr>
          <p:cNvPr id="10" name="Group 9"/>
          <p:cNvGrpSpPr/>
          <p:nvPr/>
        </p:nvGrpSpPr>
        <p:grpSpPr>
          <a:xfrm>
            <a:off x="3416299" y="1335024"/>
            <a:ext cx="2571749" cy="4323080"/>
            <a:chOff x="3416299" y="1335024"/>
            <a:chExt cx="2571749" cy="4323080"/>
          </a:xfrm>
        </p:grpSpPr>
        <p:sp>
          <p:nvSpPr>
            <p:cNvPr id="8" name="Rounded Rectangle 7"/>
            <p:cNvSpPr/>
            <p:nvPr/>
          </p:nvSpPr>
          <p:spPr>
            <a:xfrm>
              <a:off x="3435349" y="1360424"/>
              <a:ext cx="2552699" cy="4297680"/>
            </a:xfrm>
            <a:prstGeom prst="roundRect">
              <a:avLst>
                <a:gd name="adj" fmla="val 3980"/>
              </a:avLst>
            </a:prstGeom>
            <a:solidFill>
              <a:srgbClr val="E7EBF0"/>
            </a:solidFill>
            <a:ln>
              <a:noFill/>
            </a:ln>
          </p:spPr>
          <p:txBody>
            <a:bodyPr rtlCol="0" anchor="ctr"/>
            <a:lstStyle/>
            <a:p>
              <a:pPr algn="ctr"/>
            </a:p>
          </p:txBody>
        </p:sp>
        <p:sp>
          <p:nvSpPr>
            <p:cNvPr id="9" name="Rounded Rectangle 8"/>
            <p:cNvSpPr/>
            <p:nvPr/>
          </p:nvSpPr>
          <p:spPr>
            <a:xfrm>
              <a:off x="3416299" y="1335024"/>
              <a:ext cx="2552699" cy="4297680"/>
            </a:xfrm>
            <a:prstGeom prst="roundRect">
              <a:avLst>
                <a:gd name="adj" fmla="val 3980"/>
              </a:avLst>
            </a:prstGeom>
            <a:solidFill>
              <a:srgbClr val="FFFFFF"/>
            </a:solidFill>
            <a:ln w="8890">
              <a:solidFill>
                <a:srgbClr val="D7DEE6"/>
              </a:solidFill>
            </a:ln>
          </p:spPr>
          <p:txBody>
            <a:bodyPr rtlCol="0" anchor="ctr"/>
            <a:lstStyle/>
            <a:p>
              <a:pPr algn="ctr"/>
            </a:p>
          </p:txBody>
        </p:sp>
      </p:grpSp>
      <p:grpSp>
        <p:nvGrpSpPr>
          <p:cNvPr id="13" name="Group 12"/>
          <p:cNvGrpSpPr/>
          <p:nvPr/>
        </p:nvGrpSpPr>
        <p:grpSpPr>
          <a:xfrm>
            <a:off x="6222998" y="1335024"/>
            <a:ext cx="2571749" cy="4323080"/>
            <a:chOff x="6222998" y="1335024"/>
            <a:chExt cx="2571749" cy="4323080"/>
          </a:xfrm>
        </p:grpSpPr>
        <p:sp>
          <p:nvSpPr>
            <p:cNvPr id="11" name="Rounded Rectangle 10"/>
            <p:cNvSpPr/>
            <p:nvPr/>
          </p:nvSpPr>
          <p:spPr>
            <a:xfrm>
              <a:off x="6242048" y="1360424"/>
              <a:ext cx="2552699" cy="4297680"/>
            </a:xfrm>
            <a:prstGeom prst="roundRect">
              <a:avLst>
                <a:gd name="adj" fmla="val 3980"/>
              </a:avLst>
            </a:prstGeom>
            <a:solidFill>
              <a:srgbClr val="E7EBF0"/>
            </a:solidFill>
            <a:ln>
              <a:noFill/>
            </a:ln>
          </p:spPr>
          <p:txBody>
            <a:bodyPr rtlCol="0" anchor="ctr"/>
            <a:lstStyle/>
            <a:p>
              <a:pPr algn="ctr"/>
            </a:p>
          </p:txBody>
        </p:sp>
        <p:sp>
          <p:nvSpPr>
            <p:cNvPr id="12" name="Rounded Rectangle 11"/>
            <p:cNvSpPr/>
            <p:nvPr/>
          </p:nvSpPr>
          <p:spPr>
            <a:xfrm>
              <a:off x="6222998" y="1335024"/>
              <a:ext cx="2552699" cy="4297680"/>
            </a:xfrm>
            <a:prstGeom prst="roundRect">
              <a:avLst>
                <a:gd name="adj" fmla="val 3980"/>
              </a:avLst>
            </a:prstGeom>
            <a:solidFill>
              <a:srgbClr val="FFFFFF"/>
            </a:solidFill>
            <a:ln w="8890">
              <a:solidFill>
                <a:srgbClr val="D7DEE6"/>
              </a:solidFill>
            </a:ln>
          </p:spPr>
          <p:txBody>
            <a:bodyPr rtlCol="0" anchor="ctr"/>
            <a:lstStyle/>
            <a:p>
              <a:pPr algn="ctr"/>
            </a:p>
          </p:txBody>
        </p:sp>
      </p:grpSp>
      <p:grpSp>
        <p:nvGrpSpPr>
          <p:cNvPr id="16" name="Group 15"/>
          <p:cNvGrpSpPr/>
          <p:nvPr/>
        </p:nvGrpSpPr>
        <p:grpSpPr>
          <a:xfrm>
            <a:off x="9029697" y="1335024"/>
            <a:ext cx="2571749" cy="4323080"/>
            <a:chOff x="9029697" y="1335024"/>
            <a:chExt cx="2571749" cy="4323080"/>
          </a:xfrm>
        </p:grpSpPr>
        <p:sp>
          <p:nvSpPr>
            <p:cNvPr id="14" name="Rounded Rectangle 13"/>
            <p:cNvSpPr/>
            <p:nvPr/>
          </p:nvSpPr>
          <p:spPr>
            <a:xfrm>
              <a:off x="9048747" y="1360424"/>
              <a:ext cx="2552699" cy="4297680"/>
            </a:xfrm>
            <a:prstGeom prst="roundRect">
              <a:avLst>
                <a:gd name="adj" fmla="val 3980"/>
              </a:avLst>
            </a:prstGeom>
            <a:solidFill>
              <a:srgbClr val="E7EBF0"/>
            </a:solidFill>
            <a:ln>
              <a:noFill/>
            </a:ln>
          </p:spPr>
          <p:txBody>
            <a:bodyPr rtlCol="0" anchor="ctr"/>
            <a:lstStyle/>
            <a:p>
              <a:pPr algn="ctr"/>
            </a:p>
          </p:txBody>
        </p:sp>
        <p:sp>
          <p:nvSpPr>
            <p:cNvPr id="15" name="Rounded Rectangle 14"/>
            <p:cNvSpPr/>
            <p:nvPr/>
          </p:nvSpPr>
          <p:spPr>
            <a:xfrm>
              <a:off x="9029697" y="1335024"/>
              <a:ext cx="2552699" cy="4297680"/>
            </a:xfrm>
            <a:prstGeom prst="roundRect">
              <a:avLst>
                <a:gd name="adj" fmla="val 3980"/>
              </a:avLst>
            </a:prstGeom>
            <a:solidFill>
              <a:srgbClr val="FFFFFF"/>
            </a:solidFill>
            <a:ln w="8890">
              <a:solidFill>
                <a:srgbClr val="D7DEE6"/>
              </a:solidFill>
            </a:ln>
          </p:spPr>
          <p:txBody>
            <a:bodyPr rtlCol="0" anchor="ctr"/>
            <a:lstStyle/>
            <a:p>
              <a:pPr algn="ctr"/>
            </a:p>
          </p:txBody>
        </p:sp>
      </p:grpSp>
      <p:sp>
        <p:nvSpPr>
          <p:cNvPr id="17" name="TextBox 16"/>
          <p:cNvSpPr txBox="1"/>
          <p:nvPr/>
        </p:nvSpPr>
        <p:spPr>
          <a:xfrm>
            <a:off x="792480" y="1517904"/>
            <a:ext cx="2186939" cy="3931920"/>
          </a:xfrm>
          <a:prstGeom prst="rect">
            <a:avLst/>
          </a:prstGeom>
          <a:noFill/>
        </p:spPr>
        <p:txBody>
          <a:bodyPr wrap="square" lIns="0" rIns="0" tIns="0" bIns="0" anchor="ctr">
            <a:spAutoFit/>
          </a:bodyPr>
          <a:lstStyle/>
          <a:p>
            <a:pPr algn="l">
              <a:lnSpc>
                <a:spcPct val="108000"/>
              </a:lnSpc>
              <a:spcBef>
                <a:spcPts val="0"/>
              </a:spcBef>
              <a:spcAft>
                <a:spcPts val="400"/>
              </a:spcAft>
            </a:pPr>
            <a:r>
              <a:rPr sz="3400" b="1">
                <a:solidFill>
                  <a:srgbClr val="2574D9"/>
                </a:solidFill>
                <a:latin typeface="Hiragino Sans"/>
                <a:ea typeface="Hiragino Sans"/>
              </a:rPr>
              <a:t>94%</a:t>
            </a:r>
          </a:p>
          <a:p>
            <a:pPr algn="l">
              <a:lnSpc>
                <a:spcPct val="108000"/>
              </a:lnSpc>
              <a:spcBef>
                <a:spcPts val="0"/>
              </a:spcBef>
              <a:spcAft>
                <a:spcPts val="0"/>
              </a:spcAft>
            </a:pPr>
            <a:r>
              <a:rPr sz="1000" b="0">
                <a:solidFill>
                  <a:srgbClr val="53657A"/>
                </a:solidFill>
                <a:latin typeface="Hiragino Sans"/>
                <a:ea typeface="Hiragino Sans"/>
              </a:rPr>
              <a:t>満足度</a:t>
            </a:r>
          </a:p>
        </p:txBody>
      </p:sp>
      <p:sp>
        <p:nvSpPr>
          <p:cNvPr id="18" name="TextBox 17"/>
          <p:cNvSpPr txBox="1"/>
          <p:nvPr/>
        </p:nvSpPr>
        <p:spPr>
          <a:xfrm>
            <a:off x="3599179" y="1517904"/>
            <a:ext cx="2186939" cy="3931920"/>
          </a:xfrm>
          <a:prstGeom prst="rect">
            <a:avLst/>
          </a:prstGeom>
          <a:noFill/>
        </p:spPr>
        <p:txBody>
          <a:bodyPr wrap="square" lIns="0" rIns="0" tIns="0" bIns="0" anchor="ctr">
            <a:spAutoFit/>
          </a:bodyPr>
          <a:lstStyle/>
          <a:p>
            <a:pPr algn="l">
              <a:lnSpc>
                <a:spcPct val="108000"/>
              </a:lnSpc>
              <a:spcBef>
                <a:spcPts val="0"/>
              </a:spcBef>
              <a:spcAft>
                <a:spcPts val="400"/>
              </a:spcAft>
            </a:pPr>
            <a:r>
              <a:rPr sz="3400" b="1">
                <a:solidFill>
                  <a:srgbClr val="1E8A5F"/>
                </a:solidFill>
                <a:latin typeface="Hiragino Sans"/>
                <a:ea typeface="Hiragino Sans"/>
              </a:rPr>
              <a:t>-42%</a:t>
            </a:r>
          </a:p>
          <a:p>
            <a:pPr algn="l">
              <a:lnSpc>
                <a:spcPct val="108000"/>
              </a:lnSpc>
              <a:spcBef>
                <a:spcPts val="0"/>
              </a:spcBef>
              <a:spcAft>
                <a:spcPts val="0"/>
              </a:spcAft>
            </a:pPr>
            <a:r>
              <a:rPr sz="1000" b="0">
                <a:solidFill>
                  <a:srgbClr val="53657A"/>
                </a:solidFill>
                <a:latin typeface="Hiragino Sans"/>
                <a:ea typeface="Hiragino Sans"/>
              </a:rPr>
              <a:t>作業時間削減率（削減=良い結果）</a:t>
            </a:r>
          </a:p>
        </p:txBody>
      </p:sp>
      <p:sp>
        <p:nvSpPr>
          <p:cNvPr id="19" name="TextBox 18"/>
          <p:cNvSpPr txBox="1"/>
          <p:nvPr/>
        </p:nvSpPr>
        <p:spPr>
          <a:xfrm>
            <a:off x="6405878" y="1517904"/>
            <a:ext cx="2186939" cy="3931920"/>
          </a:xfrm>
          <a:prstGeom prst="rect">
            <a:avLst/>
          </a:prstGeom>
          <a:noFill/>
        </p:spPr>
        <p:txBody>
          <a:bodyPr wrap="square" lIns="0" rIns="0" tIns="0" bIns="0" anchor="ctr">
            <a:spAutoFit/>
          </a:bodyPr>
          <a:lstStyle/>
          <a:p>
            <a:pPr algn="l">
              <a:lnSpc>
                <a:spcPct val="108000"/>
              </a:lnSpc>
              <a:spcBef>
                <a:spcPts val="0"/>
              </a:spcBef>
              <a:spcAft>
                <a:spcPts val="400"/>
              </a:spcAft>
            </a:pPr>
            <a:r>
              <a:rPr sz="3400" b="1">
                <a:solidFill>
                  <a:srgbClr val="C0392B"/>
                </a:solidFill>
                <a:latin typeface="Hiragino Sans"/>
                <a:ea typeface="Hiragino Sans"/>
              </a:rPr>
              <a:t>+8%</a:t>
            </a:r>
          </a:p>
          <a:p>
            <a:pPr algn="l">
              <a:lnSpc>
                <a:spcPct val="108000"/>
              </a:lnSpc>
              <a:spcBef>
                <a:spcPts val="0"/>
              </a:spcBef>
              <a:spcAft>
                <a:spcPts val="0"/>
              </a:spcAft>
            </a:pPr>
            <a:r>
              <a:rPr sz="1000" b="0">
                <a:solidFill>
                  <a:srgbClr val="53657A"/>
                </a:solidFill>
                <a:latin typeface="Hiragino Sans"/>
                <a:ea typeface="Hiragino Sans"/>
              </a:rPr>
              <a:t>解約率（増加=悪い結果）</a:t>
            </a:r>
          </a:p>
        </p:txBody>
      </p:sp>
      <p:sp>
        <p:nvSpPr>
          <p:cNvPr id="20" name="TextBox 19"/>
          <p:cNvSpPr txBox="1"/>
          <p:nvPr/>
        </p:nvSpPr>
        <p:spPr>
          <a:xfrm>
            <a:off x="9212577" y="1517904"/>
            <a:ext cx="2186939" cy="3931920"/>
          </a:xfrm>
          <a:prstGeom prst="rect">
            <a:avLst/>
          </a:prstGeom>
          <a:noFill/>
        </p:spPr>
        <p:txBody>
          <a:bodyPr wrap="square" lIns="0" rIns="0" tIns="0" bIns="0" anchor="ctr">
            <a:spAutoFit/>
          </a:bodyPr>
          <a:lstStyle/>
          <a:p>
            <a:pPr algn="l">
              <a:lnSpc>
                <a:spcPct val="108000"/>
              </a:lnSpc>
              <a:spcBef>
                <a:spcPts val="0"/>
              </a:spcBef>
              <a:spcAft>
                <a:spcPts val="400"/>
              </a:spcAft>
            </a:pPr>
            <a:r>
              <a:rPr sz="3400" b="1">
                <a:solidFill>
                  <a:srgbClr val="2574D9"/>
                </a:solidFill>
                <a:latin typeface="Hiragino Sans"/>
                <a:ea typeface="Hiragino Sans"/>
              </a:rPr>
              <a:t>12</a:t>
            </a:r>
          </a:p>
          <a:p>
            <a:pPr algn="l">
              <a:lnSpc>
                <a:spcPct val="108000"/>
              </a:lnSpc>
              <a:spcBef>
                <a:spcPts val="0"/>
              </a:spcBef>
              <a:spcAft>
                <a:spcPts val="0"/>
              </a:spcAft>
            </a:pPr>
            <a:r>
              <a:rPr sz="1000" b="0">
                <a:solidFill>
                  <a:srgbClr val="53657A"/>
                </a:solidFill>
                <a:latin typeface="Hiragino Sans"/>
                <a:ea typeface="Hiragino Sans"/>
              </a:rPr>
              <a:t>導入部署数</a:t>
            </a:r>
          </a:p>
        </p:txBody>
      </p:sp>
      <p:sp>
        <p:nvSpPr>
          <p:cNvPr id="21" name="Rounded Rectangle 20"/>
          <p:cNvSpPr/>
          <p:nvPr/>
        </p:nvSpPr>
        <p:spPr>
          <a:xfrm>
            <a:off x="609600" y="5852160"/>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statを省略すると、supportingが均等グリッドのKPIダッシュボードになる</a:t>
            </a:r>
          </a:p>
        </p:txBody>
      </p:sp>
      <p:sp>
        <p:nvSpPr>
          <p:cNvPr id="22" name="TextBox 21"/>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“stat_highlight (KPI dashboard)” — toneは数値の符号でなく意味で指定する（-42%でもtone: positiveになり得る）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waterfall: 変化した理由を増減の棒へ分解する</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28</a:t>
            </a:r>
          </a:p>
        </p:txBody>
      </p:sp>
      <p:sp>
        <p:nvSpPr>
          <p:cNvPr id="5" name="Rectangle 4"/>
          <p:cNvSpPr/>
          <p:nvPr/>
        </p:nvSpPr>
        <p:spPr>
          <a:xfrm>
            <a:off x="965265" y="2472947"/>
            <a:ext cx="1380817" cy="2486223"/>
          </a:xfrm>
          <a:prstGeom prst="rect">
            <a:avLst/>
          </a:prstGeom>
          <a:solidFill>
            <a:srgbClr val="102C49"/>
          </a:solidFill>
          <a:ln>
            <a:noFill/>
          </a:ln>
        </p:spPr>
        <p:txBody>
          <a:bodyPr rtlCol="0" anchor="ctr"/>
          <a:lstStyle/>
          <a:p>
            <a:pPr algn="ctr"/>
          </a:p>
        </p:txBody>
      </p:sp>
      <p:sp>
        <p:nvSpPr>
          <p:cNvPr id="6" name="TextBox 5"/>
          <p:cNvSpPr txBox="1"/>
          <p:nvPr/>
        </p:nvSpPr>
        <p:spPr>
          <a:xfrm>
            <a:off x="609600" y="2198627"/>
            <a:ext cx="2092147" cy="256032"/>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100</a:t>
            </a:r>
          </a:p>
        </p:txBody>
      </p:sp>
      <p:sp>
        <p:nvSpPr>
          <p:cNvPr id="7" name="TextBox 6"/>
          <p:cNvSpPr txBox="1"/>
          <p:nvPr/>
        </p:nvSpPr>
        <p:spPr>
          <a:xfrm>
            <a:off x="609600" y="5123762"/>
            <a:ext cx="2092147" cy="531541"/>
          </a:xfrm>
          <a:prstGeom prst="rect">
            <a:avLst/>
          </a:prstGeom>
          <a:noFill/>
        </p:spPr>
        <p:txBody>
          <a:bodyPr wrap="square" lIns="0" rIns="0" tIns="0" bIns="0" anchor="t">
            <a:spAutoFit/>
          </a:bodyPr>
          <a:lstStyle/>
          <a:p>
            <a:pPr algn="ctr">
              <a:lnSpc>
                <a:spcPct val="105000"/>
              </a:lnSpc>
              <a:spcBef>
                <a:spcPts val="0"/>
              </a:spcBef>
              <a:spcAft>
                <a:spcPts val="0"/>
              </a:spcAft>
            </a:pPr>
            <a:r>
              <a:rPr sz="1000" b="1">
                <a:solidFill>
                  <a:srgbClr val="102C49"/>
                </a:solidFill>
                <a:latin typeface="Hiragino Sans"/>
                <a:ea typeface="Hiragino Sans"/>
              </a:rPr>
              <a:t>開始値（kind: total）</a:t>
            </a:r>
          </a:p>
        </p:txBody>
      </p:sp>
      <p:sp>
        <p:nvSpPr>
          <p:cNvPr id="8" name="Rectangle 7"/>
          <p:cNvSpPr/>
          <p:nvPr/>
        </p:nvSpPr>
        <p:spPr>
          <a:xfrm>
            <a:off x="2346082" y="2472947"/>
            <a:ext cx="839346" cy="9525"/>
          </a:xfrm>
          <a:prstGeom prst="rect">
            <a:avLst/>
          </a:prstGeom>
          <a:solidFill>
            <a:srgbClr val="D7DEE6"/>
          </a:solidFill>
          <a:ln>
            <a:noFill/>
          </a:ln>
        </p:spPr>
        <p:txBody>
          <a:bodyPr rtlCol="0" anchor="ctr"/>
          <a:lstStyle/>
          <a:p>
            <a:pPr algn="ctr"/>
          </a:p>
        </p:txBody>
      </p:sp>
      <p:sp>
        <p:nvSpPr>
          <p:cNvPr id="9" name="Rectangle 8"/>
          <p:cNvSpPr/>
          <p:nvPr/>
        </p:nvSpPr>
        <p:spPr>
          <a:xfrm>
            <a:off x="3185428" y="1627632"/>
            <a:ext cx="1380817" cy="845315"/>
          </a:xfrm>
          <a:prstGeom prst="rect">
            <a:avLst/>
          </a:prstGeom>
          <a:solidFill>
            <a:srgbClr val="1E8A5F"/>
          </a:solidFill>
          <a:ln>
            <a:noFill/>
          </a:ln>
        </p:spPr>
        <p:txBody>
          <a:bodyPr rtlCol="0" anchor="ctr"/>
          <a:lstStyle/>
          <a:p>
            <a:pPr algn="ctr"/>
          </a:p>
        </p:txBody>
      </p:sp>
      <p:sp>
        <p:nvSpPr>
          <p:cNvPr id="10" name="TextBox 9"/>
          <p:cNvSpPr txBox="1"/>
          <p:nvPr/>
        </p:nvSpPr>
        <p:spPr>
          <a:xfrm>
            <a:off x="2829763" y="1353312"/>
            <a:ext cx="2092147" cy="256032"/>
          </a:xfrm>
          <a:prstGeom prst="rect">
            <a:avLst/>
          </a:prstGeom>
          <a:noFill/>
        </p:spPr>
        <p:txBody>
          <a:bodyPr wrap="square" lIns="0" rIns="0" tIns="0" bIns="0" anchor="t">
            <a:spAutoFit/>
          </a:bodyPr>
          <a:lstStyle/>
          <a:p>
            <a:pPr algn="ctr">
              <a:lnSpc>
                <a:spcPct val="108000"/>
              </a:lnSpc>
              <a:spcAft>
                <a:spcPts val="0"/>
              </a:spcAft>
            </a:pPr>
            <a:r>
              <a:rPr sz="1000" b="1">
                <a:solidFill>
                  <a:srgbClr val="1E8A5F"/>
                </a:solidFill>
                <a:latin typeface="Yu Gothic"/>
                <a:ea typeface="Yu Gothic"/>
              </a:rPr>
              <a:t>+34</a:t>
            </a:r>
          </a:p>
        </p:txBody>
      </p:sp>
      <p:sp>
        <p:nvSpPr>
          <p:cNvPr id="11" name="TextBox 10"/>
          <p:cNvSpPr txBox="1"/>
          <p:nvPr/>
        </p:nvSpPr>
        <p:spPr>
          <a:xfrm>
            <a:off x="2829763" y="5123762"/>
            <a:ext cx="2092147" cy="531541"/>
          </a:xfrm>
          <a:prstGeom prst="rect">
            <a:avLst/>
          </a:prstGeom>
          <a:noFill/>
        </p:spPr>
        <p:txBody>
          <a:bodyPr wrap="square" lIns="0" rIns="0" tIns="0" bIns="0" anchor="t">
            <a:spAutoFit/>
          </a:bodyPr>
          <a:lstStyle/>
          <a:p>
            <a:pPr algn="ctr">
              <a:lnSpc>
                <a:spcPct val="105000"/>
              </a:lnSpc>
              <a:spcBef>
                <a:spcPts val="0"/>
              </a:spcBef>
              <a:spcAft>
                <a:spcPts val="0"/>
              </a:spcAft>
            </a:pPr>
            <a:r>
              <a:rPr sz="1000" b="0">
                <a:solidFill>
                  <a:srgbClr val="53657A"/>
                </a:solidFill>
                <a:latin typeface="Hiragino Sans"/>
                <a:ea typeface="Hiragino Sans"/>
              </a:rPr>
              <a:t>増加要因（符号で自動着色）</a:t>
            </a:r>
          </a:p>
        </p:txBody>
      </p:sp>
      <p:sp>
        <p:nvSpPr>
          <p:cNvPr id="12" name="Rectangle 11"/>
          <p:cNvSpPr/>
          <p:nvPr/>
        </p:nvSpPr>
        <p:spPr>
          <a:xfrm>
            <a:off x="4566245" y="1627632"/>
            <a:ext cx="839346" cy="9525"/>
          </a:xfrm>
          <a:prstGeom prst="rect">
            <a:avLst/>
          </a:prstGeom>
          <a:solidFill>
            <a:srgbClr val="D7DEE6"/>
          </a:solidFill>
          <a:ln>
            <a:noFill/>
          </a:ln>
        </p:spPr>
        <p:txBody>
          <a:bodyPr rtlCol="0" anchor="ctr"/>
          <a:lstStyle/>
          <a:p>
            <a:pPr algn="ctr"/>
          </a:p>
        </p:txBody>
      </p:sp>
      <p:sp>
        <p:nvSpPr>
          <p:cNvPr id="13" name="Rectangle 12"/>
          <p:cNvSpPr/>
          <p:nvPr/>
        </p:nvSpPr>
        <p:spPr>
          <a:xfrm>
            <a:off x="5405591" y="1627632"/>
            <a:ext cx="1380817" cy="447520"/>
          </a:xfrm>
          <a:prstGeom prst="rect">
            <a:avLst/>
          </a:prstGeom>
          <a:solidFill>
            <a:srgbClr val="C0392B"/>
          </a:solidFill>
          <a:ln>
            <a:noFill/>
          </a:ln>
        </p:spPr>
        <p:txBody>
          <a:bodyPr rtlCol="0" anchor="ctr"/>
          <a:lstStyle/>
          <a:p>
            <a:pPr algn="ctr"/>
          </a:p>
        </p:txBody>
      </p:sp>
      <p:sp>
        <p:nvSpPr>
          <p:cNvPr id="14" name="TextBox 13"/>
          <p:cNvSpPr txBox="1"/>
          <p:nvPr/>
        </p:nvSpPr>
        <p:spPr>
          <a:xfrm>
            <a:off x="5049926" y="1353312"/>
            <a:ext cx="2092147" cy="256032"/>
          </a:xfrm>
          <a:prstGeom prst="rect">
            <a:avLst/>
          </a:prstGeom>
          <a:noFill/>
        </p:spPr>
        <p:txBody>
          <a:bodyPr wrap="square" lIns="0" rIns="0" tIns="0" bIns="0" anchor="t">
            <a:spAutoFit/>
          </a:bodyPr>
          <a:lstStyle/>
          <a:p>
            <a:pPr algn="ctr">
              <a:lnSpc>
                <a:spcPct val="108000"/>
              </a:lnSpc>
              <a:spcAft>
                <a:spcPts val="0"/>
              </a:spcAft>
            </a:pPr>
            <a:r>
              <a:rPr sz="1000" b="1">
                <a:solidFill>
                  <a:srgbClr val="C0392B"/>
                </a:solidFill>
                <a:latin typeface="Yu Gothic"/>
                <a:ea typeface="Yu Gothic"/>
              </a:rPr>
              <a:t>-18</a:t>
            </a:r>
          </a:p>
        </p:txBody>
      </p:sp>
      <p:sp>
        <p:nvSpPr>
          <p:cNvPr id="15" name="TextBox 14"/>
          <p:cNvSpPr txBox="1"/>
          <p:nvPr/>
        </p:nvSpPr>
        <p:spPr>
          <a:xfrm>
            <a:off x="5049926" y="5123762"/>
            <a:ext cx="2092147" cy="531541"/>
          </a:xfrm>
          <a:prstGeom prst="rect">
            <a:avLst/>
          </a:prstGeom>
          <a:noFill/>
        </p:spPr>
        <p:txBody>
          <a:bodyPr wrap="square" lIns="0" rIns="0" tIns="0" bIns="0" anchor="t">
            <a:spAutoFit/>
          </a:bodyPr>
          <a:lstStyle/>
          <a:p>
            <a:pPr algn="ctr">
              <a:lnSpc>
                <a:spcPct val="105000"/>
              </a:lnSpc>
              <a:spcBef>
                <a:spcPts val="0"/>
              </a:spcBef>
              <a:spcAft>
                <a:spcPts val="0"/>
              </a:spcAft>
            </a:pPr>
            <a:r>
              <a:rPr sz="1000" b="0">
                <a:solidFill>
                  <a:srgbClr val="53657A"/>
                </a:solidFill>
                <a:latin typeface="Hiragino Sans"/>
                <a:ea typeface="Hiragino Sans"/>
              </a:rPr>
              <a:t>減少要因</a:t>
            </a:r>
          </a:p>
        </p:txBody>
      </p:sp>
      <p:sp>
        <p:nvSpPr>
          <p:cNvPr id="16" name="Rectangle 15"/>
          <p:cNvSpPr/>
          <p:nvPr/>
        </p:nvSpPr>
        <p:spPr>
          <a:xfrm>
            <a:off x="6786408" y="2075152"/>
            <a:ext cx="839346" cy="9525"/>
          </a:xfrm>
          <a:prstGeom prst="rect">
            <a:avLst/>
          </a:prstGeom>
          <a:solidFill>
            <a:srgbClr val="D7DEE6"/>
          </a:solidFill>
          <a:ln>
            <a:noFill/>
          </a:ln>
        </p:spPr>
        <p:txBody>
          <a:bodyPr rtlCol="0" anchor="ctr"/>
          <a:lstStyle/>
          <a:p>
            <a:pPr algn="ctr"/>
          </a:p>
        </p:txBody>
      </p:sp>
      <p:sp>
        <p:nvSpPr>
          <p:cNvPr id="17" name="Rectangle 16"/>
          <p:cNvSpPr/>
          <p:nvPr/>
        </p:nvSpPr>
        <p:spPr>
          <a:xfrm>
            <a:off x="7625754" y="2075152"/>
            <a:ext cx="1380817" cy="223760"/>
          </a:xfrm>
          <a:prstGeom prst="rect">
            <a:avLst/>
          </a:prstGeom>
          <a:solidFill>
            <a:srgbClr val="1E8A5F"/>
          </a:solidFill>
          <a:ln>
            <a:noFill/>
          </a:ln>
        </p:spPr>
        <p:txBody>
          <a:bodyPr rtlCol="0" anchor="ctr"/>
          <a:lstStyle/>
          <a:p>
            <a:pPr algn="ctr"/>
          </a:p>
        </p:txBody>
      </p:sp>
      <p:sp>
        <p:nvSpPr>
          <p:cNvPr id="18" name="TextBox 17"/>
          <p:cNvSpPr txBox="1"/>
          <p:nvPr/>
        </p:nvSpPr>
        <p:spPr>
          <a:xfrm>
            <a:off x="7270089" y="1800832"/>
            <a:ext cx="2092147" cy="256032"/>
          </a:xfrm>
          <a:prstGeom prst="rect">
            <a:avLst/>
          </a:prstGeom>
          <a:noFill/>
        </p:spPr>
        <p:txBody>
          <a:bodyPr wrap="square" lIns="0" rIns="0" tIns="0" bIns="0" anchor="t">
            <a:spAutoFit/>
          </a:bodyPr>
          <a:lstStyle/>
          <a:p>
            <a:pPr algn="ctr">
              <a:lnSpc>
                <a:spcPct val="108000"/>
              </a:lnSpc>
              <a:spcAft>
                <a:spcPts val="0"/>
              </a:spcAft>
            </a:pPr>
            <a:r>
              <a:rPr sz="1000" b="1">
                <a:solidFill>
                  <a:srgbClr val="1E8A5F"/>
                </a:solidFill>
                <a:latin typeface="Yu Gothic"/>
                <a:ea typeface="Yu Gothic"/>
              </a:rPr>
              <a:t>-9</a:t>
            </a:r>
          </a:p>
        </p:txBody>
      </p:sp>
      <p:sp>
        <p:nvSpPr>
          <p:cNvPr id="19" name="TextBox 18"/>
          <p:cNvSpPr txBox="1"/>
          <p:nvPr/>
        </p:nvSpPr>
        <p:spPr>
          <a:xfrm>
            <a:off x="7270089" y="5123762"/>
            <a:ext cx="2092147" cy="531541"/>
          </a:xfrm>
          <a:prstGeom prst="rect">
            <a:avLst/>
          </a:prstGeom>
          <a:noFill/>
        </p:spPr>
        <p:txBody>
          <a:bodyPr wrap="square" lIns="0" rIns="0" tIns="0" bIns="0" anchor="t">
            <a:spAutoFit/>
          </a:bodyPr>
          <a:lstStyle/>
          <a:p>
            <a:pPr algn="ctr">
              <a:lnSpc>
                <a:spcPct val="105000"/>
              </a:lnSpc>
              <a:spcBef>
                <a:spcPts val="0"/>
              </a:spcBef>
              <a:spcAft>
                <a:spcPts val="0"/>
              </a:spcAft>
            </a:pPr>
            <a:r>
              <a:rPr sz="1000" b="0">
                <a:solidFill>
                  <a:srgbClr val="53657A"/>
                </a:solidFill>
                <a:latin typeface="Hiragino Sans"/>
                <a:ea typeface="Hiragino Sans"/>
              </a:rPr>
              <a:t>減だがtone: positive（削減=良い結果）</a:t>
            </a:r>
          </a:p>
        </p:txBody>
      </p:sp>
      <p:sp>
        <p:nvSpPr>
          <p:cNvPr id="20" name="Rectangle 19"/>
          <p:cNvSpPr/>
          <p:nvPr/>
        </p:nvSpPr>
        <p:spPr>
          <a:xfrm>
            <a:off x="9006571" y="2298912"/>
            <a:ext cx="839346" cy="9525"/>
          </a:xfrm>
          <a:prstGeom prst="rect">
            <a:avLst/>
          </a:prstGeom>
          <a:solidFill>
            <a:srgbClr val="D7DEE6"/>
          </a:solidFill>
          <a:ln>
            <a:noFill/>
          </a:ln>
        </p:spPr>
        <p:txBody>
          <a:bodyPr rtlCol="0" anchor="ctr"/>
          <a:lstStyle/>
          <a:p>
            <a:pPr algn="ctr"/>
          </a:p>
        </p:txBody>
      </p:sp>
      <p:sp>
        <p:nvSpPr>
          <p:cNvPr id="21" name="Rectangle 20"/>
          <p:cNvSpPr/>
          <p:nvPr/>
        </p:nvSpPr>
        <p:spPr>
          <a:xfrm>
            <a:off x="9845917" y="2298912"/>
            <a:ext cx="1380817" cy="2660258"/>
          </a:xfrm>
          <a:prstGeom prst="rect">
            <a:avLst/>
          </a:prstGeom>
          <a:solidFill>
            <a:srgbClr val="102C49"/>
          </a:solidFill>
          <a:ln>
            <a:noFill/>
          </a:ln>
        </p:spPr>
        <p:txBody>
          <a:bodyPr rtlCol="0" anchor="ctr"/>
          <a:lstStyle/>
          <a:p>
            <a:pPr algn="ctr"/>
          </a:p>
        </p:txBody>
      </p:sp>
      <p:sp>
        <p:nvSpPr>
          <p:cNvPr id="22" name="TextBox 21"/>
          <p:cNvSpPr txBox="1"/>
          <p:nvPr/>
        </p:nvSpPr>
        <p:spPr>
          <a:xfrm>
            <a:off x="9490252" y="2024592"/>
            <a:ext cx="2092147" cy="256032"/>
          </a:xfrm>
          <a:prstGeom prst="rect">
            <a:avLst/>
          </a:prstGeom>
          <a:noFill/>
        </p:spPr>
        <p:txBody>
          <a:bodyPr wrap="square" lIns="0" rIns="0" tIns="0" bIns="0" anchor="t">
            <a:spAutoFit/>
          </a:bodyPr>
          <a:lstStyle/>
          <a:p>
            <a:pPr algn="ctr">
              <a:lnSpc>
                <a:spcPct val="108000"/>
              </a:lnSpc>
              <a:spcAft>
                <a:spcPts val="0"/>
              </a:spcAft>
            </a:pPr>
            <a:r>
              <a:rPr sz="1000" b="1">
                <a:solidFill>
                  <a:srgbClr val="102C49"/>
                </a:solidFill>
                <a:latin typeface="Yu Gothic"/>
                <a:ea typeface="Yu Gothic"/>
              </a:rPr>
              <a:t>107</a:t>
            </a:r>
          </a:p>
        </p:txBody>
      </p:sp>
      <p:sp>
        <p:nvSpPr>
          <p:cNvPr id="23" name="TextBox 22"/>
          <p:cNvSpPr txBox="1"/>
          <p:nvPr/>
        </p:nvSpPr>
        <p:spPr>
          <a:xfrm>
            <a:off x="9490252" y="5123762"/>
            <a:ext cx="2092147" cy="531541"/>
          </a:xfrm>
          <a:prstGeom prst="rect">
            <a:avLst/>
          </a:prstGeom>
          <a:noFill/>
        </p:spPr>
        <p:txBody>
          <a:bodyPr wrap="square" lIns="0" rIns="0" tIns="0" bIns="0" anchor="t">
            <a:spAutoFit/>
          </a:bodyPr>
          <a:lstStyle/>
          <a:p>
            <a:pPr algn="ctr">
              <a:lnSpc>
                <a:spcPct val="105000"/>
              </a:lnSpc>
              <a:spcBef>
                <a:spcPts val="0"/>
              </a:spcBef>
              <a:spcAft>
                <a:spcPts val="0"/>
              </a:spcAft>
            </a:pPr>
            <a:r>
              <a:rPr sz="1000" b="1">
                <a:solidFill>
                  <a:srgbClr val="102C49"/>
                </a:solidFill>
                <a:latin typeface="Hiragino Sans"/>
                <a:ea typeface="Hiragino Sans"/>
              </a:rPr>
              <a:t>終了値（kind: total）</a:t>
            </a:r>
          </a:p>
        </p:txBody>
      </p:sp>
      <p:sp>
        <p:nvSpPr>
          <p:cNvPr id="24" name="Rounded Rectangle 23"/>
          <p:cNvSpPr/>
          <p:nvPr/>
        </p:nvSpPr>
        <p:spPr>
          <a:xfrm>
            <a:off x="609600" y="5819895"/>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kind: totalの棒は基準線0からの絶対値、kindを省略した棒は直前までの累計に対する増減として宙に浮く</a:t>
            </a:r>
          </a:p>
        </p:txBody>
      </p:sp>
      <p:sp>
        <p:nvSpPr>
          <p:cNvPr id="25" name="TextBox 24"/>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“waterfall” — AからBへの変化を増減要因に分解する（ブリッジ図、EBITDAウォーク、予算差異、価格/数量/構成の分解）</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funnel: 絞り込みの推移を帯の幅で示す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29</a:t>
            </a:r>
          </a:p>
        </p:txBody>
      </p:sp>
      <p:sp>
        <p:nvSpPr>
          <p:cNvPr id="5" name="Rounded Rectangle 4"/>
          <p:cNvSpPr/>
          <p:nvPr/>
        </p:nvSpPr>
        <p:spPr>
          <a:xfrm>
            <a:off x="609600" y="1335024"/>
            <a:ext cx="7330673" cy="961148"/>
          </a:xfrm>
          <a:prstGeom prst="roundRect">
            <a:avLst>
              <a:gd name="adj" fmla="val 18498"/>
            </a:avLst>
          </a:prstGeom>
          <a:solidFill>
            <a:srgbClr val="E1EDFC"/>
          </a:solidFill>
          <a:ln>
            <a:noFill/>
          </a:ln>
        </p:spPr>
        <p:txBody>
          <a:bodyPr rtlCol="0" anchor="ctr"/>
          <a:lstStyle/>
          <a:p>
            <a:pPr algn="ctr"/>
          </a:p>
        </p:txBody>
      </p:sp>
      <p:sp>
        <p:nvSpPr>
          <p:cNvPr id="6" name="Rounded Rectangle 5"/>
          <p:cNvSpPr/>
          <p:nvPr/>
        </p:nvSpPr>
        <p:spPr>
          <a:xfrm>
            <a:off x="2531721" y="2405900"/>
            <a:ext cx="3486430" cy="961148"/>
          </a:xfrm>
          <a:prstGeom prst="roundRect">
            <a:avLst>
              <a:gd name="adj" fmla="val 18498"/>
            </a:avLst>
          </a:prstGeom>
          <a:solidFill>
            <a:srgbClr val="E2F2F0"/>
          </a:solidFill>
          <a:ln>
            <a:noFill/>
          </a:ln>
        </p:spPr>
        <p:txBody>
          <a:bodyPr rtlCol="0" anchor="ctr"/>
          <a:lstStyle/>
          <a:p>
            <a:pPr algn="ctr"/>
          </a:p>
        </p:txBody>
      </p:sp>
      <p:sp>
        <p:nvSpPr>
          <p:cNvPr id="7" name="Rounded Rectangle 6"/>
          <p:cNvSpPr/>
          <p:nvPr/>
        </p:nvSpPr>
        <p:spPr>
          <a:xfrm>
            <a:off x="3172430" y="3476776"/>
            <a:ext cx="2205012" cy="961148"/>
          </a:xfrm>
          <a:prstGeom prst="roundRect">
            <a:avLst>
              <a:gd name="adj" fmla="val 18498"/>
            </a:avLst>
          </a:prstGeom>
          <a:solidFill>
            <a:srgbClr val="E7EBF0"/>
          </a:solidFill>
          <a:ln>
            <a:noFill/>
          </a:ln>
        </p:spPr>
        <p:txBody>
          <a:bodyPr rtlCol="0" anchor="ctr"/>
          <a:lstStyle/>
          <a:p>
            <a:pPr algn="ctr"/>
          </a:p>
        </p:txBody>
      </p:sp>
      <p:sp>
        <p:nvSpPr>
          <p:cNvPr id="8" name="Rounded Rectangle 7"/>
          <p:cNvSpPr/>
          <p:nvPr/>
        </p:nvSpPr>
        <p:spPr>
          <a:xfrm>
            <a:off x="3615176" y="4547652"/>
            <a:ext cx="1319521" cy="961148"/>
          </a:xfrm>
          <a:prstGeom prst="roundRect">
            <a:avLst>
              <a:gd name="adj" fmla="val 18498"/>
            </a:avLst>
          </a:prstGeom>
          <a:solidFill>
            <a:srgbClr val="E1EDFC"/>
          </a:solidFill>
          <a:ln>
            <a:noFill/>
          </a:ln>
        </p:spPr>
        <p:txBody>
          <a:bodyPr rtlCol="0" anchor="ctr"/>
          <a:lstStyle/>
          <a:p>
            <a:pPr algn="ctr"/>
          </a:p>
        </p:txBody>
      </p:sp>
      <p:sp>
        <p:nvSpPr>
          <p:cNvPr id="9" name="TextBox 8"/>
          <p:cNvSpPr txBox="1"/>
          <p:nvPr/>
        </p:nvSpPr>
        <p:spPr>
          <a:xfrm>
            <a:off x="865632" y="1444752"/>
            <a:ext cx="6818609" cy="741692"/>
          </a:xfrm>
          <a:prstGeom prst="rect">
            <a:avLst/>
          </a:prstGeom>
          <a:noFill/>
        </p:spPr>
        <p:txBody>
          <a:bodyPr wrap="square" lIns="0" rIns="0" tIns="0" bIns="0" anchor="ctr">
            <a:spAutoFit/>
          </a:bodyPr>
          <a:lstStyle/>
          <a:p>
            <a:pPr algn="ctr">
              <a:lnSpc>
                <a:spcPct val="108000"/>
              </a:lnSpc>
              <a:spcBef>
                <a:spcPts val="0"/>
              </a:spcBef>
              <a:spcAft>
                <a:spcPts val="300"/>
              </a:spcAft>
            </a:pPr>
            <a:r>
              <a:rPr sz="1200" b="1">
                <a:solidFill>
                  <a:srgbClr val="102C49"/>
                </a:solidFill>
                <a:latin typeface="Hiragino Sans"/>
                <a:ea typeface="Hiragino Sans"/>
              </a:rPr>
              <a:t>問い合わせ</a:t>
            </a:r>
          </a:p>
          <a:p>
            <a:pPr algn="ctr">
              <a:lnSpc>
                <a:spcPct val="108000"/>
              </a:lnSpc>
              <a:spcBef>
                <a:spcPts val="0"/>
              </a:spcBef>
              <a:spcAft>
                <a:spcPts val="0"/>
              </a:spcAft>
            </a:pPr>
            <a:r>
              <a:rPr sz="1000" b="0">
                <a:solidFill>
                  <a:srgbClr val="53657A"/>
                </a:solidFill>
                <a:latin typeface="Hiragino Sans"/>
                <a:ea typeface="Hiragino Sans"/>
              </a:rPr>
              <a:t>420件</a:t>
            </a:r>
          </a:p>
        </p:txBody>
      </p:sp>
      <p:sp>
        <p:nvSpPr>
          <p:cNvPr id="10" name="TextBox 9"/>
          <p:cNvSpPr txBox="1"/>
          <p:nvPr/>
        </p:nvSpPr>
        <p:spPr>
          <a:xfrm>
            <a:off x="2787753" y="2515628"/>
            <a:ext cx="2974366" cy="741692"/>
          </a:xfrm>
          <a:prstGeom prst="rect">
            <a:avLst/>
          </a:prstGeom>
          <a:noFill/>
        </p:spPr>
        <p:txBody>
          <a:bodyPr wrap="square" lIns="0" rIns="0" tIns="0" bIns="0" anchor="ctr">
            <a:spAutoFit/>
          </a:bodyPr>
          <a:lstStyle/>
          <a:p>
            <a:pPr algn="ctr">
              <a:lnSpc>
                <a:spcPct val="108000"/>
              </a:lnSpc>
              <a:spcBef>
                <a:spcPts val="0"/>
              </a:spcBef>
              <a:spcAft>
                <a:spcPts val="300"/>
              </a:spcAft>
            </a:pPr>
            <a:r>
              <a:rPr sz="1200" b="1">
                <a:solidFill>
                  <a:srgbClr val="102C49"/>
                </a:solidFill>
                <a:latin typeface="Hiragino Sans"/>
                <a:ea typeface="Hiragino Sans"/>
              </a:rPr>
              <a:t>商談</a:t>
            </a:r>
          </a:p>
          <a:p>
            <a:pPr algn="ctr">
              <a:lnSpc>
                <a:spcPct val="108000"/>
              </a:lnSpc>
              <a:spcBef>
                <a:spcPts val="0"/>
              </a:spcBef>
              <a:spcAft>
                <a:spcPts val="0"/>
              </a:spcAft>
            </a:pPr>
            <a:r>
              <a:rPr sz="1000" b="0">
                <a:solidFill>
                  <a:srgbClr val="53657A"/>
                </a:solidFill>
                <a:latin typeface="Hiragino Sans"/>
                <a:ea typeface="Hiragino Sans"/>
              </a:rPr>
              <a:t>95件</a:t>
            </a:r>
          </a:p>
        </p:txBody>
      </p:sp>
      <p:sp>
        <p:nvSpPr>
          <p:cNvPr id="11" name="TextBox 10"/>
          <p:cNvSpPr txBox="1"/>
          <p:nvPr/>
        </p:nvSpPr>
        <p:spPr>
          <a:xfrm>
            <a:off x="3428462" y="3586504"/>
            <a:ext cx="1692948" cy="741692"/>
          </a:xfrm>
          <a:prstGeom prst="rect">
            <a:avLst/>
          </a:prstGeom>
          <a:noFill/>
        </p:spPr>
        <p:txBody>
          <a:bodyPr wrap="square" lIns="0" rIns="0" tIns="0" bIns="0" anchor="ctr">
            <a:spAutoFit/>
          </a:bodyPr>
          <a:lstStyle/>
          <a:p>
            <a:pPr algn="ctr">
              <a:lnSpc>
                <a:spcPct val="108000"/>
              </a:lnSpc>
              <a:spcBef>
                <a:spcPts val="0"/>
              </a:spcBef>
              <a:spcAft>
                <a:spcPts val="300"/>
              </a:spcAft>
            </a:pPr>
            <a:r>
              <a:rPr sz="1200" b="1">
                <a:solidFill>
                  <a:srgbClr val="102C49"/>
                </a:solidFill>
                <a:latin typeface="Hiragino Sans"/>
                <a:ea typeface="Hiragino Sans"/>
              </a:rPr>
              <a:t>提案</a:t>
            </a:r>
          </a:p>
          <a:p>
            <a:pPr algn="ctr">
              <a:lnSpc>
                <a:spcPct val="108000"/>
              </a:lnSpc>
              <a:spcBef>
                <a:spcPts val="0"/>
              </a:spcBef>
              <a:spcAft>
                <a:spcPts val="0"/>
              </a:spcAft>
            </a:pPr>
            <a:r>
              <a:rPr sz="1000" b="0">
                <a:solidFill>
                  <a:srgbClr val="53657A"/>
                </a:solidFill>
                <a:latin typeface="Hiragino Sans"/>
                <a:ea typeface="Hiragino Sans"/>
              </a:rPr>
              <a:t>38件</a:t>
            </a:r>
          </a:p>
        </p:txBody>
      </p:sp>
      <p:sp>
        <p:nvSpPr>
          <p:cNvPr id="12" name="TextBox 11"/>
          <p:cNvSpPr txBox="1"/>
          <p:nvPr/>
        </p:nvSpPr>
        <p:spPr>
          <a:xfrm>
            <a:off x="3871208" y="4657380"/>
            <a:ext cx="807457" cy="741692"/>
          </a:xfrm>
          <a:prstGeom prst="rect">
            <a:avLst/>
          </a:prstGeom>
          <a:noFill/>
        </p:spPr>
        <p:txBody>
          <a:bodyPr wrap="square" lIns="0" rIns="0" tIns="0" bIns="0" anchor="ctr">
            <a:spAutoFit/>
          </a:bodyPr>
          <a:lstStyle/>
          <a:p>
            <a:pPr algn="ctr">
              <a:lnSpc>
                <a:spcPct val="108000"/>
              </a:lnSpc>
              <a:spcBef>
                <a:spcPts val="0"/>
              </a:spcBef>
              <a:spcAft>
                <a:spcPts val="300"/>
              </a:spcAft>
            </a:pPr>
            <a:r>
              <a:rPr sz="1200" b="1">
                <a:solidFill>
                  <a:srgbClr val="102C49"/>
                </a:solidFill>
                <a:latin typeface="Hiragino Sans"/>
                <a:ea typeface="Hiragino Sans"/>
              </a:rPr>
              <a:t>受注</a:t>
            </a:r>
          </a:p>
          <a:p>
            <a:pPr algn="ctr">
              <a:lnSpc>
                <a:spcPct val="108000"/>
              </a:lnSpc>
              <a:spcBef>
                <a:spcPts val="0"/>
              </a:spcBef>
              <a:spcAft>
                <a:spcPts val="0"/>
              </a:spcAft>
            </a:pPr>
            <a:r>
              <a:rPr sz="1000" b="0">
                <a:solidFill>
                  <a:srgbClr val="53657A"/>
                </a:solidFill>
                <a:latin typeface="Hiragino Sans"/>
                <a:ea typeface="Hiragino Sans"/>
              </a:rPr>
              <a:t>12件</a:t>
            </a:r>
          </a:p>
        </p:txBody>
      </p:sp>
      <p:sp>
        <p:nvSpPr>
          <p:cNvPr id="13" name="Rounded Rectangle 12"/>
          <p:cNvSpPr/>
          <p:nvPr/>
        </p:nvSpPr>
        <p:spPr>
          <a:xfrm>
            <a:off x="8324321" y="1335024"/>
            <a:ext cx="54864" cy="347472"/>
          </a:xfrm>
          <a:prstGeom prst="roundRect">
            <a:avLst>
              <a:gd name="adj" fmla="val 16000"/>
            </a:avLst>
          </a:prstGeom>
          <a:solidFill>
            <a:srgbClr val="2574D9"/>
          </a:solidFill>
          <a:ln>
            <a:noFill/>
          </a:ln>
        </p:spPr>
        <p:txBody>
          <a:bodyPr rtlCol="0" anchor="ctr"/>
          <a:lstStyle/>
          <a:p>
            <a:pPr algn="ctr"/>
          </a:p>
        </p:txBody>
      </p:sp>
      <p:sp>
        <p:nvSpPr>
          <p:cNvPr id="14" name="TextBox 13"/>
          <p:cNvSpPr txBox="1"/>
          <p:nvPr/>
        </p:nvSpPr>
        <p:spPr>
          <a:xfrm>
            <a:off x="8470625" y="1325880"/>
            <a:ext cx="3111773" cy="384048"/>
          </a:xfrm>
          <a:prstGeom prst="rect">
            <a:avLst/>
          </a:prstGeom>
          <a:noFill/>
        </p:spPr>
        <p:txBody>
          <a:bodyPr wrap="square" lIns="0" rIns="0" tIns="0" bIns="0" anchor="t">
            <a:spAutoFit/>
          </a:bodyPr>
          <a:lstStyle/>
          <a:p>
            <a:pPr algn="l">
              <a:lnSpc>
                <a:spcPct val="108000"/>
              </a:lnSpc>
              <a:spcAft>
                <a:spcPts val="0"/>
              </a:spcAft>
            </a:pPr>
            <a:r>
              <a:rPr sz="1500" b="1">
                <a:solidFill>
                  <a:srgbClr val="102C49"/>
                </a:solidFill>
                <a:latin typeface="Yu Gothic"/>
                <a:ea typeface="Yu Gothic"/>
              </a:rPr>
              <a:t>使う場面</a:t>
            </a:r>
          </a:p>
        </p:txBody>
      </p:sp>
      <p:sp>
        <p:nvSpPr>
          <p:cNvPr id="15" name="TextBox 14"/>
          <p:cNvSpPr txBox="1"/>
          <p:nvPr/>
        </p:nvSpPr>
        <p:spPr>
          <a:xfrm>
            <a:off x="8324321" y="1929384"/>
            <a:ext cx="3258077" cy="3533696"/>
          </a:xfrm>
          <a:prstGeom prst="rect">
            <a:avLst/>
          </a:prstGeom>
          <a:noFill/>
        </p:spPr>
        <p:txBody>
          <a:bodyPr wrap="square" lIns="0" rIns="0" tIns="0" bIns="0" anchor="t">
            <a:spAutoFit/>
          </a:bodyPr>
          <a:lstStyle/>
          <a:p>
            <a:pPr algn="l" marL="251460" indent="-251460">
              <a:lnSpc>
                <a:spcPct val="108000"/>
              </a:lnSpc>
              <a:spcBef>
                <a:spcPts val="0"/>
              </a:spcBef>
              <a:spcAft>
                <a:spcPts val="2700"/>
              </a:spcAft>
            </a:pPr>
            <a:r>
              <a:rPr sz="1200" b="1">
                <a:solidFill>
                  <a:srgbClr val="102C49"/>
                </a:solidFill>
                <a:latin typeface="Hiragino Sans"/>
                <a:ea typeface="Hiragino Sans"/>
              </a:rPr>
              <a:t>—  リード獲得の営業パイプライン（問い合わせ→商談→提案→受注等、下図は例）</a:t>
            </a:r>
          </a:p>
          <a:p>
            <a:pPr algn="l" marL="251460" indent="-251460">
              <a:lnSpc>
                <a:spcPct val="108000"/>
              </a:lnSpc>
              <a:spcBef>
                <a:spcPts val="0"/>
              </a:spcBef>
              <a:spcAft>
                <a:spcPts val="2700"/>
              </a:spcAft>
            </a:pPr>
            <a:r>
              <a:rPr sz="1200" b="1">
                <a:solidFill>
                  <a:srgbClr val="102C49"/>
                </a:solidFill>
                <a:latin typeface="Hiragino Sans"/>
                <a:ea typeface="Hiragino Sans"/>
              </a:rPr>
              <a:t>—  市場規模の絞り込み（TAM→SAM→SOM）</a:t>
            </a:r>
          </a:p>
          <a:p>
            <a:pPr algn="l" marL="251460" indent="-251460">
              <a:lnSpc>
                <a:spcPct val="108000"/>
              </a:lnSpc>
              <a:spcBef>
                <a:spcPts val="0"/>
              </a:spcBef>
              <a:spcAft>
                <a:spcPts val="2700"/>
              </a:spcAft>
            </a:pPr>
            <a:r>
              <a:rPr sz="1200" b="1">
                <a:solidFill>
                  <a:srgbClr val="102C49"/>
                </a:solidFill>
                <a:latin typeface="Hiragino Sans"/>
                <a:ea typeface="Hiragino Sans"/>
              </a:rPr>
              <a:t>—  帯の幅は値に比例するのではなく、平方根で圧縮したおおよその縮み具合を表す</a:t>
            </a:r>
          </a:p>
          <a:p>
            <a:pPr algn="l" marL="251460" indent="-251460">
              <a:lnSpc>
                <a:spcPct val="108000"/>
              </a:lnSpc>
              <a:spcBef>
                <a:spcPts val="0"/>
              </a:spcBef>
              <a:spcAft>
                <a:spcPts val="0"/>
              </a:spcAft>
            </a:pPr>
            <a:r>
              <a:rPr sz="1200" b="1">
                <a:solidFill>
                  <a:srgbClr val="102C49"/>
                </a:solidFill>
                <a:latin typeface="Hiragino Sans"/>
                <a:ea typeface="Hiragino Sans"/>
              </a:rPr>
              <a:t>—  insights省略時はこの箇条書きをやめ、帯が全幅を使う標準の見た目になる</a:t>
            </a:r>
          </a:p>
        </p:txBody>
      </p:sp>
      <p:sp>
        <p:nvSpPr>
          <p:cNvPr id="16" name="Rounded Rectangle 15"/>
          <p:cNvSpPr/>
          <p:nvPr/>
        </p:nvSpPr>
        <p:spPr>
          <a:xfrm>
            <a:off x="609600" y="5728256"/>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stagesは値の大きい順に並べる。帯の幅はおおよその絞り込み具合を示す構造表現で、正確な比率が要点ならchart_with_insightの棒グラフを使う</a:t>
            </a:r>
          </a:p>
        </p:txBody>
      </p:sp>
      <p:sp>
        <p:nvSpPr>
          <p:cNvPr id="17" name="TextBox 16"/>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“funnel” — 順を追って絞り込まれていく推移（営業パイプライン、市場規模のTAM/SAM/SOM等）。insights指定で使用ケースや気づきを併記できる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566928"/>
            <a:ext cx="10698480" cy="475488"/>
          </a:xfrm>
          <a:prstGeom prst="rect">
            <a:avLst/>
          </a:prstGeom>
          <a:noFill/>
        </p:spPr>
        <p:txBody>
          <a:bodyPr wrap="square" lIns="0" rIns="0" tIns="0" bIns="0" anchor="t">
            <a:spAutoFit/>
          </a:bodyPr>
          <a:lstStyle/>
          <a:p>
            <a:pPr algn="l">
              <a:lnSpc>
                <a:spcPct val="108000"/>
              </a:lnSpc>
              <a:spcAft>
                <a:spcPts val="0"/>
              </a:spcAft>
            </a:pPr>
            <a:r>
              <a:rPr sz="2200" b="1">
                <a:solidFill>
                  <a:srgbClr val="102C49"/>
                </a:solidFill>
                <a:latin typeface="Hiragino Sans"/>
                <a:ea typeface="Hiragino Sans"/>
              </a:rPr>
              <a:t>cycle: 繰り返すプロセスを円周上のCard群で示す</a:t>
            </a:r>
          </a:p>
        </p:txBody>
      </p:sp>
      <p:sp>
        <p:nvSpPr>
          <p:cNvPr id="3" name="Rectangle 2"/>
          <p:cNvSpPr/>
          <p:nvPr/>
        </p:nvSpPr>
        <p:spPr>
          <a:xfrm>
            <a:off x="609600" y="1143000"/>
            <a:ext cx="10972799" cy="17780"/>
          </a:xfrm>
          <a:prstGeom prst="rect">
            <a:avLst/>
          </a:prstGeom>
          <a:solidFill>
            <a:srgbClr val="2574D9"/>
          </a:solidFill>
          <a:ln>
            <a:noFill/>
          </a:ln>
        </p:spPr>
        <p:txBody>
          <a:bodyPr rtlCol="0" anchor="ctr"/>
          <a:lstStyle/>
          <a:p>
            <a:pPr algn="ctr"/>
          </a:p>
        </p:txBody>
      </p:sp>
      <p:sp>
        <p:nvSpPr>
          <p:cNvPr id="4" name="TextBox 3"/>
          <p:cNvSpPr txBox="1"/>
          <p:nvPr/>
        </p:nvSpPr>
        <p:spPr>
          <a:xfrm>
            <a:off x="11064240" y="338328"/>
            <a:ext cx="502920" cy="182880"/>
          </a:xfrm>
          <a:prstGeom prst="rect">
            <a:avLst/>
          </a:prstGeom>
          <a:noFill/>
        </p:spPr>
        <p:txBody>
          <a:bodyPr wrap="square" lIns="0" rIns="0" tIns="0" bIns="0" anchor="t">
            <a:spAutoFit/>
          </a:bodyPr>
          <a:lstStyle/>
          <a:p>
            <a:pPr algn="l">
              <a:lnSpc>
                <a:spcPct val="108000"/>
              </a:lnSpc>
              <a:spcAft>
                <a:spcPts val="0"/>
              </a:spcAft>
            </a:pPr>
            <a:r>
              <a:rPr sz="1000" b="0">
                <a:solidFill>
                  <a:srgbClr val="738296"/>
                </a:solidFill>
                <a:latin typeface="Yu Gothic"/>
                <a:ea typeface="Yu Gothic"/>
              </a:rPr>
              <a:t>30</a:t>
            </a:r>
          </a:p>
        </p:txBody>
      </p:sp>
      <p:cxnSp>
        <p:nvCxnSpPr>
          <p:cNvPr id="5" name="Connector 4"/>
          <p:cNvCxnSpPr/>
          <p:nvPr/>
        </p:nvCxnSpPr>
        <p:spPr>
          <a:xfrm>
            <a:off x="6507479" y="2520696"/>
            <a:ext cx="551688" cy="551688"/>
          </a:xfrm>
          <a:prstGeom prst="line">
            <a:avLst/>
          </a:prstGeom>
          <a:ln w="22225">
            <a:solidFill>
              <a:srgbClr val="738296"/>
            </a:solidFill>
            <a:tailEnd type="triangle" w="lg" len="lg"/>
          </a:ln>
        </p:spPr>
      </p:cxnSp>
      <p:cxnSp>
        <p:nvCxnSpPr>
          <p:cNvPr id="6" name="Connector 5"/>
          <p:cNvCxnSpPr/>
          <p:nvPr/>
        </p:nvCxnSpPr>
        <p:spPr>
          <a:xfrm flipH="1">
            <a:off x="6507479" y="3895344"/>
            <a:ext cx="551688" cy="551688"/>
          </a:xfrm>
          <a:prstGeom prst="line">
            <a:avLst/>
          </a:prstGeom>
          <a:ln w="22225">
            <a:solidFill>
              <a:srgbClr val="738296"/>
            </a:solidFill>
            <a:tailEnd type="triangle" w="lg" len="lg"/>
          </a:ln>
        </p:spPr>
      </p:cxnSp>
      <p:cxnSp>
        <p:nvCxnSpPr>
          <p:cNvPr id="7" name="Connector 6"/>
          <p:cNvCxnSpPr/>
          <p:nvPr/>
        </p:nvCxnSpPr>
        <p:spPr>
          <a:xfrm flipH="1" flipV="1">
            <a:off x="5132831" y="3895344"/>
            <a:ext cx="551688" cy="551688"/>
          </a:xfrm>
          <a:prstGeom prst="line">
            <a:avLst/>
          </a:prstGeom>
          <a:ln w="22225">
            <a:solidFill>
              <a:srgbClr val="738296"/>
            </a:solidFill>
            <a:tailEnd type="triangle" w="lg" len="lg"/>
          </a:ln>
        </p:spPr>
      </p:cxnSp>
      <p:cxnSp>
        <p:nvCxnSpPr>
          <p:cNvPr id="8" name="Connector 7"/>
          <p:cNvCxnSpPr/>
          <p:nvPr/>
        </p:nvCxnSpPr>
        <p:spPr>
          <a:xfrm flipV="1">
            <a:off x="5132831" y="2520696"/>
            <a:ext cx="551688" cy="551688"/>
          </a:xfrm>
          <a:prstGeom prst="line">
            <a:avLst/>
          </a:prstGeom>
          <a:ln w="22225">
            <a:solidFill>
              <a:srgbClr val="738296"/>
            </a:solidFill>
            <a:tailEnd type="triangle" w="lg" len="lg"/>
          </a:ln>
        </p:spPr>
      </p:cxnSp>
      <p:sp>
        <p:nvSpPr>
          <p:cNvPr id="9" name="Rounded Rectangle 8"/>
          <p:cNvSpPr/>
          <p:nvPr/>
        </p:nvSpPr>
        <p:spPr>
          <a:xfrm>
            <a:off x="5321807" y="1697736"/>
            <a:ext cx="1548384" cy="822960"/>
          </a:xfrm>
          <a:prstGeom prst="roundRect">
            <a:avLst>
              <a:gd name="adj" fmla="val 21604"/>
            </a:avLst>
          </a:prstGeom>
          <a:solidFill>
            <a:srgbClr val="E1EDFC"/>
          </a:solidFill>
          <a:ln>
            <a:noFill/>
          </a:ln>
        </p:spPr>
        <p:txBody>
          <a:bodyPr rtlCol="0" anchor="ctr"/>
          <a:lstStyle/>
          <a:p>
            <a:pPr algn="ctr"/>
          </a:p>
        </p:txBody>
      </p:sp>
      <p:sp>
        <p:nvSpPr>
          <p:cNvPr id="10" name="Rounded Rectangle 9"/>
          <p:cNvSpPr/>
          <p:nvPr/>
        </p:nvSpPr>
        <p:spPr>
          <a:xfrm>
            <a:off x="6696455" y="3072384"/>
            <a:ext cx="1548384" cy="822960"/>
          </a:xfrm>
          <a:prstGeom prst="roundRect">
            <a:avLst>
              <a:gd name="adj" fmla="val 21604"/>
            </a:avLst>
          </a:prstGeom>
          <a:solidFill>
            <a:srgbClr val="E2F2F0"/>
          </a:solidFill>
          <a:ln>
            <a:noFill/>
          </a:ln>
        </p:spPr>
        <p:txBody>
          <a:bodyPr rtlCol="0" anchor="ctr"/>
          <a:lstStyle/>
          <a:p>
            <a:pPr algn="ctr"/>
          </a:p>
        </p:txBody>
      </p:sp>
      <p:sp>
        <p:nvSpPr>
          <p:cNvPr id="11" name="Rounded Rectangle 10"/>
          <p:cNvSpPr/>
          <p:nvPr/>
        </p:nvSpPr>
        <p:spPr>
          <a:xfrm>
            <a:off x="5321807" y="4447032"/>
            <a:ext cx="1548384" cy="822960"/>
          </a:xfrm>
          <a:prstGeom prst="roundRect">
            <a:avLst>
              <a:gd name="adj" fmla="val 21604"/>
            </a:avLst>
          </a:prstGeom>
          <a:solidFill>
            <a:srgbClr val="E7EBF0"/>
          </a:solidFill>
          <a:ln>
            <a:noFill/>
          </a:ln>
        </p:spPr>
        <p:txBody>
          <a:bodyPr rtlCol="0" anchor="ctr"/>
          <a:lstStyle/>
          <a:p>
            <a:pPr algn="ctr"/>
          </a:p>
        </p:txBody>
      </p:sp>
      <p:sp>
        <p:nvSpPr>
          <p:cNvPr id="12" name="Rounded Rectangle 11"/>
          <p:cNvSpPr/>
          <p:nvPr/>
        </p:nvSpPr>
        <p:spPr>
          <a:xfrm>
            <a:off x="3947159" y="3072384"/>
            <a:ext cx="1548384" cy="822960"/>
          </a:xfrm>
          <a:prstGeom prst="roundRect">
            <a:avLst>
              <a:gd name="adj" fmla="val 21604"/>
            </a:avLst>
          </a:prstGeom>
          <a:solidFill>
            <a:srgbClr val="E1EDFC"/>
          </a:solidFill>
          <a:ln>
            <a:noFill/>
          </a:ln>
        </p:spPr>
        <p:txBody>
          <a:bodyPr rtlCol="0" anchor="ctr"/>
          <a:lstStyle/>
          <a:p>
            <a:pPr algn="ctr"/>
          </a:p>
        </p:txBody>
      </p:sp>
      <p:sp>
        <p:nvSpPr>
          <p:cNvPr id="13" name="TextBox 12"/>
          <p:cNvSpPr txBox="1"/>
          <p:nvPr/>
        </p:nvSpPr>
        <p:spPr>
          <a:xfrm>
            <a:off x="5468111" y="1789176"/>
            <a:ext cx="1255776" cy="640080"/>
          </a:xfrm>
          <a:prstGeom prst="rect">
            <a:avLst/>
          </a:prstGeom>
          <a:noFill/>
        </p:spPr>
        <p:txBody>
          <a:bodyPr wrap="square" lIns="0" rIns="0" tIns="0" bIns="0" anchor="ctr">
            <a:spAutoFit/>
          </a:bodyPr>
          <a:lstStyle/>
          <a:p>
            <a:pPr algn="ctr">
              <a:lnSpc>
                <a:spcPct val="108000"/>
              </a:lnSpc>
              <a:spcBef>
                <a:spcPts val="0"/>
              </a:spcBef>
              <a:spcAft>
                <a:spcPts val="200"/>
              </a:spcAft>
            </a:pPr>
            <a:r>
              <a:rPr sz="1000" b="1">
                <a:solidFill>
                  <a:srgbClr val="2574D9"/>
                </a:solidFill>
                <a:latin typeface="Hiragino Sans"/>
                <a:ea typeface="Hiragino Sans"/>
              </a:rPr>
              <a:t>STEP1</a:t>
            </a:r>
          </a:p>
          <a:p>
            <a:pPr algn="ctr">
              <a:lnSpc>
                <a:spcPct val="108000"/>
              </a:lnSpc>
              <a:spcBef>
                <a:spcPts val="0"/>
              </a:spcBef>
              <a:spcAft>
                <a:spcPts val="0"/>
              </a:spcAft>
            </a:pPr>
            <a:r>
              <a:rPr sz="1200" b="1">
                <a:solidFill>
                  <a:srgbClr val="102C49"/>
                </a:solidFill>
                <a:latin typeface="Hiragino Sans"/>
                <a:ea typeface="Hiragino Sans"/>
              </a:rPr>
              <a:t>steps配列</a:t>
            </a:r>
          </a:p>
        </p:txBody>
      </p:sp>
      <p:sp>
        <p:nvSpPr>
          <p:cNvPr id="14" name="TextBox 13"/>
          <p:cNvSpPr txBox="1"/>
          <p:nvPr/>
        </p:nvSpPr>
        <p:spPr>
          <a:xfrm>
            <a:off x="6842759" y="3163824"/>
            <a:ext cx="1255776" cy="640080"/>
          </a:xfrm>
          <a:prstGeom prst="rect">
            <a:avLst/>
          </a:prstGeom>
          <a:noFill/>
        </p:spPr>
        <p:txBody>
          <a:bodyPr wrap="square" lIns="0" rIns="0" tIns="0" bIns="0" anchor="ctr">
            <a:spAutoFit/>
          </a:bodyPr>
          <a:lstStyle/>
          <a:p>
            <a:pPr algn="ctr">
              <a:lnSpc>
                <a:spcPct val="108000"/>
              </a:lnSpc>
              <a:spcBef>
                <a:spcPts val="0"/>
              </a:spcBef>
              <a:spcAft>
                <a:spcPts val="200"/>
              </a:spcAft>
            </a:pPr>
            <a:r>
              <a:rPr sz="1000" b="1">
                <a:solidFill>
                  <a:srgbClr val="2574D9"/>
                </a:solidFill>
                <a:latin typeface="Hiragino Sans"/>
                <a:ea typeface="Hiragino Sans"/>
              </a:rPr>
              <a:t>STEP2</a:t>
            </a:r>
          </a:p>
          <a:p>
            <a:pPr algn="ctr">
              <a:lnSpc>
                <a:spcPct val="108000"/>
              </a:lnSpc>
              <a:spcBef>
                <a:spcPts val="0"/>
              </a:spcBef>
              <a:spcAft>
                <a:spcPts val="0"/>
              </a:spcAft>
            </a:pPr>
            <a:r>
              <a:rPr sz="1200" b="1">
                <a:solidFill>
                  <a:srgbClr val="102C49"/>
                </a:solidFill>
                <a:latin typeface="Hiragino Sans"/>
                <a:ea typeface="Hiragino Sans"/>
              </a:rPr>
              <a:t>円周上に配置</a:t>
            </a:r>
          </a:p>
        </p:txBody>
      </p:sp>
      <p:sp>
        <p:nvSpPr>
          <p:cNvPr id="15" name="TextBox 14"/>
          <p:cNvSpPr txBox="1"/>
          <p:nvPr/>
        </p:nvSpPr>
        <p:spPr>
          <a:xfrm>
            <a:off x="5468111" y="4538472"/>
            <a:ext cx="1255776" cy="640080"/>
          </a:xfrm>
          <a:prstGeom prst="rect">
            <a:avLst/>
          </a:prstGeom>
          <a:noFill/>
        </p:spPr>
        <p:txBody>
          <a:bodyPr wrap="square" lIns="0" rIns="0" tIns="0" bIns="0" anchor="ctr">
            <a:spAutoFit/>
          </a:bodyPr>
          <a:lstStyle/>
          <a:p>
            <a:pPr algn="ctr">
              <a:lnSpc>
                <a:spcPct val="108000"/>
              </a:lnSpc>
              <a:spcBef>
                <a:spcPts val="0"/>
              </a:spcBef>
              <a:spcAft>
                <a:spcPts val="200"/>
              </a:spcAft>
            </a:pPr>
            <a:r>
              <a:rPr sz="1000" b="1">
                <a:solidFill>
                  <a:srgbClr val="2574D9"/>
                </a:solidFill>
                <a:latin typeface="Hiragino Sans"/>
                <a:ea typeface="Hiragino Sans"/>
              </a:rPr>
              <a:t>STEP3</a:t>
            </a:r>
          </a:p>
          <a:p>
            <a:pPr algn="ctr">
              <a:lnSpc>
                <a:spcPct val="108000"/>
              </a:lnSpc>
              <a:spcBef>
                <a:spcPts val="0"/>
              </a:spcBef>
              <a:spcAft>
                <a:spcPts val="0"/>
              </a:spcAft>
            </a:pPr>
            <a:r>
              <a:rPr sz="1200" b="1">
                <a:solidFill>
                  <a:srgbClr val="102C49"/>
                </a:solidFill>
                <a:latin typeface="Hiragino Sans"/>
                <a:ea typeface="Hiragino Sans"/>
              </a:rPr>
              <a:t>隣接を矢印で連結</a:t>
            </a:r>
          </a:p>
        </p:txBody>
      </p:sp>
      <p:sp>
        <p:nvSpPr>
          <p:cNvPr id="16" name="TextBox 15"/>
          <p:cNvSpPr txBox="1"/>
          <p:nvPr/>
        </p:nvSpPr>
        <p:spPr>
          <a:xfrm>
            <a:off x="4093463" y="3163824"/>
            <a:ext cx="1255776" cy="640080"/>
          </a:xfrm>
          <a:prstGeom prst="rect">
            <a:avLst/>
          </a:prstGeom>
          <a:noFill/>
        </p:spPr>
        <p:txBody>
          <a:bodyPr wrap="square" lIns="0" rIns="0" tIns="0" bIns="0" anchor="ctr">
            <a:spAutoFit/>
          </a:bodyPr>
          <a:lstStyle/>
          <a:p>
            <a:pPr algn="ctr">
              <a:lnSpc>
                <a:spcPct val="108000"/>
              </a:lnSpc>
              <a:spcBef>
                <a:spcPts val="0"/>
              </a:spcBef>
              <a:spcAft>
                <a:spcPts val="200"/>
              </a:spcAft>
            </a:pPr>
            <a:r>
              <a:rPr sz="1000" b="1">
                <a:solidFill>
                  <a:srgbClr val="2574D9"/>
                </a:solidFill>
                <a:latin typeface="Hiragino Sans"/>
                <a:ea typeface="Hiragino Sans"/>
              </a:rPr>
              <a:t>STEP4</a:t>
            </a:r>
          </a:p>
          <a:p>
            <a:pPr algn="ctr">
              <a:lnSpc>
                <a:spcPct val="108000"/>
              </a:lnSpc>
              <a:spcBef>
                <a:spcPts val="0"/>
              </a:spcBef>
              <a:spcAft>
                <a:spcPts val="0"/>
              </a:spcAft>
            </a:pPr>
            <a:r>
              <a:rPr sz="1200" b="1">
                <a:solidFill>
                  <a:srgbClr val="102C49"/>
                </a:solidFill>
                <a:latin typeface="Hiragino Sans"/>
                <a:ea typeface="Hiragino Sans"/>
              </a:rPr>
              <a:t>4〜6件が目安</a:t>
            </a:r>
          </a:p>
        </p:txBody>
      </p:sp>
      <p:sp>
        <p:nvSpPr>
          <p:cNvPr id="17" name="Rounded Rectangle 16"/>
          <p:cNvSpPr/>
          <p:nvPr/>
        </p:nvSpPr>
        <p:spPr>
          <a:xfrm>
            <a:off x="609600" y="5852160"/>
            <a:ext cx="10972799" cy="640080"/>
          </a:xfrm>
          <a:prstGeom prst="roundRect">
            <a:avLst>
              <a:gd name="adj" fmla="val 15873"/>
            </a:avLst>
          </a:prstGeom>
          <a:solidFill>
            <a:srgbClr val="E7EBF0"/>
          </a:solidFill>
          <a:ln w="8890">
            <a:solidFill>
              <a:srgbClr val="D7DEE6"/>
            </a:solidFill>
          </a:ln>
        </p:spPr>
        <p:txBody>
          <a:bodyPr rtlCol="0" anchor="ctr" lIns="164592" rIns="164592" tIns="109728" bIns="109728" wrap="square"/>
          <a:lstStyle/>
          <a:p>
            <a:pPr algn="ctr"/>
            <a:r>
              <a:rPr sz="1200" b="1">
                <a:solidFill>
                  <a:srgbClr val="102C49"/>
                </a:solidFill>
                <a:latin typeface="Hiragino Sans"/>
                <a:ea typeface="Hiragino Sans"/>
              </a:rPr>
              <a:t>stepsを時計回りに配置し、最後尾から先頭へも矢印で結んで輪にする</a:t>
            </a:r>
          </a:p>
        </p:txBody>
      </p:sp>
      <p:sp>
        <p:nvSpPr>
          <p:cNvPr id="18" name="TextBox 17"/>
          <p:cNvSpPr txBox="1"/>
          <p:nvPr/>
        </p:nvSpPr>
        <p:spPr>
          <a:xfrm>
            <a:off x="612648" y="6565392"/>
            <a:ext cx="10963656" cy="365760"/>
          </a:xfrm>
          <a:prstGeom prst="rect">
            <a:avLst/>
          </a:prstGeom>
          <a:noFill/>
        </p:spPr>
        <p:txBody>
          <a:bodyPr wrap="square" lIns="0" rIns="0" tIns="0" bIns="0">
            <a:spAutoFit/>
          </a:bodyPr>
          <a:lstStyle/>
          <a:p>
            <a:pPr algn="l"/>
            <a:r>
              <a:rPr sz="1000" b="0" i="1">
                <a:solidFill>
                  <a:srgbClr val="53657A"/>
                </a:solidFill>
                <a:latin typeface="Hiragino Sans"/>
              </a:rPr>
              <a:t>renderer: “cycle” — 繰り返し・循環するプロセス（PDCA等）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